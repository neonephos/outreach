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27" r:id="rId2"/>
    <p:sldId id="342" r:id="rId3"/>
    <p:sldId id="330" r:id="rId4"/>
    <p:sldId id="343" r:id="rId5"/>
    <p:sldId id="344" r:id="rId6"/>
    <p:sldId id="341" r:id="rId7"/>
    <p:sldId id="333" r:id="rId8"/>
    <p:sldId id="332" r:id="rId9"/>
    <p:sldId id="334" r:id="rId10"/>
    <p:sldId id="335" r:id="rId11"/>
    <p:sldId id="336" r:id="rId12"/>
    <p:sldId id="337" r:id="rId13"/>
    <p:sldId id="338" r:id="rId14"/>
    <p:sldId id="340" r:id="rId15"/>
    <p:sldId id="34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D2EC"/>
    <a:srgbClr val="ADC9E9"/>
    <a:srgbClr val="7FA9DB"/>
    <a:srgbClr val="6093D3"/>
    <a:srgbClr val="527DB6"/>
    <a:srgbClr val="41689A"/>
    <a:srgbClr val="4F95D9"/>
    <a:srgbClr val="DDEBF8"/>
    <a:srgbClr val="A6CAED"/>
    <a:srgbClr val="F5F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50579E-F649-4035-A4D7-AA76B30C4A0D}" v="644" dt="2026-09-10T08:19:42.793"/>
    <p1510:client id="{DBE182D9-F4CF-4460-9C9A-E5ACA2F081EE}" v="196" dt="2026-09-09T14:30:31.8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48"/>
    <p:restoredTop sz="94698"/>
  </p:normalViewPr>
  <p:slideViewPr>
    <p:cSldViewPr snapToGrid="0">
      <p:cViewPr>
        <p:scale>
          <a:sx n="75" d="100"/>
          <a:sy n="75" d="100"/>
        </p:scale>
        <p:origin x="653"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0FD6-8FFF-4DE3-8C2D-53EC2F5E30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A13B6-5B0E-8087-8581-E753EDA7B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203F5-B367-100D-DCE8-A31A81CF5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35A0C-CD6B-C37D-73B1-FB5C24C422E3}"/>
              </a:ext>
            </a:extLst>
          </p:cNvPr>
          <p:cNvSpPr>
            <a:spLocks noGrp="1"/>
          </p:cNvSpPr>
          <p:nvPr>
            <p:ph type="sldNum" sz="quarter" idx="5"/>
          </p:nvPr>
        </p:nvSpPr>
        <p:spPr/>
        <p:txBody>
          <a:bodyPr/>
          <a:lstStyle/>
          <a:p>
            <a:fld id="{C2C7977E-D206-0644-9C2D-F055898E797E}" type="slidenum">
              <a:rPr lang="en-US" smtClean="0"/>
              <a:t>2</a:t>
            </a:fld>
            <a:endParaRPr lang="en-US"/>
          </a:p>
        </p:txBody>
      </p:sp>
    </p:spTree>
    <p:extLst>
      <p:ext uri="{BB962C8B-B14F-4D97-AF65-F5344CB8AC3E}">
        <p14:creationId xmlns:p14="http://schemas.microsoft.com/office/powerpoint/2010/main" val="12315729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Title_Slide_1">
    <p:spTree>
      <p:nvGrpSpPr>
        <p:cNvPr id="1" name="Shape 71"/>
        <p:cNvGrpSpPr/>
        <p:nvPr/>
      </p:nvGrpSpPr>
      <p:grpSpPr>
        <a:xfrm>
          <a:off x="0" y="0"/>
          <a:ext cx="0" cy="0"/>
          <a:chOff x="0" y="0"/>
          <a:chExt cx="0" cy="0"/>
        </a:xfrm>
      </p:grpSpPr>
      <p:pic>
        <p:nvPicPr>
          <p:cNvPr id="5" name="Picture 4">
            <a:extLst>
              <a:ext uri="{FF2B5EF4-FFF2-40B4-BE49-F238E27FC236}">
                <a16:creationId xmlns:a16="http://schemas.microsoft.com/office/drawing/2014/main" id="{792DD94B-0C76-2431-63F5-379E56E51FA1}"/>
              </a:ext>
            </a:extLst>
          </p:cNvPr>
          <p:cNvPicPr>
            <a:picLocks noChangeAspect="1"/>
          </p:cNvPicPr>
          <p:nvPr userDrawn="1"/>
        </p:nvPicPr>
        <p:blipFill>
          <a:blip r:embed="rId2"/>
          <a:stretch>
            <a:fillRect/>
          </a:stretch>
        </p:blipFill>
        <p:spPr>
          <a:xfrm rot="10800000">
            <a:off x="-19050" y="-19050"/>
            <a:ext cx="1765983" cy="2916849"/>
          </a:xfrm>
          <a:prstGeom prst="rect">
            <a:avLst/>
          </a:prstGeom>
        </p:spPr>
      </p:pic>
      <p:pic>
        <p:nvPicPr>
          <p:cNvPr id="8" name="Picture 7">
            <a:extLst>
              <a:ext uri="{FF2B5EF4-FFF2-40B4-BE49-F238E27FC236}">
                <a16:creationId xmlns:a16="http://schemas.microsoft.com/office/drawing/2014/main" id="{A7B556CE-4A31-7E36-05BE-8DD0DA6BB781}"/>
              </a:ext>
            </a:extLst>
          </p:cNvPr>
          <p:cNvPicPr>
            <a:picLocks noChangeAspect="1"/>
          </p:cNvPicPr>
          <p:nvPr userDrawn="1"/>
        </p:nvPicPr>
        <p:blipFill>
          <a:blip r:embed="rId3"/>
          <a:stretch>
            <a:fillRect/>
          </a:stretch>
        </p:blipFill>
        <p:spPr>
          <a:xfrm>
            <a:off x="3535033" y="2916849"/>
            <a:ext cx="5279967" cy="1024302"/>
          </a:xfrm>
          <a:prstGeom prst="rect">
            <a:avLst/>
          </a:prstGeom>
        </p:spPr>
      </p:pic>
      <p:sp>
        <p:nvSpPr>
          <p:cNvPr id="2" name="Rectangle 1">
            <a:extLst>
              <a:ext uri="{FF2B5EF4-FFF2-40B4-BE49-F238E27FC236}">
                <a16:creationId xmlns:a16="http://schemas.microsoft.com/office/drawing/2014/main" id="{FF3A080A-F28A-C092-7DE0-39B1E62C1550}"/>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2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reserve="1" userDrawn="1">
  <p:cSld name="Overview_Slide">
    <p:spTree>
      <p:nvGrpSpPr>
        <p:cNvPr id="1" name="Shape 71"/>
        <p:cNvGrpSpPr/>
        <p:nvPr/>
      </p:nvGrpSpPr>
      <p:grpSpPr>
        <a:xfrm>
          <a:off x="0" y="0"/>
          <a:ext cx="0" cy="0"/>
          <a:chOff x="0" y="0"/>
          <a:chExt cx="0" cy="0"/>
        </a:xfrm>
      </p:grpSpPr>
      <p:sp>
        <p:nvSpPr>
          <p:cNvPr id="10" name="TextBox 9">
            <a:extLst>
              <a:ext uri="{FF2B5EF4-FFF2-40B4-BE49-F238E27FC236}">
                <a16:creationId xmlns:a16="http://schemas.microsoft.com/office/drawing/2014/main" id="{F5E3F22A-A2A0-9978-F276-5EBF31E02740}"/>
              </a:ext>
            </a:extLst>
          </p:cNvPr>
          <p:cNvSpPr txBox="1"/>
          <p:nvPr userDrawn="1"/>
        </p:nvSpPr>
        <p:spPr>
          <a:xfrm>
            <a:off x="418237" y="2739252"/>
            <a:ext cx="11435713" cy="1246495"/>
          </a:xfrm>
          <a:prstGeom prst="rect">
            <a:avLst/>
          </a:prstGeom>
          <a:noFill/>
        </p:spPr>
        <p:txBody>
          <a:bodyPr wrap="square">
            <a:spAutoFit/>
          </a:bodyPr>
          <a:lstStyle/>
          <a:p>
            <a:pPr algn="ctr"/>
            <a:r>
              <a:rPr lang="en-US" sz="2500" b="1" dirty="0" err="1">
                <a:solidFill>
                  <a:schemeClr val="tx1"/>
                </a:solidFill>
              </a:rPr>
              <a:t>NeoNephos</a:t>
            </a:r>
            <a:r>
              <a:rPr lang="en-US" sz="2500" b="1" dirty="0">
                <a:solidFill>
                  <a:schemeClr val="tx1"/>
                </a:solidFill>
              </a:rPr>
              <a:t> is building a community-driven, </a:t>
            </a:r>
          </a:p>
          <a:p>
            <a:pPr algn="ctr"/>
            <a:r>
              <a:rPr lang="en-US" sz="2500" b="1" dirty="0">
                <a:solidFill>
                  <a:schemeClr val="tx1"/>
                </a:solidFill>
              </a:rPr>
              <a:t>open cloud-native stack to strengthen European digital sovereignty</a:t>
            </a:r>
          </a:p>
          <a:p>
            <a:pPr algn="ctr"/>
            <a:r>
              <a:rPr lang="en-US" sz="2500" b="1" dirty="0">
                <a:solidFill>
                  <a:schemeClr val="tx1"/>
                </a:solidFill>
              </a:rPr>
              <a:t>by connecting open source building blocks into interoperable platforms.</a:t>
            </a:r>
          </a:p>
        </p:txBody>
      </p:sp>
    </p:spTree>
    <p:extLst>
      <p:ext uri="{BB962C8B-B14F-4D97-AF65-F5344CB8AC3E}">
        <p14:creationId xmlns:p14="http://schemas.microsoft.com/office/powerpoint/2010/main" val="1367580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71"/>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3C8907-5B3E-0F18-975C-5547DB5FA7E5}"/>
              </a:ext>
            </a:extLst>
          </p:cNvPr>
          <p:cNvSpPr>
            <a:spLocks noGrp="1"/>
          </p:cNvSpPr>
          <p:nvPr>
            <p:ph sz="quarter" idx="10"/>
          </p:nvPr>
        </p:nvSpPr>
        <p:spPr>
          <a:xfrm>
            <a:off x="1089891" y="2168237"/>
            <a:ext cx="10012218"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726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Layout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7178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_Layout_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7005617"/>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de_Layout_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A5FE76-B074-AC25-5DC3-6FDB69E6FFAC}"/>
              </a:ext>
            </a:extLst>
          </p:cNvPr>
          <p:cNvPicPr>
            <a:picLocks noChangeAspect="1"/>
          </p:cNvPicPr>
          <p:nvPr userDrawn="1"/>
        </p:nvPicPr>
        <p:blipFill>
          <a:blip r:embed="rId2"/>
          <a:stretch>
            <a:fillRect/>
          </a:stretch>
        </p:blipFill>
        <p:spPr>
          <a:xfrm>
            <a:off x="10587568" y="204257"/>
            <a:ext cx="1363133" cy="210613"/>
          </a:xfrm>
          <a:prstGeom prst="rect">
            <a:avLst/>
          </a:prstGeom>
        </p:spPr>
      </p:pic>
      <p:sp>
        <p:nvSpPr>
          <p:cNvPr id="10" name="Title 4">
            <a:extLst>
              <a:ext uri="{FF2B5EF4-FFF2-40B4-BE49-F238E27FC236}">
                <a16:creationId xmlns:a16="http://schemas.microsoft.com/office/drawing/2014/main" id="{43A44832-25A2-7EAC-F9D1-3DCCA88EAD65}"/>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1" name="Text Placeholder 12">
            <a:extLst>
              <a:ext uri="{FF2B5EF4-FFF2-40B4-BE49-F238E27FC236}">
                <a16:creationId xmlns:a16="http://schemas.microsoft.com/office/drawing/2014/main" id="{7A5B37CB-99A6-4864-8E03-C6C476C8FC63}"/>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Online Image Placeholder 2">
            <a:extLst>
              <a:ext uri="{FF2B5EF4-FFF2-40B4-BE49-F238E27FC236}">
                <a16:creationId xmlns:a16="http://schemas.microsoft.com/office/drawing/2014/main" id="{F937125C-C78E-AD2D-5B30-8D28297C0578}"/>
              </a:ext>
            </a:extLst>
          </p:cNvPr>
          <p:cNvSpPr>
            <a:spLocks noGrp="1"/>
          </p:cNvSpPr>
          <p:nvPr>
            <p:ph type="clipArt" sz="quarter" idx="14"/>
          </p:nvPr>
        </p:nvSpPr>
        <p:spPr>
          <a:xfrm>
            <a:off x="5765800" y="1979613"/>
            <a:ext cx="6056313" cy="4119562"/>
          </a:xfrm>
        </p:spPr>
        <p:txBody>
          <a:bodyPr/>
          <a:lstStyle/>
          <a:p>
            <a:endParaRPr lang="en-US"/>
          </a:p>
        </p:txBody>
      </p:sp>
    </p:spTree>
    <p:extLst>
      <p:ext uri="{BB962C8B-B14F-4D97-AF65-F5344CB8AC3E}">
        <p14:creationId xmlns:p14="http://schemas.microsoft.com/office/powerpoint/2010/main" val="3840407236"/>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Antitrust Policy Notice">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hasCustomPrompt="1"/>
          </p:nvPr>
        </p:nvSpPr>
        <p:spPr>
          <a:xfrm>
            <a:off x="838200" y="1826684"/>
            <a:ext cx="10515600" cy="4349749"/>
          </a:xfrm>
          <a:prstGeom prst="rect">
            <a:avLst/>
          </a:prstGeom>
        </p:spPr>
        <p:txBody>
          <a:bodyPr vert="horz" lIns="91440" tIns="45720" rIns="91440" bIns="45720" rtlCol="0">
            <a:normAutofit/>
          </a:bodyPr>
          <a:lstStyle>
            <a:lvl1pPr>
              <a:defRPr sz="2000"/>
            </a:lvl1p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31704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9281410" y="6405114"/>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pic>
        <p:nvPicPr>
          <p:cNvPr id="6" name="Picture 5">
            <a:extLst>
              <a:ext uri="{FF2B5EF4-FFF2-40B4-BE49-F238E27FC236}">
                <a16:creationId xmlns:a16="http://schemas.microsoft.com/office/drawing/2014/main" id="{F03E2D11-CE84-B939-1371-D5FA438B754B}"/>
              </a:ext>
            </a:extLst>
          </p:cNvPr>
          <p:cNvPicPr>
            <a:picLocks noChangeAspect="1"/>
          </p:cNvPicPr>
          <p:nvPr userDrawn="1"/>
        </p:nvPicPr>
        <p:blipFill>
          <a:blip r:embed="rId9"/>
          <a:stretch>
            <a:fillRect/>
          </a:stretch>
        </p:blipFill>
        <p:spPr>
          <a:xfrm>
            <a:off x="5919032" y="6452934"/>
            <a:ext cx="353935" cy="303373"/>
          </a:xfrm>
          <a:prstGeom prst="rect">
            <a:avLst/>
          </a:prstGeom>
        </p:spPr>
      </p:pic>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73" r:id="rId1"/>
    <p:sldLayoutId id="2147483670" r:id="rId2"/>
    <p:sldLayoutId id="2147483674" r:id="rId3"/>
    <p:sldLayoutId id="2147483649" r:id="rId4"/>
    <p:sldLayoutId id="2147483663" r:id="rId5"/>
    <p:sldLayoutId id="2147483650" r:id="rId6"/>
    <p:sldLayoutId id="2147483669" r:id="rId7"/>
  </p:sldLayoutIdLst>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neonephos/outreach/issues/66" TargetMode="Externa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neonephos/outreach/issues/62"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insights.linuxfoundation.org/project/k8s/repository/kubernetes_website/contributors" TargetMode="External"/><Relationship Id="rId2" Type="http://schemas.openxmlformats.org/officeDocument/2006/relationships/hyperlink" Target="https://insights.linuxfoundation.org/project/k8s/repository/kubernetes_kubernetes/contributors?timeRange=past365days&amp;start=2025-09-09&amp;end=2026-09-09" TargetMode="External"/><Relationship Id="rId1" Type="http://schemas.openxmlformats.org/officeDocument/2006/relationships/slideLayout" Target="../slideLayouts/slideLayout5.xml"/><Relationship Id="rId4" Type="http://schemas.openxmlformats.org/officeDocument/2006/relationships/hyperlink" Target="https://insights.linuxfoundation.org/project/platform-mesh/repository/platform-mesh_platform-mesh/contributors"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github.com/neonephos/outreach/issues/55" TargetMode="Externa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neonephos/outreach/issues/63"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281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342C9-7372-4756-09D0-2579DED8C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5D1F6-D354-3FD5-D97E-73E172A8FD9C}"/>
              </a:ext>
            </a:extLst>
          </p:cNvPr>
          <p:cNvSpPr>
            <a:spLocks noGrp="1"/>
          </p:cNvSpPr>
          <p:nvPr>
            <p:ph type="title"/>
          </p:nvPr>
        </p:nvSpPr>
        <p:spPr/>
        <p:txBody>
          <a:bodyPr/>
          <a:lstStyle/>
          <a:p>
            <a:r>
              <a:rPr lang="en-US" dirty="0"/>
              <a:t>		      KPI Open Issues</a:t>
            </a:r>
          </a:p>
        </p:txBody>
      </p:sp>
      <p:sp>
        <p:nvSpPr>
          <p:cNvPr id="29" name="Rounded Rectangle 28">
            <a:extLst>
              <a:ext uri="{FF2B5EF4-FFF2-40B4-BE49-F238E27FC236}">
                <a16:creationId xmlns:a16="http://schemas.microsoft.com/office/drawing/2014/main" id="{B3D04ADC-13B7-499A-69A5-3F62E12A3F03}"/>
              </a:ext>
            </a:extLst>
          </p:cNvPr>
          <p:cNvSpPr/>
          <p:nvPr/>
        </p:nvSpPr>
        <p:spPr>
          <a:xfrm>
            <a:off x="0" y="2163880"/>
            <a:ext cx="4014000" cy="4694120"/>
          </a:xfrm>
          <a:prstGeom prst="roundRect">
            <a:avLst>
              <a:gd name="adj" fmla="val 1577"/>
            </a:avLst>
          </a:prstGeom>
          <a:solidFill>
            <a:srgbClr val="4168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ounded Rectangle 27">
            <a:extLst>
              <a:ext uri="{FF2B5EF4-FFF2-40B4-BE49-F238E27FC236}">
                <a16:creationId xmlns:a16="http://schemas.microsoft.com/office/drawing/2014/main" id="{FCB76B08-82C3-152E-CC63-B13662C06BC3}"/>
              </a:ext>
            </a:extLst>
          </p:cNvPr>
          <p:cNvSpPr/>
          <p:nvPr/>
        </p:nvSpPr>
        <p:spPr>
          <a:xfrm>
            <a:off x="4077925" y="2163880"/>
            <a:ext cx="4014000" cy="4694120"/>
          </a:xfrm>
          <a:prstGeom prst="roundRect">
            <a:avLst>
              <a:gd name="adj" fmla="val 1602"/>
            </a:avLst>
          </a:prstGeom>
          <a:solidFill>
            <a:srgbClr val="6093D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53634AF4-DA54-C658-CED2-5E0A118A67EA}"/>
              </a:ext>
            </a:extLst>
          </p:cNvPr>
          <p:cNvSpPr/>
          <p:nvPr/>
        </p:nvSpPr>
        <p:spPr>
          <a:xfrm>
            <a:off x="116178" y="2288733"/>
            <a:ext cx="3816725" cy="659568"/>
          </a:xfrm>
          <a:prstGeom prst="roundRect">
            <a:avLst>
              <a:gd name="adj" fmla="val 6003"/>
            </a:avLst>
          </a:prstGeom>
          <a:solidFill>
            <a:srgbClr val="527D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World of Open Source Survey</a:t>
            </a:r>
          </a:p>
        </p:txBody>
      </p:sp>
      <p:sp>
        <p:nvSpPr>
          <p:cNvPr id="18" name="Rounded Rectangle 17">
            <a:extLst>
              <a:ext uri="{FF2B5EF4-FFF2-40B4-BE49-F238E27FC236}">
                <a16:creationId xmlns:a16="http://schemas.microsoft.com/office/drawing/2014/main" id="{9492DDC2-8009-BBF4-D2CF-F02C1029BB47}"/>
              </a:ext>
            </a:extLst>
          </p:cNvPr>
          <p:cNvSpPr/>
          <p:nvPr/>
        </p:nvSpPr>
        <p:spPr>
          <a:xfrm>
            <a:off x="4155215" y="2288733"/>
            <a:ext cx="3875811" cy="659568"/>
          </a:xfrm>
          <a:prstGeom prst="roundRect">
            <a:avLst>
              <a:gd name="adj" fmla="val 6003"/>
            </a:avLst>
          </a:prstGeom>
          <a:solidFill>
            <a:srgbClr val="7FA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solidFill>
                  <a:schemeClr val="bg1"/>
                </a:solidFill>
              </a:rPr>
              <a:t>LFX </a:t>
            </a:r>
            <a:r>
              <a:rPr lang="de-DE" b="1" dirty="0" err="1">
                <a:solidFill>
                  <a:schemeClr val="bg1"/>
                </a:solidFill>
              </a:rPr>
              <a:t>Insights</a:t>
            </a:r>
            <a:r>
              <a:rPr lang="de-DE" b="1" dirty="0">
                <a:solidFill>
                  <a:schemeClr val="bg1"/>
                </a:solidFill>
              </a:rPr>
              <a:t> </a:t>
            </a:r>
            <a:r>
              <a:rPr lang="de-DE" b="1" dirty="0" err="1">
                <a:solidFill>
                  <a:schemeClr val="bg1"/>
                </a:solidFill>
              </a:rPr>
              <a:t>Feasibility</a:t>
            </a:r>
            <a:endParaRPr lang="en-US" b="1" dirty="0">
              <a:solidFill>
                <a:schemeClr val="bg1"/>
              </a:solidFill>
            </a:endParaRPr>
          </a:p>
        </p:txBody>
      </p:sp>
      <p:sp>
        <p:nvSpPr>
          <p:cNvPr id="7" name="TextBox 6">
            <a:extLst>
              <a:ext uri="{FF2B5EF4-FFF2-40B4-BE49-F238E27FC236}">
                <a16:creationId xmlns:a16="http://schemas.microsoft.com/office/drawing/2014/main" id="{AD533BCF-CE4A-A03A-BCF2-94EB0850097C}"/>
              </a:ext>
            </a:extLst>
          </p:cNvPr>
          <p:cNvSpPr txBox="1"/>
          <p:nvPr/>
        </p:nvSpPr>
        <p:spPr>
          <a:xfrm>
            <a:off x="113825" y="3013502"/>
            <a:ext cx="3946975" cy="64633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Investigate survey for results pertinent to NNF.</a:t>
            </a:r>
          </a:p>
        </p:txBody>
      </p:sp>
      <p:sp>
        <p:nvSpPr>
          <p:cNvPr id="8" name="TextBox 7">
            <a:extLst>
              <a:ext uri="{FF2B5EF4-FFF2-40B4-BE49-F238E27FC236}">
                <a16:creationId xmlns:a16="http://schemas.microsoft.com/office/drawing/2014/main" id="{BAF8382F-4A8A-68E7-CBEA-5CE9A6E8BD8D}"/>
              </a:ext>
            </a:extLst>
          </p:cNvPr>
          <p:cNvSpPr txBox="1"/>
          <p:nvPr/>
        </p:nvSpPr>
        <p:spPr>
          <a:xfrm>
            <a:off x="4180311" y="3013502"/>
            <a:ext cx="3962883" cy="64633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Investigate feasibility of LFX for metrics.</a:t>
            </a:r>
          </a:p>
        </p:txBody>
      </p:sp>
      <p:sp>
        <p:nvSpPr>
          <p:cNvPr id="24" name="Rounded Rectangle 27">
            <a:extLst>
              <a:ext uri="{FF2B5EF4-FFF2-40B4-BE49-F238E27FC236}">
                <a16:creationId xmlns:a16="http://schemas.microsoft.com/office/drawing/2014/main" id="{0FDF2CED-4B79-9BD5-C586-FD2EF5F85302}"/>
              </a:ext>
            </a:extLst>
          </p:cNvPr>
          <p:cNvSpPr/>
          <p:nvPr/>
        </p:nvSpPr>
        <p:spPr>
          <a:xfrm>
            <a:off x="8165467" y="2163880"/>
            <a:ext cx="4014000" cy="4694120"/>
          </a:xfrm>
          <a:prstGeom prst="roundRect">
            <a:avLst>
              <a:gd name="adj" fmla="val 1602"/>
            </a:avLst>
          </a:prstGeom>
          <a:solidFill>
            <a:srgbClr val="ADC9E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ounded Rectangle 17">
            <a:extLst>
              <a:ext uri="{FF2B5EF4-FFF2-40B4-BE49-F238E27FC236}">
                <a16:creationId xmlns:a16="http://schemas.microsoft.com/office/drawing/2014/main" id="{F4EEC4B9-3851-3D1C-60F5-5A9AF27EC6A0}"/>
              </a:ext>
            </a:extLst>
          </p:cNvPr>
          <p:cNvSpPr/>
          <p:nvPr/>
        </p:nvSpPr>
        <p:spPr>
          <a:xfrm>
            <a:off x="8184389" y="2288733"/>
            <a:ext cx="3875811" cy="659568"/>
          </a:xfrm>
          <a:prstGeom prst="roundRect">
            <a:avLst>
              <a:gd name="adj" fmla="val 6003"/>
            </a:avLst>
          </a:prstGeom>
          <a:solidFill>
            <a:srgbClr val="BAD2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Elephant Factor</a:t>
            </a:r>
          </a:p>
        </p:txBody>
      </p:sp>
      <p:sp>
        <p:nvSpPr>
          <p:cNvPr id="26" name="TextBox 25">
            <a:extLst>
              <a:ext uri="{FF2B5EF4-FFF2-40B4-BE49-F238E27FC236}">
                <a16:creationId xmlns:a16="http://schemas.microsoft.com/office/drawing/2014/main" id="{030699BD-2826-CEED-CF6D-FC20BE04AE83}"/>
              </a:ext>
            </a:extLst>
          </p:cNvPr>
          <p:cNvSpPr txBox="1"/>
          <p:nvPr/>
        </p:nvSpPr>
        <p:spPr>
          <a:xfrm>
            <a:off x="8205016" y="3013502"/>
            <a:ext cx="3962883" cy="369332"/>
          </a:xfrm>
          <a:prstGeom prst="rect">
            <a:avLst/>
          </a:prstGeom>
          <a:noFill/>
        </p:spPr>
        <p:txBody>
          <a:bodyPr wrap="square" rtlCol="0">
            <a:spAutoFit/>
          </a:bodyPr>
          <a:lstStyle/>
          <a:p>
            <a:pPr marL="285750" indent="-285750">
              <a:buFont typeface="Arial" panose="020B0604020202020204" pitchFamily="34" charset="0"/>
              <a:buChar char="•"/>
            </a:pPr>
            <a:r>
              <a:rPr lang="de-DE" dirty="0" err="1"/>
              <a:t>Determine</a:t>
            </a:r>
            <a:r>
              <a:rPr lang="de-DE" dirty="0"/>
              <a:t> </a:t>
            </a:r>
            <a:r>
              <a:rPr lang="de-DE" dirty="0" err="1"/>
              <a:t>elephant</a:t>
            </a:r>
            <a:r>
              <a:rPr lang="de-DE" dirty="0"/>
              <a:t> </a:t>
            </a:r>
            <a:r>
              <a:rPr lang="de-DE" dirty="0" err="1"/>
              <a:t>factor</a:t>
            </a:r>
            <a:r>
              <a:rPr lang="de-DE" dirty="0"/>
              <a:t> </a:t>
            </a:r>
            <a:r>
              <a:rPr lang="de-DE" dirty="0" err="1"/>
              <a:t>for</a:t>
            </a:r>
            <a:r>
              <a:rPr lang="de-DE" dirty="0"/>
              <a:t> NNF.</a:t>
            </a:r>
            <a:endParaRPr lang="en-US" dirty="0"/>
          </a:p>
        </p:txBody>
      </p:sp>
      <p:pic>
        <p:nvPicPr>
          <p:cNvPr id="27" name="Picture 26">
            <a:extLst>
              <a:ext uri="{FF2B5EF4-FFF2-40B4-BE49-F238E27FC236}">
                <a16:creationId xmlns:a16="http://schemas.microsoft.com/office/drawing/2014/main" id="{82D86B0E-61E8-0B45-232B-B161F80EF4E2}"/>
              </a:ext>
            </a:extLst>
          </p:cNvPr>
          <p:cNvPicPr>
            <a:picLocks noChangeAspect="1"/>
          </p:cNvPicPr>
          <p:nvPr/>
        </p:nvPicPr>
        <p:blipFill>
          <a:blip r:embed="rId3"/>
          <a:stretch>
            <a:fillRect/>
          </a:stretch>
        </p:blipFill>
        <p:spPr>
          <a:xfrm>
            <a:off x="294967" y="908492"/>
            <a:ext cx="2568282" cy="498241"/>
          </a:xfrm>
          <a:prstGeom prst="rect">
            <a:avLst/>
          </a:prstGeom>
        </p:spPr>
      </p:pic>
    </p:spTree>
    <p:extLst>
      <p:ext uri="{BB962C8B-B14F-4D97-AF65-F5344CB8AC3E}">
        <p14:creationId xmlns:p14="http://schemas.microsoft.com/office/powerpoint/2010/main" val="3298605429"/>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E32AD5-78B9-472C-5A31-0EB14C685C6C}"/>
              </a:ext>
            </a:extLst>
          </p:cNvPr>
          <p:cNvSpPr>
            <a:spLocks noGrp="1"/>
          </p:cNvSpPr>
          <p:nvPr>
            <p:ph type="title"/>
          </p:nvPr>
        </p:nvSpPr>
        <p:spPr/>
        <p:txBody>
          <a:bodyPr/>
          <a:lstStyle/>
          <a:p>
            <a:r>
              <a:rPr lang="de-DE" dirty="0"/>
              <a:t>World </a:t>
            </a:r>
            <a:r>
              <a:rPr lang="de-DE" dirty="0" err="1"/>
              <a:t>of</a:t>
            </a:r>
            <a:r>
              <a:rPr lang="de-DE" dirty="0"/>
              <a:t> Open Source Survey (</a:t>
            </a:r>
            <a:r>
              <a:rPr lang="de-DE" dirty="0">
                <a:hlinkClick r:id="rId2"/>
              </a:rPr>
              <a:t>#66</a:t>
            </a:r>
            <a:r>
              <a:rPr lang="de-DE" dirty="0"/>
              <a:t>)</a:t>
            </a:r>
            <a:endParaRPr lang="en-US" dirty="0"/>
          </a:p>
        </p:txBody>
      </p:sp>
      <p:sp>
        <p:nvSpPr>
          <p:cNvPr id="2" name="Content Placeholder 1">
            <a:extLst>
              <a:ext uri="{FF2B5EF4-FFF2-40B4-BE49-F238E27FC236}">
                <a16:creationId xmlns:a16="http://schemas.microsoft.com/office/drawing/2014/main" id="{4F735011-4213-DBCD-4C06-CE9B9C3CBCDA}"/>
              </a:ext>
            </a:extLst>
          </p:cNvPr>
          <p:cNvSpPr>
            <a:spLocks noGrp="1"/>
          </p:cNvSpPr>
          <p:nvPr>
            <p:ph type="body" sz="quarter" idx="13"/>
          </p:nvPr>
        </p:nvSpPr>
        <p:spPr/>
        <p:txBody>
          <a:bodyPr>
            <a:normAutofit/>
          </a:bodyPr>
          <a:lstStyle/>
          <a:p>
            <a:r>
              <a:rPr lang="en-US" sz="2800" dirty="0"/>
              <a:t>NNF is among the survey’s sponsors.</a:t>
            </a:r>
          </a:p>
          <a:p>
            <a:r>
              <a:rPr lang="en-US" sz="2800" dirty="0"/>
              <a:t>Survey is yet-to-be-released but we have a preprint.</a:t>
            </a:r>
            <a:br>
              <a:rPr lang="en-US" sz="2800" dirty="0"/>
            </a:br>
            <a:endParaRPr lang="en-US" sz="2800" dirty="0"/>
          </a:p>
          <a:p>
            <a:r>
              <a:rPr lang="en-US" sz="2800" b="1" dirty="0"/>
              <a:t>Task</a:t>
            </a:r>
            <a:r>
              <a:rPr lang="en-US" sz="2800" dirty="0"/>
              <a:t>: Investigate if findings relate to NNF and liaise with other SIGs accordingly.</a:t>
            </a:r>
          </a:p>
        </p:txBody>
      </p:sp>
      <p:pic>
        <p:nvPicPr>
          <p:cNvPr id="4" name="Picture 3" descr="world_of_os_2026_survey_banner.png">
            <a:extLst>
              <a:ext uri="{FF2B5EF4-FFF2-40B4-BE49-F238E27FC236}">
                <a16:creationId xmlns:a16="http://schemas.microsoft.com/office/drawing/2014/main" id="{D8074147-7369-6829-2B49-7AA2456C6412}"/>
              </a:ext>
            </a:extLst>
          </p:cNvPr>
          <p:cNvPicPr>
            <a:picLocks noChangeAspect="1"/>
          </p:cNvPicPr>
          <p:nvPr/>
        </p:nvPicPr>
        <p:blipFill>
          <a:blip r:embed="rId3"/>
          <a:stretch>
            <a:fillRect/>
          </a:stretch>
        </p:blipFill>
        <p:spPr>
          <a:xfrm>
            <a:off x="1524000" y="4443548"/>
            <a:ext cx="9144000" cy="1567543"/>
          </a:xfrm>
          <a:prstGeom prst="rect">
            <a:avLst/>
          </a:prstGeom>
        </p:spPr>
      </p:pic>
    </p:spTree>
    <p:extLst>
      <p:ext uri="{BB962C8B-B14F-4D97-AF65-F5344CB8AC3E}">
        <p14:creationId xmlns:p14="http://schemas.microsoft.com/office/powerpoint/2010/main" val="3422592563"/>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779CD-92BF-8E3A-A7E8-68A56931302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79E80D-5ED6-0F7E-3DBF-C6CB5DFC7B37}"/>
              </a:ext>
            </a:extLst>
          </p:cNvPr>
          <p:cNvSpPr>
            <a:spLocks noGrp="1"/>
          </p:cNvSpPr>
          <p:nvPr>
            <p:ph type="title"/>
          </p:nvPr>
        </p:nvSpPr>
        <p:spPr/>
        <p:txBody>
          <a:bodyPr/>
          <a:lstStyle/>
          <a:p>
            <a:r>
              <a:rPr lang="de-DE" dirty="0"/>
              <a:t>LFX </a:t>
            </a:r>
            <a:r>
              <a:rPr lang="de-DE" dirty="0" err="1"/>
              <a:t>Insights</a:t>
            </a:r>
            <a:r>
              <a:rPr lang="de-DE" dirty="0"/>
              <a:t> </a:t>
            </a:r>
            <a:r>
              <a:rPr lang="de-DE" dirty="0" err="1"/>
              <a:t>Feasibility</a:t>
            </a:r>
            <a:r>
              <a:rPr lang="de-DE" dirty="0"/>
              <a:t> (</a:t>
            </a:r>
            <a:r>
              <a:rPr lang="de-DE" dirty="0">
                <a:hlinkClick r:id="rId2"/>
              </a:rPr>
              <a:t>#62</a:t>
            </a:r>
            <a:r>
              <a:rPr lang="de-DE" dirty="0"/>
              <a:t>)</a:t>
            </a:r>
            <a:endParaRPr lang="en-US" dirty="0"/>
          </a:p>
        </p:txBody>
      </p:sp>
      <p:sp>
        <p:nvSpPr>
          <p:cNvPr id="2" name="Content Placeholder 1">
            <a:extLst>
              <a:ext uri="{FF2B5EF4-FFF2-40B4-BE49-F238E27FC236}">
                <a16:creationId xmlns:a16="http://schemas.microsoft.com/office/drawing/2014/main" id="{13807BE6-4A1C-BC62-4688-4D819C65E96E}"/>
              </a:ext>
            </a:extLst>
          </p:cNvPr>
          <p:cNvSpPr>
            <a:spLocks noGrp="1"/>
          </p:cNvSpPr>
          <p:nvPr>
            <p:ph type="body" sz="quarter" idx="13"/>
          </p:nvPr>
        </p:nvSpPr>
        <p:spPr/>
        <p:txBody>
          <a:bodyPr>
            <a:normAutofit/>
          </a:bodyPr>
          <a:lstStyle/>
          <a:p>
            <a:r>
              <a:rPr lang="en-US" sz="2800" dirty="0"/>
              <a:t>LFX Insights contains many statistics about projects.</a:t>
            </a:r>
            <a:br>
              <a:rPr lang="en-US" sz="2800" dirty="0"/>
            </a:br>
            <a:endParaRPr lang="en-US" sz="2800" dirty="0"/>
          </a:p>
          <a:p>
            <a:r>
              <a:rPr lang="en-US" sz="2800" b="1" dirty="0"/>
              <a:t>Task</a:t>
            </a:r>
            <a:r>
              <a:rPr lang="en-US" sz="2800" dirty="0"/>
              <a:t>: Investigate if we need reproducibility and if LFX Insights is appropriate for that.</a:t>
            </a:r>
          </a:p>
        </p:txBody>
      </p:sp>
      <p:pic>
        <p:nvPicPr>
          <p:cNvPr id="5" name="Picture 4" descr="LFX Insights">
            <a:extLst>
              <a:ext uri="{FF2B5EF4-FFF2-40B4-BE49-F238E27FC236}">
                <a16:creationId xmlns:a16="http://schemas.microsoft.com/office/drawing/2014/main" id="{C9C75D9A-AF5D-60FA-7C96-4CE956933D4B}"/>
              </a:ext>
            </a:extLst>
          </p:cNvPr>
          <p:cNvPicPr>
            <a:picLocks noChangeAspect="1"/>
          </p:cNvPicPr>
          <p:nvPr/>
        </p:nvPicPr>
        <p:blipFill>
          <a:blip r:embed="rId3"/>
          <a:stretch>
            <a:fillRect/>
          </a:stretch>
        </p:blipFill>
        <p:spPr>
          <a:xfrm>
            <a:off x="4216400" y="3800363"/>
            <a:ext cx="3759200" cy="1973580"/>
          </a:xfrm>
          <a:prstGeom prst="rect">
            <a:avLst/>
          </a:prstGeom>
        </p:spPr>
      </p:pic>
    </p:spTree>
    <p:extLst>
      <p:ext uri="{BB962C8B-B14F-4D97-AF65-F5344CB8AC3E}">
        <p14:creationId xmlns:p14="http://schemas.microsoft.com/office/powerpoint/2010/main" val="639112531"/>
      </p:ext>
    </p:extLst>
  </p:cSld>
  <p:clrMapOvr>
    <a:masterClrMapping/>
  </p:clrMapOvr>
  <mc:AlternateContent xmlns:mc="http://schemas.openxmlformats.org/markup-compatibility/2006">
    <mc:Choice xmlns:p14="http://schemas.microsoft.com/office/powerpoint/2010/main" Requires="p14">
      <p:transition spd="slow" p14:dur="2000" advClick="0" advTm="3000"/>
    </mc:Choice>
    <mc:Fallback>
      <p:transition spd="slow" advClick="0"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F1EE2-E01B-3114-C88C-F75E8A5917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46A16A-DEC3-B84F-E7F1-B1D0172F2750}"/>
              </a:ext>
            </a:extLst>
          </p:cNvPr>
          <p:cNvSpPr>
            <a:spLocks noGrp="1"/>
          </p:cNvSpPr>
          <p:nvPr>
            <p:ph type="title"/>
          </p:nvPr>
        </p:nvSpPr>
        <p:spPr/>
        <p:txBody>
          <a:bodyPr/>
          <a:lstStyle/>
          <a:p>
            <a:r>
              <a:rPr lang="de-DE" dirty="0" err="1"/>
              <a:t>Elephant</a:t>
            </a:r>
            <a:r>
              <a:rPr lang="de-DE" dirty="0"/>
              <a:t> </a:t>
            </a:r>
            <a:r>
              <a:rPr lang="de-DE" dirty="0" err="1"/>
              <a:t>Factor</a:t>
            </a:r>
            <a:endParaRPr lang="en-US" dirty="0"/>
          </a:p>
        </p:txBody>
      </p:sp>
      <p:sp>
        <p:nvSpPr>
          <p:cNvPr id="2" name="Content Placeholder 1">
            <a:extLst>
              <a:ext uri="{FF2B5EF4-FFF2-40B4-BE49-F238E27FC236}">
                <a16:creationId xmlns:a16="http://schemas.microsoft.com/office/drawing/2014/main" id="{7A69237A-F598-E05D-6959-301437BCCEA4}"/>
              </a:ext>
            </a:extLst>
          </p:cNvPr>
          <p:cNvSpPr>
            <a:spLocks noGrp="1"/>
          </p:cNvSpPr>
          <p:nvPr>
            <p:ph type="body" sz="quarter" idx="13"/>
          </p:nvPr>
        </p:nvSpPr>
        <p:spPr/>
        <p:txBody>
          <a:bodyPr>
            <a:normAutofit/>
          </a:bodyPr>
          <a:lstStyle/>
          <a:p>
            <a:pPr marL="0" indent="0">
              <a:buNone/>
            </a:pPr>
            <a:endParaRPr lang="en-US" sz="2800" dirty="0"/>
          </a:p>
        </p:txBody>
      </p:sp>
    </p:spTree>
    <p:extLst>
      <p:ext uri="{BB962C8B-B14F-4D97-AF65-F5344CB8AC3E}">
        <p14:creationId xmlns:p14="http://schemas.microsoft.com/office/powerpoint/2010/main" val="1198707667"/>
      </p:ext>
    </p:extLst>
  </p:cSld>
  <p:clrMapOvr>
    <a:masterClrMapping/>
  </p:clrMapOvr>
  <mc:AlternateContent xmlns:mc="http://schemas.openxmlformats.org/markup-compatibility/2006">
    <mc:Choice xmlns:p14="http://schemas.microsoft.com/office/powerpoint/2010/main" Requires="p14">
      <p:transition spd="slow" p14:dur="2000" advClick="0" advTm="3000"/>
    </mc:Choice>
    <mc:Fallback>
      <p:transition spd="slow" advClick="0"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A150E-0448-FD4D-BF00-FFE92C64164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79A192-D58B-8FC9-9077-36D0B731D818}"/>
              </a:ext>
            </a:extLst>
          </p:cNvPr>
          <p:cNvSpPr>
            <a:spLocks noGrp="1"/>
          </p:cNvSpPr>
          <p:nvPr>
            <p:ph sz="quarter" idx="10"/>
          </p:nvPr>
        </p:nvSpPr>
        <p:spPr/>
        <p:txBody>
          <a:bodyPr>
            <a:normAutofit fontScale="85000" lnSpcReduction="20000"/>
          </a:bodyPr>
          <a:lstStyle/>
          <a:p>
            <a:pPr marL="0" indent="0" algn="ctr">
              <a:buNone/>
            </a:pPr>
            <a:r>
              <a:rPr lang="en-US" dirty="0"/>
              <a:t>Elephant factor measures the </a:t>
            </a:r>
            <a:r>
              <a:rPr lang="en-US" b="1" dirty="0"/>
              <a:t>minimum</a:t>
            </a:r>
            <a:r>
              <a:rPr lang="en-US" dirty="0"/>
              <a:t> </a:t>
            </a:r>
            <a:r>
              <a:rPr lang="en-US" b="1" dirty="0"/>
              <a:t>number of companies </a:t>
            </a:r>
            <a:r>
              <a:rPr lang="en-US" dirty="0"/>
              <a:t>whose employees contribute a </a:t>
            </a:r>
            <a:r>
              <a:rPr lang="en-US" b="1" dirty="0"/>
              <a:t>specified percentage </a:t>
            </a:r>
            <a:r>
              <a:rPr lang="en-US" dirty="0"/>
              <a:t>of the </a:t>
            </a:r>
            <a:r>
              <a:rPr lang="en-US" b="1" dirty="0"/>
              <a:t>total commits </a:t>
            </a:r>
            <a:r>
              <a:rPr lang="en-US" dirty="0"/>
              <a:t>in a software repository.</a:t>
            </a:r>
          </a:p>
        </p:txBody>
      </p:sp>
    </p:spTree>
    <p:extLst>
      <p:ext uri="{BB962C8B-B14F-4D97-AF65-F5344CB8AC3E}">
        <p14:creationId xmlns:p14="http://schemas.microsoft.com/office/powerpoint/2010/main" val="4081315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0FB61-DE29-BF0D-700E-E9C4A5A021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0AAC3E-4063-EE53-4D66-CD9CAA06FCAF}"/>
              </a:ext>
            </a:extLst>
          </p:cNvPr>
          <p:cNvSpPr>
            <a:spLocks noGrp="1"/>
          </p:cNvSpPr>
          <p:nvPr>
            <p:ph type="title"/>
          </p:nvPr>
        </p:nvSpPr>
        <p:spPr/>
        <p:txBody>
          <a:bodyPr/>
          <a:lstStyle/>
          <a:p>
            <a:r>
              <a:rPr lang="de-DE" dirty="0" err="1"/>
              <a:t>Example</a:t>
            </a:r>
            <a:r>
              <a:rPr lang="de-DE" dirty="0"/>
              <a:t> </a:t>
            </a:r>
            <a:r>
              <a:rPr lang="de-DE" dirty="0" err="1"/>
              <a:t>elephant</a:t>
            </a:r>
            <a:r>
              <a:rPr lang="de-DE" dirty="0"/>
              <a:t> </a:t>
            </a:r>
            <a:r>
              <a:rPr lang="de-DE" dirty="0" err="1"/>
              <a:t>factors</a:t>
            </a:r>
            <a:endParaRPr lang="en-US" dirty="0"/>
          </a:p>
        </p:txBody>
      </p:sp>
      <p:sp>
        <p:nvSpPr>
          <p:cNvPr id="2" name="Content Placeholder 1">
            <a:extLst>
              <a:ext uri="{FF2B5EF4-FFF2-40B4-BE49-F238E27FC236}">
                <a16:creationId xmlns:a16="http://schemas.microsoft.com/office/drawing/2014/main" id="{089E176A-CD2C-9BBB-8F18-D44DB2DB0947}"/>
              </a:ext>
            </a:extLst>
          </p:cNvPr>
          <p:cNvSpPr>
            <a:spLocks noGrp="1"/>
          </p:cNvSpPr>
          <p:nvPr>
            <p:ph type="body" sz="quarter" idx="13"/>
          </p:nvPr>
        </p:nvSpPr>
        <p:spPr/>
        <p:txBody>
          <a:bodyPr>
            <a:normAutofit/>
          </a:bodyPr>
          <a:lstStyle/>
          <a:p>
            <a:pPr marL="0" indent="0" algn="ctr">
              <a:buNone/>
            </a:pPr>
            <a:endParaRPr lang="en-US" dirty="0"/>
          </a:p>
        </p:txBody>
      </p:sp>
      <p:graphicFrame>
        <p:nvGraphicFramePr>
          <p:cNvPr id="4" name="Table 3">
            <a:extLst>
              <a:ext uri="{FF2B5EF4-FFF2-40B4-BE49-F238E27FC236}">
                <a16:creationId xmlns:a16="http://schemas.microsoft.com/office/drawing/2014/main" id="{BDD7E971-8F43-7E40-D043-301D523214AA}"/>
              </a:ext>
            </a:extLst>
          </p:cNvPr>
          <p:cNvGraphicFramePr>
            <a:graphicFrameLocks noGrp="1"/>
          </p:cNvGraphicFramePr>
          <p:nvPr>
            <p:extLst>
              <p:ext uri="{D42A27DB-BD31-4B8C-83A1-F6EECF244321}">
                <p14:modId xmlns:p14="http://schemas.microsoft.com/office/powerpoint/2010/main" val="57798642"/>
              </p:ext>
            </p:extLst>
          </p:nvPr>
        </p:nvGraphicFramePr>
        <p:xfrm>
          <a:off x="822361" y="2509137"/>
          <a:ext cx="8128000" cy="1483360"/>
        </p:xfrm>
        <a:graphic>
          <a:graphicData uri="http://schemas.openxmlformats.org/drawingml/2006/table">
            <a:tbl>
              <a:tblPr firstRow="1" bandRow="1">
                <a:tableStyleId>{00A15C55-8517-42AA-B614-E9B94910E393}</a:tableStyleId>
              </a:tblPr>
              <a:tblGrid>
                <a:gridCol w="4064000">
                  <a:extLst>
                    <a:ext uri="{9D8B030D-6E8A-4147-A177-3AD203B41FA5}">
                      <a16:colId xmlns:a16="http://schemas.microsoft.com/office/drawing/2014/main" val="4111196761"/>
                    </a:ext>
                  </a:extLst>
                </a:gridCol>
                <a:gridCol w="4064000">
                  <a:extLst>
                    <a:ext uri="{9D8B030D-6E8A-4147-A177-3AD203B41FA5}">
                      <a16:colId xmlns:a16="http://schemas.microsoft.com/office/drawing/2014/main" val="1029289787"/>
                    </a:ext>
                  </a:extLst>
                </a:gridCol>
              </a:tblGrid>
              <a:tr h="370840">
                <a:tc>
                  <a:txBody>
                    <a:bodyPr/>
                    <a:lstStyle/>
                    <a:p>
                      <a:r>
                        <a:rPr lang="de-DE" dirty="0"/>
                        <a:t>Repository</a:t>
                      </a:r>
                      <a:endParaRPr lang="en-US" dirty="0"/>
                    </a:p>
                  </a:txBody>
                  <a:tcPr/>
                </a:tc>
                <a:tc>
                  <a:txBody>
                    <a:bodyPr/>
                    <a:lstStyle/>
                    <a:p>
                      <a:r>
                        <a:rPr lang="de-DE" dirty="0" err="1"/>
                        <a:t>Elephant</a:t>
                      </a:r>
                      <a:r>
                        <a:rPr lang="de-DE" dirty="0"/>
                        <a:t> </a:t>
                      </a:r>
                      <a:r>
                        <a:rPr lang="de-DE" dirty="0" err="1"/>
                        <a:t>Factor</a:t>
                      </a:r>
                      <a:endParaRPr lang="en-US" dirty="0"/>
                    </a:p>
                  </a:txBody>
                  <a:tcPr/>
                </a:tc>
                <a:extLst>
                  <a:ext uri="{0D108BD9-81ED-4DB2-BD59-A6C34878D82A}">
                    <a16:rowId xmlns:a16="http://schemas.microsoft.com/office/drawing/2014/main" val="670293942"/>
                  </a:ext>
                </a:extLst>
              </a:tr>
              <a:tr h="370840">
                <a:tc>
                  <a:txBody>
                    <a:bodyPr/>
                    <a:lstStyle/>
                    <a:p>
                      <a:r>
                        <a:rPr lang="de-DE" dirty="0" err="1"/>
                        <a:t>kubernetes</a:t>
                      </a:r>
                      <a:r>
                        <a:rPr lang="de-DE" dirty="0"/>
                        <a:t>/</a:t>
                      </a:r>
                      <a:r>
                        <a:rPr lang="de-DE" dirty="0" err="1"/>
                        <a:t>kubernetes</a:t>
                      </a:r>
                      <a:endParaRPr lang="en-US" dirty="0"/>
                    </a:p>
                  </a:txBody>
                  <a:tcPr/>
                </a:tc>
                <a:tc>
                  <a:txBody>
                    <a:bodyPr/>
                    <a:lstStyle/>
                    <a:p>
                      <a:r>
                        <a:rPr lang="de-DE" dirty="0">
                          <a:hlinkClick r:id="rId2"/>
                        </a:rPr>
                        <a:t>3</a:t>
                      </a:r>
                      <a:endParaRPr lang="en-US" dirty="0"/>
                    </a:p>
                  </a:txBody>
                  <a:tcPr/>
                </a:tc>
                <a:extLst>
                  <a:ext uri="{0D108BD9-81ED-4DB2-BD59-A6C34878D82A}">
                    <a16:rowId xmlns:a16="http://schemas.microsoft.com/office/drawing/2014/main" val="3117922544"/>
                  </a:ext>
                </a:extLst>
              </a:tr>
              <a:tr h="370840">
                <a:tc>
                  <a:txBody>
                    <a:bodyPr/>
                    <a:lstStyle/>
                    <a:p>
                      <a:r>
                        <a:rPr lang="de-DE" dirty="0" err="1"/>
                        <a:t>kubernetes</a:t>
                      </a:r>
                      <a:r>
                        <a:rPr lang="de-DE" dirty="0"/>
                        <a:t>/</a:t>
                      </a:r>
                      <a:r>
                        <a:rPr lang="de-DE" dirty="0" err="1"/>
                        <a:t>website</a:t>
                      </a:r>
                      <a:endParaRPr lang="en-US" dirty="0"/>
                    </a:p>
                  </a:txBody>
                  <a:tcPr/>
                </a:tc>
                <a:tc>
                  <a:txBody>
                    <a:bodyPr/>
                    <a:lstStyle/>
                    <a:p>
                      <a:r>
                        <a:rPr lang="de-DE" dirty="0">
                          <a:hlinkClick r:id="rId3"/>
                        </a:rPr>
                        <a:t>7</a:t>
                      </a:r>
                      <a:endParaRPr lang="en-US" dirty="0"/>
                    </a:p>
                  </a:txBody>
                  <a:tcPr/>
                </a:tc>
                <a:extLst>
                  <a:ext uri="{0D108BD9-81ED-4DB2-BD59-A6C34878D82A}">
                    <a16:rowId xmlns:a16="http://schemas.microsoft.com/office/drawing/2014/main" val="3627710814"/>
                  </a:ext>
                </a:extLst>
              </a:tr>
              <a:tr h="370840">
                <a:tc>
                  <a:txBody>
                    <a:bodyPr/>
                    <a:lstStyle/>
                    <a:p>
                      <a:r>
                        <a:rPr lang="de-DE" dirty="0" err="1"/>
                        <a:t>platform-mesh</a:t>
                      </a:r>
                      <a:r>
                        <a:rPr lang="de-DE" dirty="0"/>
                        <a:t>/</a:t>
                      </a:r>
                      <a:r>
                        <a:rPr lang="de-DE" dirty="0" err="1"/>
                        <a:t>platform-mesh</a:t>
                      </a:r>
                      <a:endParaRPr lang="en-US" dirty="0"/>
                    </a:p>
                  </a:txBody>
                  <a:tcPr/>
                </a:tc>
                <a:tc>
                  <a:txBody>
                    <a:bodyPr/>
                    <a:lstStyle/>
                    <a:p>
                      <a:r>
                        <a:rPr lang="de-DE" dirty="0">
                          <a:hlinkClick r:id="rId4"/>
                        </a:rPr>
                        <a:t>1</a:t>
                      </a:r>
                      <a:endParaRPr lang="en-US" dirty="0"/>
                    </a:p>
                  </a:txBody>
                  <a:tcPr/>
                </a:tc>
                <a:extLst>
                  <a:ext uri="{0D108BD9-81ED-4DB2-BD59-A6C34878D82A}">
                    <a16:rowId xmlns:a16="http://schemas.microsoft.com/office/drawing/2014/main" val="1678591348"/>
                  </a:ext>
                </a:extLst>
              </a:tr>
            </a:tbl>
          </a:graphicData>
        </a:graphic>
      </p:graphicFrame>
    </p:spTree>
    <p:extLst>
      <p:ext uri="{BB962C8B-B14F-4D97-AF65-F5344CB8AC3E}">
        <p14:creationId xmlns:p14="http://schemas.microsoft.com/office/powerpoint/2010/main" val="3307691868"/>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B4FB-9A53-9E11-F517-5DBB8867DE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06DAC5-FFB9-7FD0-3459-D27E2FFA0418}"/>
              </a:ext>
            </a:extLst>
          </p:cNvPr>
          <p:cNvSpPr>
            <a:spLocks noGrp="1"/>
          </p:cNvSpPr>
          <p:nvPr>
            <p:ph type="title"/>
          </p:nvPr>
        </p:nvSpPr>
        <p:spPr/>
        <p:txBody>
          <a:bodyPr/>
          <a:lstStyle/>
          <a:p>
            <a:r>
              <a:rPr lang="de-DE" dirty="0"/>
              <a:t>How </a:t>
            </a:r>
            <a:r>
              <a:rPr lang="de-DE" dirty="0" err="1"/>
              <a:t>to</a:t>
            </a:r>
            <a:r>
              <a:rPr lang="de-DE" dirty="0"/>
              <a:t> </a:t>
            </a:r>
            <a:r>
              <a:rPr lang="de-DE" dirty="0" err="1"/>
              <a:t>measure</a:t>
            </a:r>
            <a:r>
              <a:rPr lang="de-DE" dirty="0"/>
              <a:t> </a:t>
            </a:r>
            <a:r>
              <a:rPr lang="de-DE" dirty="0" err="1"/>
              <a:t>the</a:t>
            </a:r>
            <a:r>
              <a:rPr lang="de-DE" dirty="0"/>
              <a:t> </a:t>
            </a:r>
            <a:r>
              <a:rPr lang="de-DE" dirty="0" err="1"/>
              <a:t>elephant</a:t>
            </a:r>
            <a:r>
              <a:rPr lang="de-DE" dirty="0"/>
              <a:t> </a:t>
            </a:r>
            <a:r>
              <a:rPr lang="de-DE" dirty="0" err="1"/>
              <a:t>factor</a:t>
            </a:r>
            <a:r>
              <a:rPr lang="de-DE" dirty="0"/>
              <a:t>?</a:t>
            </a:r>
            <a:endParaRPr lang="en-US" dirty="0"/>
          </a:p>
        </p:txBody>
      </p:sp>
      <p:sp>
        <p:nvSpPr>
          <p:cNvPr id="2" name="Content Placeholder 1">
            <a:extLst>
              <a:ext uri="{FF2B5EF4-FFF2-40B4-BE49-F238E27FC236}">
                <a16:creationId xmlns:a16="http://schemas.microsoft.com/office/drawing/2014/main" id="{8AB9BBF3-410B-CE99-44D5-9A5EA27D9747}"/>
              </a:ext>
            </a:extLst>
          </p:cNvPr>
          <p:cNvSpPr>
            <a:spLocks noGrp="1"/>
          </p:cNvSpPr>
          <p:nvPr>
            <p:ph type="body" sz="quarter" idx="13"/>
          </p:nvPr>
        </p:nvSpPr>
        <p:spPr/>
        <p:txBody>
          <a:bodyPr>
            <a:normAutofit/>
          </a:bodyPr>
          <a:lstStyle/>
          <a:p>
            <a:pPr algn="ctr"/>
            <a:r>
              <a:rPr lang="en-US" dirty="0"/>
              <a:t>The Elephant factor is measured by LFX Insights.</a:t>
            </a:r>
          </a:p>
        </p:txBody>
      </p:sp>
      <p:sp>
        <p:nvSpPr>
          <p:cNvPr id="6" name="Online Image Placeholder 5">
            <a:extLst>
              <a:ext uri="{FF2B5EF4-FFF2-40B4-BE49-F238E27FC236}">
                <a16:creationId xmlns:a16="http://schemas.microsoft.com/office/drawing/2014/main" id="{36D60313-F6EF-5DA2-A685-EF913C559F0B}"/>
              </a:ext>
            </a:extLst>
          </p:cNvPr>
          <p:cNvSpPr>
            <a:spLocks noGrp="1"/>
          </p:cNvSpPr>
          <p:nvPr>
            <p:ph type="clipArt" sz="quarter" idx="14"/>
          </p:nvPr>
        </p:nvSpPr>
        <p:spPr/>
        <p:txBody>
          <a:bodyPr/>
          <a:lstStyle/>
          <a:p>
            <a:endParaRPr lang="en-US"/>
          </a:p>
        </p:txBody>
      </p:sp>
      <p:pic>
        <p:nvPicPr>
          <p:cNvPr id="4" name="Picture 3">
            <a:extLst>
              <a:ext uri="{FF2B5EF4-FFF2-40B4-BE49-F238E27FC236}">
                <a16:creationId xmlns:a16="http://schemas.microsoft.com/office/drawing/2014/main" id="{D46A5E55-8FBB-F01B-0559-135F8511E59C}"/>
              </a:ext>
            </a:extLst>
          </p:cNvPr>
          <p:cNvPicPr>
            <a:picLocks noChangeAspect="1"/>
          </p:cNvPicPr>
          <p:nvPr/>
        </p:nvPicPr>
        <p:blipFill>
          <a:blip r:embed="rId2"/>
          <a:stretch>
            <a:fillRect/>
          </a:stretch>
        </p:blipFill>
        <p:spPr>
          <a:xfrm>
            <a:off x="5741881" y="1965833"/>
            <a:ext cx="6104149" cy="2926334"/>
          </a:xfrm>
          <a:prstGeom prst="rect">
            <a:avLst/>
          </a:prstGeom>
        </p:spPr>
      </p:pic>
    </p:spTree>
    <p:extLst>
      <p:ext uri="{BB962C8B-B14F-4D97-AF65-F5344CB8AC3E}">
        <p14:creationId xmlns:p14="http://schemas.microsoft.com/office/powerpoint/2010/main" val="1082669845"/>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BDC9B-6E43-6D59-CD5C-D5B44ED693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78BD66-1DE0-3B16-D299-612860710424}"/>
              </a:ext>
            </a:extLst>
          </p:cNvPr>
          <p:cNvSpPr>
            <a:spLocks noGrp="1"/>
          </p:cNvSpPr>
          <p:nvPr>
            <p:ph type="title"/>
          </p:nvPr>
        </p:nvSpPr>
        <p:spPr/>
        <p:txBody>
          <a:bodyPr/>
          <a:lstStyle/>
          <a:p>
            <a:r>
              <a:rPr lang="de-DE" dirty="0" err="1"/>
              <a:t>Elephant</a:t>
            </a:r>
            <a:r>
              <a:rPr lang="de-DE" dirty="0"/>
              <a:t> </a:t>
            </a:r>
            <a:r>
              <a:rPr lang="de-DE" dirty="0" err="1"/>
              <a:t>factor</a:t>
            </a:r>
            <a:r>
              <a:rPr lang="de-DE" dirty="0"/>
              <a:t> </a:t>
            </a:r>
            <a:r>
              <a:rPr lang="de-DE" dirty="0" err="1"/>
              <a:t>for</a:t>
            </a:r>
            <a:r>
              <a:rPr lang="de-DE" dirty="0"/>
              <a:t> a </a:t>
            </a:r>
            <a:r>
              <a:rPr lang="de-DE" dirty="0" err="1"/>
              <a:t>repository</a:t>
            </a:r>
            <a:endParaRPr lang="en-US" dirty="0"/>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D102BE3D-4AD2-EA86-FD3F-FB2ABBE08951}"/>
                  </a:ext>
                </a:extLst>
              </p:cNvPr>
              <p:cNvSpPr>
                <a:spLocks noGrp="1"/>
              </p:cNvSpPr>
              <p:nvPr>
                <p:ph type="body" sz="quarter" idx="13"/>
              </p:nvPr>
            </p:nvSpPr>
            <p:spPr>
              <a:xfrm>
                <a:off x="472441" y="2000250"/>
                <a:ext cx="9163172" cy="2786903"/>
              </a:xfrm>
            </p:spPr>
            <p:txBody>
              <a:bodyPr>
                <a:normAutofit fontScale="92500"/>
              </a:bodyPr>
              <a:lstStyle/>
              <a:p>
                <a:pPr marL="0" indent="0" algn="ctr">
                  <a:buNone/>
                </a:pPr>
                <a:endParaRPr lang="de-DE"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de-DE" b="0" i="1" dirty="0" smtClean="0">
                          <a:latin typeface="Cambria Math" panose="02040503050406030204" pitchFamily="18" charset="0"/>
                        </a:rPr>
                        <m:t>𝐸</m:t>
                      </m:r>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𝐹</m:t>
                          </m:r>
                        </m:e>
                        <m:sub>
                          <m:r>
                            <a:rPr lang="de-DE" b="0" i="1" dirty="0" smtClean="0">
                              <a:latin typeface="Cambria Math" panose="02040503050406030204" pitchFamily="18" charset="0"/>
                            </a:rPr>
                            <m:t>𝑟</m:t>
                          </m:r>
                        </m:sub>
                      </m:sSub>
                      <m:r>
                        <a:rPr lang="de-DE" b="0" i="1" dirty="0" smtClean="0">
                          <a:latin typeface="Cambria Math" panose="02040503050406030204" pitchFamily="18" charset="0"/>
                        </a:rPr>
                        <m:t>=</m:t>
                      </m:r>
                      <m:d>
                        <m:dPr>
                          <m:begChr m:val="‖"/>
                          <m:endChr m:val="‖"/>
                          <m:ctrlPr>
                            <a:rPr lang="de-DE" i="1" dirty="0">
                              <a:latin typeface="Cambria Math" panose="02040503050406030204" pitchFamily="18" charset="0"/>
                            </a:rPr>
                          </m:ctrlPr>
                        </m:dPr>
                        <m:e>
                          <m:r>
                            <a:rPr lang="de-DE" b="1" i="0" dirty="0" smtClean="0">
                              <a:latin typeface="Cambria Math" panose="02040503050406030204" pitchFamily="18" charset="0"/>
                            </a:rPr>
                            <m:t>𝐱</m:t>
                          </m:r>
                        </m:e>
                      </m:d>
                      <m:r>
                        <a:rPr lang="de-DE" b="0" i="1" dirty="0" smtClean="0">
                          <a:latin typeface="Cambria Math" panose="02040503050406030204" pitchFamily="18" charset="0"/>
                        </a:rPr>
                        <m:t> </m:t>
                      </m:r>
                      <m:r>
                        <m:rPr>
                          <m:sty m:val="p"/>
                        </m:rPr>
                        <a:rPr lang="de-DE" b="0" i="1" dirty="0" smtClean="0">
                          <a:latin typeface="Cambria Math" panose="02040503050406030204" pitchFamily="18" charset="0"/>
                        </a:rPr>
                        <m:t>with</m:t>
                      </m:r>
                      <m:func>
                        <m:funcPr>
                          <m:ctrlPr>
                            <a:rPr lang="de-DE" i="1" dirty="0">
                              <a:latin typeface="Cambria Math" panose="02040503050406030204" pitchFamily="18" charset="0"/>
                            </a:rPr>
                          </m:ctrlPr>
                        </m:funcPr>
                        <m:fName>
                          <m:r>
                            <a:rPr lang="de-DE" b="1" i="0" dirty="0" smtClean="0">
                              <a:latin typeface="Cambria Math" panose="02040503050406030204" pitchFamily="18" charset="0"/>
                            </a:rPr>
                            <m:t>𝐱</m:t>
                          </m:r>
                          <m:r>
                            <a:rPr lang="de-DE" b="0" i="1" dirty="0" smtClean="0">
                              <a:latin typeface="Cambria Math" panose="02040503050406030204" pitchFamily="18" charset="0"/>
                            </a:rPr>
                            <m:t>=</m:t>
                          </m:r>
                          <m:limLow>
                            <m:limLowPr>
                              <m:ctrlPr>
                                <a:rPr lang="de-DE" i="1" dirty="0">
                                  <a:latin typeface="Cambria Math" panose="02040503050406030204" pitchFamily="18" charset="0"/>
                                </a:rPr>
                              </m:ctrlPr>
                            </m:limLowPr>
                            <m:e>
                              <m:r>
                                <m:rPr>
                                  <m:sty m:val="p"/>
                                </m:rPr>
                                <a:rPr lang="de-DE" b="0" i="1" dirty="0" smtClean="0">
                                  <a:latin typeface="Cambria Math" panose="02040503050406030204" pitchFamily="18" charset="0"/>
                                </a:rPr>
                                <m:t>arg</m:t>
                              </m:r>
                              <m:r>
                                <m:rPr>
                                  <m:sty m:val="p"/>
                                </m:rPr>
                                <a:rPr lang="de-DE" dirty="0">
                                  <a:latin typeface="Cambria Math" panose="02040503050406030204" pitchFamily="18" charset="0"/>
                                </a:rPr>
                                <m:t>min</m:t>
                              </m:r>
                            </m:e>
                            <m:lim>
                              <m:r>
                                <a:rPr lang="de-DE" b="1" dirty="0">
                                  <a:latin typeface="Cambria Math" panose="02040503050406030204" pitchFamily="18" charset="0"/>
                                </a:rPr>
                                <m:t>𝐱</m:t>
                              </m:r>
                              <m:sSup>
                                <m:sSupPr>
                                  <m:ctrlPr>
                                    <a:rPr lang="de-DE" i="1" dirty="0">
                                      <a:latin typeface="Cambria Math" panose="02040503050406030204" pitchFamily="18" charset="0"/>
                                    </a:rPr>
                                  </m:ctrlPr>
                                </m:sSupPr>
                                <m:e>
                                  <m:r>
                                    <a:rPr lang="de-DE" i="1" dirty="0">
                                      <a:latin typeface="Cambria Math" panose="02040503050406030204" pitchFamily="18" charset="0"/>
                                    </a:rPr>
                                    <m:t>∈</m:t>
                                  </m:r>
                                  <m:r>
                                    <m:rPr>
                                      <m:lit/>
                                    </m:rPr>
                                    <a:rPr lang="de-DE" i="1" dirty="0">
                                      <a:latin typeface="Cambria Math" panose="02040503050406030204" pitchFamily="18" charset="0"/>
                                    </a:rPr>
                                    <m:t>{0,1}</m:t>
                                  </m:r>
                                </m:e>
                                <m:sup>
                                  <m:d>
                                    <m:dPr>
                                      <m:begChr m:val="|"/>
                                      <m:endChr m:val="|"/>
                                      <m:ctrlPr>
                                        <a:rPr lang="de-DE" i="1" dirty="0">
                                          <a:latin typeface="Cambria Math" panose="02040503050406030204" pitchFamily="18" charset="0"/>
                                        </a:rPr>
                                      </m:ctrlPr>
                                    </m:dPr>
                                    <m:e>
                                      <m:sSub>
                                        <m:sSubPr>
                                          <m:ctrlPr>
                                            <a:rPr lang="de-DE" b="0" i="1" dirty="0" smtClean="0">
                                              <a:latin typeface="Cambria Math" panose="02040503050406030204" pitchFamily="18" charset="0"/>
                                            </a:rPr>
                                          </m:ctrlPr>
                                        </m:sSubPr>
                                        <m:e>
                                          <m:r>
                                            <a:rPr lang="de-DE" i="1" dirty="0">
                                              <a:latin typeface="Cambria Math" panose="02040503050406030204" pitchFamily="18" charset="0"/>
                                            </a:rPr>
                                            <m:t>𝑆</m:t>
                                          </m:r>
                                        </m:e>
                                        <m:sub>
                                          <m:r>
                                            <a:rPr lang="de-DE" b="0" i="1" dirty="0" smtClean="0">
                                              <a:latin typeface="Cambria Math" panose="02040503050406030204" pitchFamily="18" charset="0"/>
                                            </a:rPr>
                                            <m:t>𝑟</m:t>
                                          </m:r>
                                        </m:sub>
                                      </m:sSub>
                                    </m:e>
                                  </m:d>
                                </m:sup>
                              </m:sSup>
                            </m:lim>
                          </m:limLow>
                        </m:fName>
                        <m:e>
                          <m:d>
                            <m:dPr>
                              <m:ctrlPr>
                                <a:rPr lang="de-DE" i="1" dirty="0">
                                  <a:latin typeface="Cambria Math" panose="02040503050406030204" pitchFamily="18" charset="0"/>
                                </a:rPr>
                              </m:ctrlPr>
                            </m:dPr>
                            <m:e>
                              <m:nary>
                                <m:naryPr>
                                  <m:chr m:val="∑"/>
                                  <m:ctrlPr>
                                    <a:rPr lang="de-DE" i="1" dirty="0">
                                      <a:latin typeface="Cambria Math" panose="02040503050406030204" pitchFamily="18" charset="0"/>
                                    </a:rPr>
                                  </m:ctrlPr>
                                </m:naryPr>
                                <m:sub>
                                  <m:r>
                                    <m:rPr>
                                      <m:sty m:val="p"/>
                                      <m:brk m:alnAt="7"/>
                                    </m:rPr>
                                    <a:rPr lang="de-DE" i="1" dirty="0">
                                      <a:latin typeface="Cambria Math" panose="02040503050406030204" pitchFamily="18" charset="0"/>
                                    </a:rPr>
                                    <m:t>i</m:t>
                                  </m:r>
                                  <m:r>
                                    <a:rPr lang="de-DE" i="1" dirty="0">
                                      <a:latin typeface="Cambria Math" panose="02040503050406030204" pitchFamily="18" charset="0"/>
                                    </a:rPr>
                                    <m:t>=0</m:t>
                                  </m:r>
                                </m:sub>
                                <m:sup>
                                  <m:r>
                                    <m:rPr>
                                      <m:sty m:val="p"/>
                                    </m:rPr>
                                    <a:rPr lang="de-DE" i="1" dirty="0">
                                      <a:latin typeface="Cambria Math" panose="02040503050406030204" pitchFamily="18" charset="0"/>
                                    </a:rPr>
                                    <m:t>i</m:t>
                                  </m:r>
                                  <m:r>
                                    <a:rPr lang="de-DE" i="1" dirty="0">
                                      <a:latin typeface="Cambria Math" panose="02040503050406030204" pitchFamily="18" charset="0"/>
                                    </a:rPr>
                                    <m:t>=</m:t>
                                  </m:r>
                                  <m:d>
                                    <m:dPr>
                                      <m:begChr m:val="|"/>
                                      <m:endChr m:val="|"/>
                                      <m:ctrlPr>
                                        <a:rPr lang="de-DE" i="1" dirty="0">
                                          <a:latin typeface="Cambria Math" panose="02040503050406030204" pitchFamily="18" charset="0"/>
                                        </a:rPr>
                                      </m:ctrlPr>
                                    </m:dPr>
                                    <m:e>
                                      <m:sSub>
                                        <m:sSubPr>
                                          <m:ctrlPr>
                                            <a:rPr lang="de-DE" i="1" dirty="0">
                                              <a:latin typeface="Cambria Math" panose="02040503050406030204" pitchFamily="18" charset="0"/>
                                            </a:rPr>
                                          </m:ctrlPr>
                                        </m:sSubPr>
                                        <m:e>
                                          <m:r>
                                            <a:rPr lang="de-DE" i="1" dirty="0">
                                              <a:latin typeface="Cambria Math" panose="02040503050406030204" pitchFamily="18" charset="0"/>
                                            </a:rPr>
                                            <m:t>𝑆</m:t>
                                          </m:r>
                                        </m:e>
                                        <m:sub>
                                          <m:r>
                                            <a:rPr lang="de-DE" i="1" dirty="0">
                                              <a:latin typeface="Cambria Math" panose="02040503050406030204" pitchFamily="18" charset="0"/>
                                            </a:rPr>
                                            <m:t>𝑟</m:t>
                                          </m:r>
                                        </m:sub>
                                      </m:sSub>
                                    </m:e>
                                  </m:d>
                                  <m:r>
                                    <a:rPr lang="de-DE" b="0" i="1" dirty="0" smtClean="0">
                                      <a:latin typeface="Cambria Math" panose="02040503050406030204" pitchFamily="18" charset="0"/>
                                    </a:rPr>
                                    <m:t>-1</m:t>
                                  </m:r>
                                </m:sup>
                                <m:e>
                                  <m:sSub>
                                    <m:sSubPr>
                                      <m:ctrlPr>
                                        <a:rPr lang="de-DE" i="1" dirty="0">
                                          <a:latin typeface="Cambria Math" panose="02040503050406030204" pitchFamily="18" charset="0"/>
                                        </a:rPr>
                                      </m:ctrlPr>
                                    </m:sSubPr>
                                    <m:e>
                                      <m:sSub>
                                        <m:sSubPr>
                                          <m:ctrlPr>
                                            <a:rPr lang="de-DE" i="1" dirty="0">
                                              <a:latin typeface="Cambria Math" panose="02040503050406030204" pitchFamily="18" charset="0"/>
                                            </a:rPr>
                                          </m:ctrlPr>
                                        </m:sSubPr>
                                        <m:e>
                                          <m:r>
                                            <a:rPr lang="de-DE" i="1" dirty="0">
                                              <a:latin typeface="Cambria Math" panose="02040503050406030204" pitchFamily="18" charset="0"/>
                                            </a:rPr>
                                            <m:t>𝐵</m:t>
                                          </m:r>
                                        </m:e>
                                        <m:sub>
                                          <m:sSub>
                                            <m:sSubPr>
                                              <m:ctrlPr>
                                                <a:rPr lang="de-DE" i="1" dirty="0">
                                                  <a:latin typeface="Cambria Math" panose="02040503050406030204" pitchFamily="18" charset="0"/>
                                                </a:rPr>
                                              </m:ctrlPr>
                                            </m:sSubPr>
                                            <m:e>
                                              <m:r>
                                                <a:rPr lang="de-DE" i="1" dirty="0">
                                                  <a:latin typeface="Cambria Math" panose="02040503050406030204" pitchFamily="18" charset="0"/>
                                                </a:rPr>
                                                <m:t>𝑖</m:t>
                                              </m:r>
                                            </m:e>
                                            <m:sub>
                                              <m:r>
                                                <a:rPr lang="de-DE" i="1" dirty="0">
                                                  <a:latin typeface="Cambria Math" panose="02040503050406030204" pitchFamily="18" charset="0"/>
                                                </a:rPr>
                                                <m:t>𝑟</m:t>
                                              </m:r>
                                            </m:sub>
                                          </m:sSub>
                                        </m:sub>
                                      </m:sSub>
                                      <m:r>
                                        <a:rPr lang="de-DE" i="1" dirty="0">
                                          <a:latin typeface="Cambria Math" panose="02040503050406030204" pitchFamily="18" charset="0"/>
                                        </a:rPr>
                                        <m:t>𝑥</m:t>
                                      </m:r>
                                    </m:e>
                                    <m:sub>
                                      <m:r>
                                        <a:rPr lang="de-DE" i="1" dirty="0">
                                          <a:latin typeface="Cambria Math" panose="02040503050406030204" pitchFamily="18" charset="0"/>
                                        </a:rPr>
                                        <m:t>𝑖</m:t>
                                      </m:r>
                                    </m:sub>
                                  </m:sSub>
                                </m:e>
                              </m:nary>
                              <m:r>
                                <a:rPr lang="de-DE" b="0" i="1" dirty="0" smtClean="0">
                                  <a:latin typeface="Cambria Math" panose="02040503050406030204" pitchFamily="18" charset="0"/>
                                </a:rPr>
                                <m:t>,</m:t>
                              </m:r>
                              <m:r>
                                <a:rPr lang="de-DE" i="1" dirty="0">
                                  <a:latin typeface="Cambria Math" panose="02040503050406030204" pitchFamily="18" charset="0"/>
                                </a:rPr>
                                <m:t> </m:t>
                              </m:r>
                              <m:r>
                                <a:rPr lang="de-DE" i="1" dirty="0">
                                  <a:latin typeface="Cambria Math" panose="02040503050406030204" pitchFamily="18" charset="0"/>
                                </a:rPr>
                                <m:t>𝑠</m:t>
                              </m:r>
                              <m:r>
                                <a:rPr lang="de-DE" i="1" dirty="0">
                                  <a:latin typeface="Cambria Math" panose="02040503050406030204" pitchFamily="18" charset="0"/>
                                </a:rPr>
                                <m:t>.</m:t>
                              </m:r>
                              <m:r>
                                <a:rPr lang="de-DE" i="1" dirty="0">
                                  <a:latin typeface="Cambria Math" panose="02040503050406030204" pitchFamily="18" charset="0"/>
                                </a:rPr>
                                <m:t>𝑡</m:t>
                              </m:r>
                              <m:r>
                                <a:rPr lang="de-DE" i="1" dirty="0">
                                  <a:latin typeface="Cambria Math" panose="02040503050406030204" pitchFamily="18" charset="0"/>
                                </a:rPr>
                                <m:t>.</m:t>
                              </m:r>
                              <m:nary>
                                <m:naryPr>
                                  <m:chr m:val="∑"/>
                                  <m:ctrlPr>
                                    <a:rPr lang="de-DE" i="1" dirty="0">
                                      <a:latin typeface="Cambria Math" panose="02040503050406030204" pitchFamily="18" charset="0"/>
                                    </a:rPr>
                                  </m:ctrlPr>
                                </m:naryPr>
                                <m:sub>
                                  <m:r>
                                    <m:rPr>
                                      <m:sty m:val="p"/>
                                      <m:brk m:alnAt="7"/>
                                    </m:rPr>
                                    <a:rPr lang="de-DE" i="1" dirty="0">
                                      <a:latin typeface="Cambria Math" panose="02040503050406030204" pitchFamily="18" charset="0"/>
                                    </a:rPr>
                                    <m:t>i</m:t>
                                  </m:r>
                                  <m:r>
                                    <a:rPr lang="de-DE" i="1" dirty="0">
                                      <a:latin typeface="Cambria Math" panose="02040503050406030204" pitchFamily="18" charset="0"/>
                                    </a:rPr>
                                    <m:t>=0</m:t>
                                  </m:r>
                                </m:sub>
                                <m:sup>
                                  <m:r>
                                    <m:rPr>
                                      <m:sty m:val="p"/>
                                    </m:rPr>
                                    <a:rPr lang="de-DE" i="1" dirty="0">
                                      <a:latin typeface="Cambria Math" panose="02040503050406030204" pitchFamily="18" charset="0"/>
                                    </a:rPr>
                                    <m:t>i</m:t>
                                  </m:r>
                                  <m:r>
                                    <a:rPr lang="de-DE" i="1" dirty="0">
                                      <a:latin typeface="Cambria Math" panose="02040503050406030204" pitchFamily="18" charset="0"/>
                                    </a:rPr>
                                    <m:t>=</m:t>
                                  </m:r>
                                  <m:d>
                                    <m:dPr>
                                      <m:begChr m:val="|"/>
                                      <m:endChr m:val="|"/>
                                      <m:ctrlPr>
                                        <a:rPr lang="de-DE" i="1" dirty="0">
                                          <a:latin typeface="Cambria Math" panose="02040503050406030204" pitchFamily="18" charset="0"/>
                                        </a:rPr>
                                      </m:ctrlPr>
                                    </m:dPr>
                                    <m:e>
                                      <m:sSub>
                                        <m:sSubPr>
                                          <m:ctrlPr>
                                            <a:rPr lang="de-DE" i="1" dirty="0">
                                              <a:latin typeface="Cambria Math" panose="02040503050406030204" pitchFamily="18" charset="0"/>
                                            </a:rPr>
                                          </m:ctrlPr>
                                        </m:sSubPr>
                                        <m:e>
                                          <m:r>
                                            <a:rPr lang="de-DE" i="1" dirty="0">
                                              <a:latin typeface="Cambria Math" panose="02040503050406030204" pitchFamily="18" charset="0"/>
                                            </a:rPr>
                                            <m:t>𝑆</m:t>
                                          </m:r>
                                        </m:e>
                                        <m:sub>
                                          <m:r>
                                            <a:rPr lang="de-DE" i="1" dirty="0">
                                              <a:latin typeface="Cambria Math" panose="02040503050406030204" pitchFamily="18" charset="0"/>
                                            </a:rPr>
                                            <m:t>𝑟</m:t>
                                          </m:r>
                                        </m:sub>
                                      </m:sSub>
                                    </m:e>
                                  </m:d>
                                  <m:r>
                                    <a:rPr lang="de-DE" b="0" i="1" dirty="0" smtClean="0">
                                      <a:latin typeface="Cambria Math" panose="02040503050406030204" pitchFamily="18" charset="0"/>
                                    </a:rPr>
                                    <m:t>-1</m:t>
                                  </m:r>
                                </m:sup>
                                <m:e>
                                  <m:sSub>
                                    <m:sSubPr>
                                      <m:ctrlPr>
                                        <a:rPr lang="de-DE" i="1" dirty="0">
                                          <a:latin typeface="Cambria Math" panose="02040503050406030204" pitchFamily="18" charset="0"/>
                                        </a:rPr>
                                      </m:ctrlPr>
                                    </m:sSubPr>
                                    <m:e>
                                      <m:r>
                                        <a:rPr lang="de-DE" i="1" dirty="0">
                                          <a:latin typeface="Cambria Math" panose="02040503050406030204" pitchFamily="18" charset="0"/>
                                        </a:rPr>
                                        <m:t>𝐵</m:t>
                                      </m:r>
                                    </m:e>
                                    <m:sub>
                                      <m:sSub>
                                        <m:sSubPr>
                                          <m:ctrlPr>
                                            <a:rPr lang="de-DE" b="0" i="1" dirty="0" smtClean="0">
                                              <a:latin typeface="Cambria Math" panose="02040503050406030204" pitchFamily="18" charset="0"/>
                                            </a:rPr>
                                          </m:ctrlPr>
                                        </m:sSubPr>
                                        <m:e>
                                          <m:r>
                                            <a:rPr lang="de-DE" i="1" dirty="0">
                                              <a:latin typeface="Cambria Math" panose="02040503050406030204" pitchFamily="18" charset="0"/>
                                            </a:rPr>
                                            <m:t>𝑖</m:t>
                                          </m:r>
                                        </m:e>
                                        <m:sub>
                                          <m:r>
                                            <a:rPr lang="de-DE" b="0" i="1" dirty="0" smtClean="0">
                                              <a:latin typeface="Cambria Math" panose="02040503050406030204" pitchFamily="18" charset="0"/>
                                            </a:rPr>
                                            <m:t>𝑟</m:t>
                                          </m:r>
                                        </m:sub>
                                      </m:sSub>
                                    </m:sub>
                                  </m:sSub>
                                </m:e>
                              </m:nary>
                              <m:sSub>
                                <m:sSubPr>
                                  <m:ctrlPr>
                                    <a:rPr lang="de-DE" i="1" dirty="0">
                                      <a:latin typeface="Cambria Math" panose="02040503050406030204" pitchFamily="18" charset="0"/>
                                    </a:rPr>
                                  </m:ctrlPr>
                                </m:sSubPr>
                                <m:e>
                                  <m:r>
                                    <a:rPr lang="de-DE" i="1" dirty="0">
                                      <a:latin typeface="Cambria Math" panose="02040503050406030204" pitchFamily="18" charset="0"/>
                                    </a:rPr>
                                    <m:t>𝑥</m:t>
                                  </m:r>
                                </m:e>
                                <m:sub>
                                  <m:r>
                                    <a:rPr lang="de-DE" i="1" dirty="0">
                                      <a:latin typeface="Cambria Math" panose="02040503050406030204" pitchFamily="18" charset="0"/>
                                    </a:rPr>
                                    <m:t>𝑖</m:t>
                                  </m:r>
                                </m:sub>
                              </m:sSub>
                              <m:r>
                                <a:rPr lang="de-DE" i="1" dirty="0">
                                  <a:latin typeface="Cambria Math" panose="02040503050406030204" pitchFamily="18" charset="0"/>
                                </a:rPr>
                                <m:t>≥</m:t>
                              </m:r>
                              <m:r>
                                <a:rPr lang="de-DE" i="1" dirty="0">
                                  <a:latin typeface="Cambria Math" panose="02040503050406030204" pitchFamily="18" charset="0"/>
                                </a:rPr>
                                <m:t>𝛼</m:t>
                              </m:r>
                            </m:e>
                          </m:d>
                        </m:e>
                      </m:func>
                    </m:oMath>
                  </m:oMathPara>
                </a14:m>
                <a:endParaRPr lang="de-DE" b="0" i="1" dirty="0">
                  <a:latin typeface="Cambria Math" panose="02040503050406030204" pitchFamily="18" charset="0"/>
                </a:endParaRPr>
              </a:p>
              <a:p>
                <a:pPr marL="0" indent="0" algn="ctr">
                  <a:buNone/>
                </a:pPr>
                <a:endParaRPr lang="de-DE"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de-DE" i="1" smtClean="0">
                          <a:latin typeface="Cambria Math" panose="02040503050406030204" pitchFamily="18" charset="0"/>
                          <a:ea typeface="Cambria Math" panose="02040503050406030204" pitchFamily="18" charset="0"/>
                        </a:rPr>
                        <m:t>𝛼</m:t>
                      </m:r>
                      <m:r>
                        <a:rPr lang="de-DE" b="0" i="1" smtClean="0">
                          <a:latin typeface="Cambria Math" panose="02040503050406030204" pitchFamily="18" charset="0"/>
                          <a:ea typeface="Cambria Math" panose="02040503050406030204" pitchFamily="18" charset="0"/>
                        </a:rPr>
                        <m:t>∈(0,1) </m:t>
                      </m:r>
                    </m:oMath>
                  </m:oMathPara>
                </a14:m>
                <a:endParaRPr lang="de-DE"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de-DE" b="0" i="1" dirty="0" smtClean="0">
                              <a:latin typeface="Cambria Math" panose="02040503050406030204" pitchFamily="18" charset="0"/>
                            </a:rPr>
                          </m:ctrlPr>
                        </m:sSubPr>
                        <m:e>
                          <m:r>
                            <a:rPr lang="de-DE" i="1" dirty="0" smtClean="0">
                              <a:latin typeface="Cambria Math" panose="02040503050406030204" pitchFamily="18" charset="0"/>
                            </a:rPr>
                            <m:t>𝑆</m:t>
                          </m:r>
                        </m:e>
                        <m:sub>
                          <m:r>
                            <a:rPr lang="de-DE" b="0" i="1" dirty="0" smtClean="0">
                              <a:latin typeface="Cambria Math" panose="02040503050406030204" pitchFamily="18" charset="0"/>
                            </a:rPr>
                            <m:t>𝑟</m:t>
                          </m:r>
                        </m:sub>
                      </m:sSub>
                      <m:r>
                        <a:rPr lang="de-DE" i="1" dirty="0" smtClean="0">
                          <a:latin typeface="Cambria Math" panose="02040503050406030204" pitchFamily="18" charset="0"/>
                        </a:rPr>
                        <m:t>≔</m:t>
                      </m:r>
                      <m:r>
                        <m:rPr>
                          <m:lit/>
                        </m:rPr>
                        <a:rPr lang="de-DE" i="1" dirty="0" smtClean="0">
                          <a:latin typeface="Cambria Math" panose="02040503050406030204" pitchFamily="18" charset="0"/>
                        </a:rPr>
                        <m:t>{</m:t>
                      </m:r>
                      <m:r>
                        <a:rPr lang="de-DE" i="1" dirty="0" smtClean="0">
                          <a:latin typeface="Cambria Math" panose="02040503050406030204" pitchFamily="18" charset="0"/>
                        </a:rPr>
                        <m:t>𝑠</m:t>
                      </m:r>
                      <m:r>
                        <a:rPr lang="de-DE" i="1" dirty="0" smtClean="0">
                          <a:latin typeface="Cambria Math" panose="02040503050406030204" pitchFamily="18" charset="0"/>
                        </a:rPr>
                        <m:t>: </m:t>
                      </m:r>
                      <m:r>
                        <a:rPr lang="de-DE" i="1" dirty="0" smtClean="0">
                          <a:latin typeface="Cambria Math" panose="02040503050406030204" pitchFamily="18" charset="0"/>
                        </a:rPr>
                        <m:t>𝑠</m:t>
                      </m:r>
                      <m:r>
                        <a:rPr lang="de-DE" i="1" dirty="0" smtClean="0">
                          <a:latin typeface="Cambria Math" panose="02040503050406030204" pitchFamily="18" charset="0"/>
                        </a:rPr>
                        <m:t> </m:t>
                      </m:r>
                      <m:r>
                        <a:rPr lang="de-DE" i="1" dirty="0" err="1" smtClean="0">
                          <a:latin typeface="Cambria Math" panose="02040503050406030204" pitchFamily="18" charset="0"/>
                        </a:rPr>
                        <m:t>𝑖𝑠</m:t>
                      </m:r>
                      <m:r>
                        <a:rPr lang="de-DE" i="1" dirty="0" smtClean="0">
                          <a:latin typeface="Cambria Math" panose="02040503050406030204" pitchFamily="18" charset="0"/>
                        </a:rPr>
                        <m:t> </m:t>
                      </m:r>
                      <m:r>
                        <a:rPr lang="de-DE" i="1" dirty="0" err="1" smtClean="0">
                          <a:latin typeface="Cambria Math" panose="02040503050406030204" pitchFamily="18" charset="0"/>
                        </a:rPr>
                        <m:t>𝑜𝑟𝑔𝑎𝑛𝑖𝑧𝑎𝑡𝑖𝑜𝑛</m:t>
                      </m:r>
                      <m:r>
                        <a:rPr lang="de-DE" i="1" dirty="0" smtClean="0">
                          <a:latin typeface="Cambria Math" panose="02040503050406030204" pitchFamily="18" charset="0"/>
                        </a:rPr>
                        <m:t> </m:t>
                      </m:r>
                      <m:r>
                        <a:rPr lang="de-DE" i="1" dirty="0" err="1" smtClean="0">
                          <a:latin typeface="Cambria Math" panose="02040503050406030204" pitchFamily="18" charset="0"/>
                        </a:rPr>
                        <m:t>𝑤𝑖𝑡h</m:t>
                      </m:r>
                      <m:r>
                        <a:rPr lang="de-DE" i="1" dirty="0" smtClean="0">
                          <a:latin typeface="Cambria Math" panose="02040503050406030204" pitchFamily="18" charset="0"/>
                        </a:rPr>
                        <m:t> </m:t>
                      </m:r>
                      <m:r>
                        <a:rPr lang="de-DE" i="1" dirty="0" err="1" smtClean="0">
                          <a:latin typeface="Cambria Math" panose="02040503050406030204" pitchFamily="18" charset="0"/>
                        </a:rPr>
                        <m:t>𝑐𝑜𝑚𝑚𝑖𝑡𝑠</m:t>
                      </m:r>
                      <m:r>
                        <a:rPr lang="de-DE" i="1" dirty="0" smtClean="0">
                          <a:latin typeface="Cambria Math" panose="02040503050406030204" pitchFamily="18" charset="0"/>
                        </a:rPr>
                        <m:t> </m:t>
                      </m:r>
                      <m:r>
                        <a:rPr lang="de-DE" i="1" dirty="0" smtClean="0">
                          <a:latin typeface="Cambria Math" panose="02040503050406030204" pitchFamily="18" charset="0"/>
                        </a:rPr>
                        <m:t>𝑖𝑛</m:t>
                      </m:r>
                      <m:r>
                        <a:rPr lang="de-DE" i="1" dirty="0" smtClean="0">
                          <a:latin typeface="Cambria Math" panose="02040503050406030204" pitchFamily="18" charset="0"/>
                        </a:rPr>
                        <m:t> </m:t>
                      </m:r>
                      <m:r>
                        <a:rPr lang="de-DE" i="1" dirty="0" err="1" smtClean="0">
                          <a:latin typeface="Cambria Math" panose="02040503050406030204" pitchFamily="18" charset="0"/>
                        </a:rPr>
                        <m:t>𝑟𝑒𝑝𝑜𝑠𝑖𝑡𝑜𝑟𝑦</m:t>
                      </m:r>
                      <m:r>
                        <m:rPr>
                          <m:lit/>
                        </m:rPr>
                        <a:rPr lang="de-DE" i="1" dirty="0" smtClean="0">
                          <a:latin typeface="Cambria Math" panose="02040503050406030204" pitchFamily="18" charset="0"/>
                        </a:rPr>
                        <m:t>}</m:t>
                      </m:r>
                    </m:oMath>
                  </m:oMathPara>
                </a14:m>
                <a:endParaRPr lang="de-DE" i="1" dirty="0">
                  <a:latin typeface="Cambria Math" panose="02040503050406030204" pitchFamily="18" charset="0"/>
                </a:endParaRPr>
              </a:p>
              <a:p>
                <a:pPr marL="0" indent="0" algn="ctr">
                  <a:buNone/>
                </a:pPr>
                <a:endParaRPr lang="de-DE" b="0" i="1" dirty="0">
                  <a:latin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𝐵</m:t>
                          </m:r>
                        </m:e>
                        <m:sub>
                          <m:sSub>
                            <m:sSubPr>
                              <m:ctrlPr>
                                <a:rPr lang="de-DE" b="0" i="1" smtClean="0">
                                  <a:latin typeface="Cambria Math" panose="02040503050406030204" pitchFamily="18" charset="0"/>
                                </a:rPr>
                              </m:ctrlPr>
                            </m:sSubPr>
                            <m:e>
                              <m:r>
                                <a:rPr lang="de-DE" b="0" i="1" smtClean="0">
                                  <a:latin typeface="Cambria Math" panose="02040503050406030204" pitchFamily="18" charset="0"/>
                                </a:rPr>
                                <m:t>𝑠</m:t>
                              </m:r>
                            </m:e>
                            <m:sub>
                              <m:r>
                                <a:rPr lang="de-DE" b="0" i="1" smtClean="0">
                                  <a:latin typeface="Cambria Math" panose="02040503050406030204" pitchFamily="18" charset="0"/>
                                </a:rPr>
                                <m:t>𝑟</m:t>
                              </m:r>
                            </m:sub>
                          </m:sSub>
                        </m:sub>
                      </m:sSub>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1</m:t>
                          </m:r>
                        </m:num>
                        <m:den>
                          <m:d>
                            <m:dPr>
                              <m:begChr m:val="|"/>
                              <m:endChr m:val="|"/>
                              <m:ctrlPr>
                                <a:rPr lang="de-DE" b="0" i="1" smtClean="0">
                                  <a:latin typeface="Cambria Math" panose="02040503050406030204" pitchFamily="18" charset="0"/>
                                </a:rPr>
                              </m:ctrlPr>
                            </m:dPr>
                            <m:e>
                              <m:r>
                                <a:rPr lang="de-DE" b="0" i="1" smtClean="0">
                                  <a:latin typeface="Cambria Math" panose="02040503050406030204" pitchFamily="18" charset="0"/>
                                </a:rPr>
                                <m:t>𝐶</m:t>
                              </m:r>
                            </m:e>
                          </m:d>
                        </m:den>
                      </m:f>
                      <m:nary>
                        <m:naryPr>
                          <m:chr m:val="∑"/>
                          <m:supHide m:val="on"/>
                          <m:ctrlPr>
                            <a:rPr lang="de-DE" b="0" i="1" smtClean="0">
                              <a:latin typeface="Cambria Math" panose="02040503050406030204" pitchFamily="18" charset="0"/>
                            </a:rPr>
                          </m:ctrlPr>
                        </m:naryPr>
                        <m:sub>
                          <m:sSub>
                            <m:sSubPr>
                              <m:ctrlPr>
                                <a:rPr lang="de-DE" b="0" i="1" smtClean="0">
                                  <a:latin typeface="Cambria Math" panose="02040503050406030204" pitchFamily="18" charset="0"/>
                                </a:rPr>
                              </m:ctrlPr>
                            </m:sSubPr>
                            <m:e>
                              <m:r>
                                <a:rPr lang="de-DE" b="0" i="1" smtClean="0">
                                  <a:latin typeface="Cambria Math" panose="02040503050406030204" pitchFamily="18" charset="0"/>
                                </a:rPr>
                                <m:t>𝑐</m:t>
                              </m:r>
                            </m:e>
                            <m:sub>
                              <m:r>
                                <m:rPr>
                                  <m:brk m:alnAt="7"/>
                                </m:rPr>
                                <a:rPr lang="de-DE" b="0" i="1" smtClean="0">
                                  <a:latin typeface="Cambria Math" panose="02040503050406030204" pitchFamily="18" charset="0"/>
                                </a:rPr>
                                <m:t>𝑖</m:t>
                              </m:r>
                            </m:sub>
                          </m:sSub>
                          <m:r>
                            <a:rPr lang="de-DE" b="0" i="1" smtClean="0">
                              <a:latin typeface="Cambria Math" panose="02040503050406030204" pitchFamily="18" charset="0"/>
                            </a:rPr>
                            <m:t>∈</m:t>
                          </m:r>
                          <m:r>
                            <a:rPr lang="de-DE" b="0" i="1" smtClean="0">
                              <a:latin typeface="Cambria Math" panose="02040503050406030204" pitchFamily="18" charset="0"/>
                            </a:rPr>
                            <m:t>𝐶</m:t>
                          </m:r>
                        </m:sub>
                        <m:sup/>
                        <m:e>
                          <m:sSub>
                            <m:sSubPr>
                              <m:ctrlPr>
                                <a:rPr lang="de-DE" b="0" i="1" smtClean="0">
                                  <a:latin typeface="Cambria Math" panose="02040503050406030204" pitchFamily="18" charset="0"/>
                                </a:rPr>
                              </m:ctrlPr>
                            </m:sSubPr>
                            <m:e>
                              <m:r>
                                <a:rPr lang="de-DE" b="0" i="1" smtClean="0">
                                  <a:latin typeface="Cambria Math" panose="02040503050406030204" pitchFamily="18" charset="0"/>
                                </a:rPr>
                                <m:t>𝐼</m:t>
                              </m:r>
                            </m:e>
                            <m:sub>
                              <m:r>
                                <a:rPr lang="de-DE" b="0" i="1" smtClean="0">
                                  <a:latin typeface="Cambria Math" panose="02040503050406030204" pitchFamily="18" charset="0"/>
                                </a:rPr>
                                <m:t>𝑠</m:t>
                              </m:r>
                            </m:sub>
                          </m:sSub>
                          <m:d>
                            <m:dPr>
                              <m:ctrlPr>
                                <a:rPr lang="de-DE" b="0" i="1" smtClean="0">
                                  <a:latin typeface="Cambria Math" panose="02040503050406030204" pitchFamily="18" charset="0"/>
                                </a:rPr>
                              </m:ctrlPr>
                            </m:dPr>
                            <m:e>
                              <m:sSub>
                                <m:sSubPr>
                                  <m:ctrlPr>
                                    <a:rPr lang="de-DE" i="1">
                                      <a:latin typeface="Cambria Math" panose="02040503050406030204" pitchFamily="18" charset="0"/>
                                    </a:rPr>
                                  </m:ctrlPr>
                                </m:sSubPr>
                                <m:e>
                                  <m:r>
                                    <a:rPr lang="de-DE" i="1">
                                      <a:latin typeface="Cambria Math" panose="02040503050406030204" pitchFamily="18" charset="0"/>
                                    </a:rPr>
                                    <m:t>𝑐</m:t>
                                  </m:r>
                                </m:e>
                                <m:sub>
                                  <m:r>
                                    <a:rPr lang="de-DE" i="1">
                                      <a:latin typeface="Cambria Math" panose="02040503050406030204" pitchFamily="18" charset="0"/>
                                    </a:rPr>
                                    <m:t>𝑖</m:t>
                                  </m:r>
                                </m:sub>
                              </m:sSub>
                            </m:e>
                          </m:d>
                        </m:e>
                      </m:nary>
                      <m:r>
                        <a:rPr lang="de-DE" b="0" i="1" smtClean="0">
                          <a:latin typeface="Cambria Math" panose="02040503050406030204" pitchFamily="18" charset="0"/>
                        </a:rPr>
                        <m:t>,  </m:t>
                      </m:r>
                      <m:r>
                        <a:rPr lang="de-DE" b="0" i="1" smtClean="0">
                          <a:latin typeface="Cambria Math" panose="02040503050406030204" pitchFamily="18" charset="0"/>
                        </a:rPr>
                        <m:t>𝑤𝑖𝑡h</m:t>
                      </m:r>
                      <m:r>
                        <a:rPr lang="de-DE" b="0" i="1" smtClean="0">
                          <a:latin typeface="Cambria Math" panose="02040503050406030204" pitchFamily="18" charset="0"/>
                        </a:rPr>
                        <m:t> </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𝐼</m:t>
                          </m:r>
                        </m:e>
                        <m:sub>
                          <m:r>
                            <a:rPr lang="de-DE"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de-DE" b="0" i="1" smtClean="0">
                                  <a:latin typeface="Cambria Math" panose="02040503050406030204" pitchFamily="18" charset="0"/>
                                </a:rPr>
                                <m:t>1</m:t>
                              </m:r>
                              <m:r>
                                <a:rPr lang="en-US" b="0" i="1" smtClean="0">
                                  <a:latin typeface="Cambria Math" panose="02040503050406030204" pitchFamily="18" charset="0"/>
                                </a:rPr>
                                <m:t>,  </m:t>
                              </m:r>
                              <m:r>
                                <a:rPr lang="de-DE" b="0" i="1" smtClean="0">
                                  <a:latin typeface="Cambria Math" panose="02040503050406030204" pitchFamily="18" charset="0"/>
                                </a:rPr>
                                <m:t>𝑐𝑜𝑚𝑚𝑖𝑡</m:t>
                              </m:r>
                              <m:r>
                                <a:rPr lang="de-DE" b="0" i="1" smtClean="0">
                                  <a:latin typeface="Cambria Math" panose="02040503050406030204" pitchFamily="18" charset="0"/>
                                </a:rPr>
                                <m:t> </m:t>
                              </m:r>
                              <m:r>
                                <a:rPr lang="de-DE" b="0" i="1" smtClean="0">
                                  <a:latin typeface="Cambria Math" panose="02040503050406030204" pitchFamily="18" charset="0"/>
                                </a:rPr>
                                <m:t>𝑥</m:t>
                              </m:r>
                              <m:r>
                                <a:rPr lang="de-DE" b="0" i="1" smtClean="0">
                                  <a:latin typeface="Cambria Math" panose="02040503050406030204" pitchFamily="18" charset="0"/>
                                </a:rPr>
                                <m:t> </m:t>
                              </m:r>
                              <m:r>
                                <a:rPr lang="de-DE" b="0" i="1" smtClean="0">
                                  <a:latin typeface="Cambria Math" panose="02040503050406030204" pitchFamily="18" charset="0"/>
                                </a:rPr>
                                <m:t>𝑏𝑒𝑙𝑜𝑛𝑔𝑠</m:t>
                              </m:r>
                              <m:r>
                                <a:rPr lang="de-DE" b="0" i="1" smtClean="0">
                                  <a:latin typeface="Cambria Math" panose="02040503050406030204" pitchFamily="18" charset="0"/>
                                </a:rPr>
                                <m:t> </m:t>
                              </m:r>
                              <m:r>
                                <a:rPr lang="de-DE" b="0" i="1" smtClean="0">
                                  <a:latin typeface="Cambria Math" panose="02040503050406030204" pitchFamily="18" charset="0"/>
                                </a:rPr>
                                <m:t>𝑡𝑜</m:t>
                              </m:r>
                              <m:r>
                                <a:rPr lang="de-DE" b="0" i="1" smtClean="0">
                                  <a:latin typeface="Cambria Math" panose="02040503050406030204" pitchFamily="18" charset="0"/>
                                </a:rPr>
                                <m:t> </m:t>
                              </m:r>
                              <m:r>
                                <a:rPr lang="de-DE" b="0" i="1" smtClean="0">
                                  <a:latin typeface="Cambria Math" panose="02040503050406030204" pitchFamily="18" charset="0"/>
                                </a:rPr>
                                <m:t>𝑜𝑟𝑔𝑎𝑛𝑠𝑎𝑡𝑖𝑜𝑛</m:t>
                              </m:r>
                              <m:r>
                                <a:rPr lang="de-DE" b="0" i="1" smtClean="0">
                                  <a:latin typeface="Cambria Math" panose="02040503050406030204" pitchFamily="18" charset="0"/>
                                </a:rPr>
                                <m:t> </m:t>
                              </m:r>
                              <m:r>
                                <a:rPr lang="de-DE" b="0" i="1" smtClean="0">
                                  <a:latin typeface="Cambria Math" panose="02040503050406030204" pitchFamily="18" charset="0"/>
                                </a:rPr>
                                <m:t>𝑠</m:t>
                              </m:r>
                            </m:e>
                            <m:e>
                              <m:r>
                                <a:rPr lang="en-US" b="0" i="1" smtClean="0">
                                  <a:latin typeface="Cambria Math" panose="02040503050406030204" pitchFamily="18" charset="0"/>
                                </a:rPr>
                                <m:t>&amp;</m:t>
                              </m:r>
                              <m:r>
                                <a:rPr lang="de-DE" b="0" i="1" smtClean="0">
                                  <a:latin typeface="Cambria Math" panose="02040503050406030204" pitchFamily="18" charset="0"/>
                                </a:rPr>
                                <m:t>0</m:t>
                              </m:r>
                              <m:r>
                                <a:rPr lang="en-US" b="0" i="1" smtClean="0">
                                  <a:latin typeface="Cambria Math" panose="02040503050406030204" pitchFamily="18" charset="0"/>
                                </a:rPr>
                                <m:t>,  </m:t>
                              </m:r>
                              <m:r>
                                <a:rPr lang="de-DE" b="0" i="1" smtClean="0">
                                  <a:latin typeface="Cambria Math" panose="02040503050406030204" pitchFamily="18" charset="0"/>
                                </a:rPr>
                                <m:t> </m:t>
                              </m:r>
                              <m:r>
                                <a:rPr lang="de-DE" b="0" i="1" smtClean="0">
                                  <a:latin typeface="Cambria Math" panose="02040503050406030204" pitchFamily="18" charset="0"/>
                                </a:rPr>
                                <m:t>𝑒𝑙𝑠𝑒</m:t>
                              </m:r>
                            </m:e>
                          </m:eqArr>
                        </m:e>
                      </m:d>
                    </m:oMath>
                  </m:oMathPara>
                </a14:m>
                <a:endParaRPr lang="en-US" dirty="0"/>
              </a:p>
            </p:txBody>
          </p:sp>
        </mc:Choice>
        <mc:Fallback>
          <p:sp>
            <p:nvSpPr>
              <p:cNvPr id="2" name="Content Placeholder 1">
                <a:extLst>
                  <a:ext uri="{FF2B5EF4-FFF2-40B4-BE49-F238E27FC236}">
                    <a16:creationId xmlns:a16="http://schemas.microsoft.com/office/drawing/2014/main" id="{D102BE3D-4AD2-EA86-FD3F-FB2ABBE08951}"/>
                  </a:ext>
                </a:extLst>
              </p:cNvPr>
              <p:cNvSpPr>
                <a:spLocks noGrp="1" noRot="1" noChangeAspect="1" noMove="1" noResize="1" noEditPoints="1" noAdjustHandles="1" noChangeArrowheads="1" noChangeShapeType="1" noTextEdit="1"/>
              </p:cNvSpPr>
              <p:nvPr>
                <p:ph type="body" sz="quarter" idx="13"/>
              </p:nvPr>
            </p:nvSpPr>
            <p:spPr>
              <a:xfrm>
                <a:off x="472441" y="2000250"/>
                <a:ext cx="9163172" cy="2786903"/>
              </a:xfrm>
              <a:blipFill>
                <a:blip r:embed="rId2"/>
                <a:stretch>
                  <a:fillRect b="-57112"/>
                </a:stretch>
              </a:blipFill>
            </p:spPr>
            <p:txBody>
              <a:bodyPr/>
              <a:lstStyle/>
              <a:p>
                <a:r>
                  <a:rPr lang="en-US">
                    <a:noFill/>
                  </a:rPr>
                  <a:t> </a:t>
                </a:r>
              </a:p>
            </p:txBody>
          </p:sp>
        </mc:Fallback>
      </mc:AlternateContent>
    </p:spTree>
    <p:extLst>
      <p:ext uri="{BB962C8B-B14F-4D97-AF65-F5344CB8AC3E}">
        <p14:creationId xmlns:p14="http://schemas.microsoft.com/office/powerpoint/2010/main" val="192417097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2987-97D1-278C-0128-07F3F79889F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ECC8DB-97EE-9303-A60D-43490C4AE2E7}"/>
              </a:ext>
            </a:extLst>
          </p:cNvPr>
          <p:cNvSpPr>
            <a:spLocks noGrp="1"/>
          </p:cNvSpPr>
          <p:nvPr>
            <p:ph type="title"/>
          </p:nvPr>
        </p:nvSpPr>
        <p:spPr/>
        <p:txBody>
          <a:bodyPr/>
          <a:lstStyle/>
          <a:p>
            <a:r>
              <a:rPr lang="de-DE" dirty="0" err="1"/>
              <a:t>Elephant</a:t>
            </a:r>
            <a:r>
              <a:rPr lang="de-DE" dirty="0"/>
              <a:t> </a:t>
            </a:r>
            <a:r>
              <a:rPr lang="de-DE" dirty="0" err="1"/>
              <a:t>factor</a:t>
            </a:r>
            <a:r>
              <a:rPr lang="de-DE" dirty="0"/>
              <a:t> </a:t>
            </a:r>
            <a:r>
              <a:rPr lang="de-DE" dirty="0" err="1"/>
              <a:t>for</a:t>
            </a:r>
            <a:r>
              <a:rPr lang="de-DE" dirty="0"/>
              <a:t> multiple </a:t>
            </a:r>
            <a:r>
              <a:rPr lang="de-DE" dirty="0" err="1"/>
              <a:t>repositories</a:t>
            </a:r>
            <a:endParaRPr lang="en-US" dirty="0"/>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D537B19A-9017-0030-DC9E-E8356D53E00F}"/>
                  </a:ext>
                </a:extLst>
              </p:cNvPr>
              <p:cNvSpPr>
                <a:spLocks noGrp="1"/>
              </p:cNvSpPr>
              <p:nvPr>
                <p:ph type="body" sz="quarter" idx="13"/>
              </p:nvPr>
            </p:nvSpPr>
            <p:spPr>
              <a:xfrm>
                <a:off x="472441" y="2000250"/>
                <a:ext cx="9163172" cy="2786903"/>
              </a:xfrm>
            </p:spPr>
            <p:txBody>
              <a:bodyPr>
                <a:normAutofit/>
              </a:bodyPr>
              <a:lstStyle/>
              <a:p>
                <a:pPr marL="0" indent="0" algn="ctr">
                  <a:buNone/>
                </a:pPr>
                <a:endParaRPr lang="de-DE" b="0" i="1" dirty="0">
                  <a:latin typeface="Cambria Math" panose="02040503050406030204" pitchFamily="18" charset="0"/>
                </a:endParaRPr>
              </a:p>
              <a:p>
                <a:pPr marL="0" indent="0" algn="ctr">
                  <a:buNone/>
                </a:pPr>
                <a14:m>
                  <m:oMath xmlns:m="http://schemas.openxmlformats.org/officeDocument/2006/math">
                    <m:r>
                      <a:rPr lang="de-DE" b="0" i="1" dirty="0" smtClean="0">
                        <a:latin typeface="Cambria Math" panose="02040503050406030204" pitchFamily="18" charset="0"/>
                      </a:rPr>
                      <m:t>𝐸𝐹</m:t>
                    </m:r>
                    <m:d>
                      <m:dPr>
                        <m:ctrlPr>
                          <a:rPr lang="de-DE" b="0" i="1" dirty="0" smtClean="0">
                            <a:latin typeface="Cambria Math" panose="02040503050406030204" pitchFamily="18" charset="0"/>
                          </a:rPr>
                        </m:ctrlPr>
                      </m:dPr>
                      <m:e>
                        <m:r>
                          <a:rPr lang="de-DE" b="0" i="1" dirty="0" smtClean="0">
                            <a:latin typeface="Cambria Math" panose="02040503050406030204" pitchFamily="18" charset="0"/>
                          </a:rPr>
                          <m:t>𝑥</m:t>
                        </m:r>
                      </m:e>
                    </m:d>
                    <m:r>
                      <a:rPr lang="de-DE" b="0" i="1" dirty="0" smtClean="0">
                        <a:latin typeface="Cambria Math" panose="02040503050406030204" pitchFamily="18" charset="0"/>
                      </a:rPr>
                      <m:t>=</m:t>
                    </m:r>
                    <m:nary>
                      <m:naryPr>
                        <m:chr m:val="∑"/>
                        <m:ctrlPr>
                          <a:rPr lang="de-DE" b="0" i="1" dirty="0" smtClean="0">
                            <a:latin typeface="Cambria Math" panose="02040503050406030204" pitchFamily="18" charset="0"/>
                          </a:rPr>
                        </m:ctrlPr>
                      </m:naryPr>
                      <m:sub>
                        <m:r>
                          <m:rPr>
                            <m:sty m:val="p"/>
                            <m:brk m:alnAt="7"/>
                          </m:rPr>
                          <a:rPr lang="de-DE" b="0" i="1" dirty="0" smtClean="0">
                            <a:latin typeface="Cambria Math" panose="02040503050406030204" pitchFamily="18" charset="0"/>
                          </a:rPr>
                          <m:t>i</m:t>
                        </m:r>
                        <m:r>
                          <a:rPr lang="de-DE" b="0" i="1" dirty="0" smtClean="0">
                            <a:latin typeface="Cambria Math" panose="02040503050406030204" pitchFamily="18" charset="0"/>
                          </a:rPr>
                          <m:t>=0</m:t>
                        </m:r>
                      </m:sub>
                      <m:sup>
                        <m:r>
                          <m:rPr>
                            <m:sty m:val="p"/>
                          </m:rPr>
                          <a:rPr lang="de-DE" b="0" i="1" dirty="0" smtClean="0">
                            <a:latin typeface="Cambria Math" panose="02040503050406030204" pitchFamily="18" charset="0"/>
                          </a:rPr>
                          <m:t>i</m:t>
                        </m:r>
                        <m:r>
                          <a:rPr lang="de-DE" b="0" i="1" dirty="0" smtClean="0">
                            <a:latin typeface="Cambria Math" panose="02040503050406030204" pitchFamily="18" charset="0"/>
                          </a:rPr>
                          <m:t>=</m:t>
                        </m:r>
                        <m:d>
                          <m:dPr>
                            <m:begChr m:val="|"/>
                            <m:endChr m:val="|"/>
                            <m:ctrlPr>
                              <a:rPr lang="de-DE" i="1" dirty="0">
                                <a:latin typeface="Cambria Math" panose="02040503050406030204" pitchFamily="18" charset="0"/>
                              </a:rPr>
                            </m:ctrlPr>
                          </m:dPr>
                          <m:e>
                            <m:r>
                              <m:rPr>
                                <m:sty m:val="p"/>
                              </m:rPr>
                              <a:rPr lang="de-DE" b="0" i="1" dirty="0" smtClean="0">
                                <a:latin typeface="Cambria Math" panose="02040503050406030204" pitchFamily="18" charset="0"/>
                              </a:rPr>
                              <m:t>S</m:t>
                            </m:r>
                          </m:e>
                        </m:d>
                        <m:r>
                          <a:rPr lang="de-DE" b="0" i="1" dirty="0" smtClean="0">
                            <a:latin typeface="Cambria Math" panose="02040503050406030204" pitchFamily="18" charset="0"/>
                          </a:rPr>
                          <m:t>−1</m:t>
                        </m:r>
                      </m:sup>
                      <m:e>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𝜆</m:t>
                            </m:r>
                          </m:e>
                          <m:sub>
                            <m:r>
                              <a:rPr lang="de-DE" b="0" i="1" dirty="0" smtClean="0">
                                <a:latin typeface="Cambria Math" panose="02040503050406030204" pitchFamily="18" charset="0"/>
                              </a:rPr>
                              <m:t>𝑖</m:t>
                            </m:r>
                          </m:sub>
                        </m:sSub>
                        <m:r>
                          <a:rPr lang="de-DE" b="0" i="1" dirty="0" smtClean="0">
                            <a:latin typeface="Cambria Math" panose="02040503050406030204" pitchFamily="18" charset="0"/>
                          </a:rPr>
                          <m:t>𝐸</m:t>
                        </m:r>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𝐹</m:t>
                            </m:r>
                          </m:e>
                          <m:sub>
                            <m:r>
                              <a:rPr lang="de-DE" b="0" i="1" dirty="0" smtClean="0">
                                <a:latin typeface="Cambria Math" panose="02040503050406030204" pitchFamily="18" charset="0"/>
                              </a:rPr>
                              <m:t>𝑖</m:t>
                            </m:r>
                          </m:sub>
                        </m:sSub>
                      </m:e>
                    </m:nary>
                  </m:oMath>
                </a14:m>
                <a:r>
                  <a:rPr lang="en-US" dirty="0"/>
                  <a:t>    (linearity?)</a:t>
                </a:r>
              </a:p>
              <a:p>
                <a:pPr marL="0" indent="0" algn="ctr">
                  <a:buNone/>
                </a:pPr>
                <a:r>
                  <a:rPr lang="en-US" dirty="0"/>
                  <a:t>or</a:t>
                </a:r>
                <a:br>
                  <a:rPr lang="en-US" dirty="0"/>
                </a:br>
                <a14:m>
                  <m:oMathPara xmlns:m="http://schemas.openxmlformats.org/officeDocument/2006/math">
                    <m:oMathParaPr>
                      <m:jc m:val="centerGroup"/>
                    </m:oMathParaPr>
                    <m:oMath xmlns:m="http://schemas.openxmlformats.org/officeDocument/2006/math">
                      <m:r>
                        <a:rPr lang="de-DE" i="1" dirty="0">
                          <a:latin typeface="Cambria Math" panose="02040503050406030204" pitchFamily="18" charset="0"/>
                        </a:rPr>
                        <m:t>𝐸</m:t>
                      </m:r>
                      <m:r>
                        <m:rPr>
                          <m:sty m:val="p"/>
                        </m:rPr>
                        <a:rPr lang="de-DE" b="0" i="1" dirty="0" smtClean="0">
                          <a:latin typeface="Cambria Math" panose="02040503050406030204" pitchFamily="18" charset="0"/>
                        </a:rPr>
                        <m:t>F</m:t>
                      </m:r>
                      <m:r>
                        <a:rPr lang="de-DE" i="1" dirty="0">
                          <a:latin typeface="Cambria Math" panose="02040503050406030204" pitchFamily="18" charset="0"/>
                        </a:rPr>
                        <m:t>=</m:t>
                      </m:r>
                      <m:d>
                        <m:dPr>
                          <m:begChr m:val="‖"/>
                          <m:endChr m:val="‖"/>
                          <m:ctrlPr>
                            <a:rPr lang="de-DE" i="1" dirty="0">
                              <a:latin typeface="Cambria Math" panose="02040503050406030204" pitchFamily="18" charset="0"/>
                            </a:rPr>
                          </m:ctrlPr>
                        </m:dPr>
                        <m:e>
                          <m:r>
                            <a:rPr lang="de-DE" b="1" dirty="0">
                              <a:latin typeface="Cambria Math" panose="02040503050406030204" pitchFamily="18" charset="0"/>
                            </a:rPr>
                            <m:t>𝐱</m:t>
                          </m:r>
                        </m:e>
                      </m:d>
                      <m:r>
                        <a:rPr lang="de-DE" i="1" dirty="0">
                          <a:latin typeface="Cambria Math" panose="02040503050406030204" pitchFamily="18" charset="0"/>
                        </a:rPr>
                        <m:t> </m:t>
                      </m:r>
                      <m:r>
                        <m:rPr>
                          <m:sty m:val="p"/>
                        </m:rPr>
                        <a:rPr lang="de-DE" i="1" dirty="0">
                          <a:latin typeface="Cambria Math" panose="02040503050406030204" pitchFamily="18" charset="0"/>
                        </a:rPr>
                        <m:t>with</m:t>
                      </m:r>
                      <m:func>
                        <m:funcPr>
                          <m:ctrlPr>
                            <a:rPr lang="de-DE" i="1" dirty="0">
                              <a:latin typeface="Cambria Math" panose="02040503050406030204" pitchFamily="18" charset="0"/>
                            </a:rPr>
                          </m:ctrlPr>
                        </m:funcPr>
                        <m:fName>
                          <m:r>
                            <a:rPr lang="de-DE" b="1" dirty="0">
                              <a:latin typeface="Cambria Math" panose="02040503050406030204" pitchFamily="18" charset="0"/>
                            </a:rPr>
                            <m:t>𝐱</m:t>
                          </m:r>
                          <m:r>
                            <a:rPr lang="de-DE" i="1" dirty="0">
                              <a:latin typeface="Cambria Math" panose="02040503050406030204" pitchFamily="18" charset="0"/>
                            </a:rPr>
                            <m:t>=</m:t>
                          </m:r>
                          <m:limLow>
                            <m:limLowPr>
                              <m:ctrlPr>
                                <a:rPr lang="de-DE" i="1" dirty="0">
                                  <a:latin typeface="Cambria Math" panose="02040503050406030204" pitchFamily="18" charset="0"/>
                                </a:rPr>
                              </m:ctrlPr>
                            </m:limLowPr>
                            <m:e>
                              <m:r>
                                <m:rPr>
                                  <m:sty m:val="p"/>
                                </m:rPr>
                                <a:rPr lang="de-DE" b="0" i="1" dirty="0" smtClean="0">
                                  <a:latin typeface="Cambria Math" panose="02040503050406030204" pitchFamily="18" charset="0"/>
                                </a:rPr>
                                <m:t>arg</m:t>
                              </m:r>
                              <m:r>
                                <m:rPr>
                                  <m:sty m:val="p"/>
                                </m:rPr>
                                <a:rPr lang="de-DE" dirty="0">
                                  <a:latin typeface="Cambria Math" panose="02040503050406030204" pitchFamily="18" charset="0"/>
                                </a:rPr>
                                <m:t>min</m:t>
                              </m:r>
                            </m:e>
                            <m:lim>
                              <m:r>
                                <a:rPr lang="de-DE" b="1" dirty="0">
                                  <a:latin typeface="Cambria Math" panose="02040503050406030204" pitchFamily="18" charset="0"/>
                                </a:rPr>
                                <m:t>𝐱</m:t>
                              </m:r>
                              <m:sSup>
                                <m:sSupPr>
                                  <m:ctrlPr>
                                    <a:rPr lang="de-DE" i="1" dirty="0">
                                      <a:latin typeface="Cambria Math" panose="02040503050406030204" pitchFamily="18" charset="0"/>
                                    </a:rPr>
                                  </m:ctrlPr>
                                </m:sSupPr>
                                <m:e>
                                  <m:r>
                                    <a:rPr lang="de-DE" i="1" dirty="0">
                                      <a:latin typeface="Cambria Math" panose="02040503050406030204" pitchFamily="18" charset="0"/>
                                    </a:rPr>
                                    <m:t>∈</m:t>
                                  </m:r>
                                  <m:r>
                                    <m:rPr>
                                      <m:lit/>
                                    </m:rPr>
                                    <a:rPr lang="de-DE" i="1" dirty="0">
                                      <a:latin typeface="Cambria Math" panose="02040503050406030204" pitchFamily="18" charset="0"/>
                                    </a:rPr>
                                    <m:t>{0,1}</m:t>
                                  </m:r>
                                </m:e>
                                <m:sup>
                                  <m:d>
                                    <m:dPr>
                                      <m:begChr m:val="|"/>
                                      <m:endChr m:val="|"/>
                                      <m:ctrlPr>
                                        <a:rPr lang="de-DE" i="1" dirty="0">
                                          <a:latin typeface="Cambria Math" panose="02040503050406030204" pitchFamily="18" charset="0"/>
                                        </a:rPr>
                                      </m:ctrlPr>
                                    </m:dPr>
                                    <m:e>
                                      <m:r>
                                        <a:rPr lang="de-DE" i="1" dirty="0">
                                          <a:latin typeface="Cambria Math" panose="02040503050406030204" pitchFamily="18" charset="0"/>
                                        </a:rPr>
                                        <m:t>𝑆</m:t>
                                      </m:r>
                                    </m:e>
                                  </m:d>
                                </m:sup>
                              </m:sSup>
                            </m:lim>
                          </m:limLow>
                        </m:fName>
                        <m:e>
                          <m:d>
                            <m:dPr>
                              <m:ctrlPr>
                                <a:rPr lang="de-DE" i="1" dirty="0">
                                  <a:latin typeface="Cambria Math" panose="02040503050406030204" pitchFamily="18" charset="0"/>
                                </a:rPr>
                              </m:ctrlPr>
                            </m:dPr>
                            <m:e>
                              <m:nary>
                                <m:naryPr>
                                  <m:chr m:val="∑"/>
                                  <m:ctrlPr>
                                    <a:rPr lang="de-DE" i="1" dirty="0">
                                      <a:latin typeface="Cambria Math" panose="02040503050406030204" pitchFamily="18" charset="0"/>
                                    </a:rPr>
                                  </m:ctrlPr>
                                </m:naryPr>
                                <m:sub>
                                  <m:r>
                                    <m:rPr>
                                      <m:sty m:val="p"/>
                                      <m:brk m:alnAt="7"/>
                                    </m:rPr>
                                    <a:rPr lang="de-DE" i="1" dirty="0">
                                      <a:latin typeface="Cambria Math" panose="02040503050406030204" pitchFamily="18" charset="0"/>
                                    </a:rPr>
                                    <m:t>i</m:t>
                                  </m:r>
                                  <m:r>
                                    <a:rPr lang="de-DE" i="1" dirty="0">
                                      <a:latin typeface="Cambria Math" panose="02040503050406030204" pitchFamily="18" charset="0"/>
                                    </a:rPr>
                                    <m:t>=0</m:t>
                                  </m:r>
                                </m:sub>
                                <m:sup>
                                  <m:r>
                                    <m:rPr>
                                      <m:sty m:val="p"/>
                                    </m:rPr>
                                    <a:rPr lang="de-DE" i="1" dirty="0">
                                      <a:latin typeface="Cambria Math" panose="02040503050406030204" pitchFamily="18" charset="0"/>
                                    </a:rPr>
                                    <m:t>i</m:t>
                                  </m:r>
                                  <m:r>
                                    <a:rPr lang="de-DE" i="1" dirty="0">
                                      <a:latin typeface="Cambria Math" panose="02040503050406030204" pitchFamily="18" charset="0"/>
                                    </a:rPr>
                                    <m:t>=</m:t>
                                  </m:r>
                                  <m:d>
                                    <m:dPr>
                                      <m:begChr m:val="|"/>
                                      <m:endChr m:val="|"/>
                                      <m:ctrlPr>
                                        <a:rPr lang="de-DE" i="1" dirty="0">
                                          <a:latin typeface="Cambria Math" panose="02040503050406030204" pitchFamily="18" charset="0"/>
                                        </a:rPr>
                                      </m:ctrlPr>
                                    </m:dPr>
                                    <m:e>
                                      <m:r>
                                        <m:rPr>
                                          <m:sty m:val="p"/>
                                        </m:rPr>
                                        <a:rPr lang="de-DE" i="1" dirty="0">
                                          <a:latin typeface="Cambria Math" panose="02040503050406030204" pitchFamily="18" charset="0"/>
                                        </a:rPr>
                                        <m:t>S</m:t>
                                      </m:r>
                                    </m:e>
                                  </m:d>
                                </m:sup>
                                <m:e>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𝐵</m:t>
                                      </m:r>
                                    </m:e>
                                    <m:sub>
                                      <m:r>
                                        <a:rPr lang="de-DE" b="0" i="1" dirty="0" smtClean="0">
                                          <a:latin typeface="Cambria Math" panose="02040503050406030204" pitchFamily="18" charset="0"/>
                                        </a:rPr>
                                        <m:t>𝑖</m:t>
                                      </m:r>
                                    </m:sub>
                                  </m:sSub>
                                  <m:sSub>
                                    <m:sSubPr>
                                      <m:ctrlPr>
                                        <a:rPr lang="de-DE" i="1" dirty="0">
                                          <a:latin typeface="Cambria Math" panose="02040503050406030204" pitchFamily="18" charset="0"/>
                                        </a:rPr>
                                      </m:ctrlPr>
                                    </m:sSubPr>
                                    <m:e>
                                      <m:r>
                                        <a:rPr lang="de-DE" i="1" dirty="0">
                                          <a:latin typeface="Cambria Math" panose="02040503050406030204" pitchFamily="18" charset="0"/>
                                        </a:rPr>
                                        <m:t>𝑥</m:t>
                                      </m:r>
                                    </m:e>
                                    <m:sub>
                                      <m:r>
                                        <a:rPr lang="de-DE" i="1" dirty="0">
                                          <a:latin typeface="Cambria Math" panose="02040503050406030204" pitchFamily="18" charset="0"/>
                                        </a:rPr>
                                        <m:t>𝑖</m:t>
                                      </m:r>
                                    </m:sub>
                                  </m:sSub>
                                </m:e>
                              </m:nary>
                              <m:r>
                                <a:rPr lang="de-DE" i="1" dirty="0">
                                  <a:latin typeface="Cambria Math" panose="02040503050406030204" pitchFamily="18" charset="0"/>
                                </a:rPr>
                                <m:t>, </m:t>
                              </m:r>
                              <m:r>
                                <a:rPr lang="de-DE" i="1" dirty="0">
                                  <a:latin typeface="Cambria Math" panose="02040503050406030204" pitchFamily="18" charset="0"/>
                                </a:rPr>
                                <m:t>𝑠</m:t>
                              </m:r>
                              <m:r>
                                <a:rPr lang="de-DE" i="1" dirty="0">
                                  <a:latin typeface="Cambria Math" panose="02040503050406030204" pitchFamily="18" charset="0"/>
                                </a:rPr>
                                <m:t>.</m:t>
                              </m:r>
                              <m:r>
                                <a:rPr lang="de-DE" i="1" dirty="0">
                                  <a:latin typeface="Cambria Math" panose="02040503050406030204" pitchFamily="18" charset="0"/>
                                </a:rPr>
                                <m:t>𝑡</m:t>
                              </m:r>
                              <m:r>
                                <a:rPr lang="de-DE" i="1" dirty="0">
                                  <a:latin typeface="Cambria Math" panose="02040503050406030204" pitchFamily="18" charset="0"/>
                                </a:rPr>
                                <m:t>.</m:t>
                              </m:r>
                              <m:nary>
                                <m:naryPr>
                                  <m:chr m:val="∑"/>
                                  <m:ctrlPr>
                                    <a:rPr lang="de-DE" i="1" dirty="0">
                                      <a:latin typeface="Cambria Math" panose="02040503050406030204" pitchFamily="18" charset="0"/>
                                    </a:rPr>
                                  </m:ctrlPr>
                                </m:naryPr>
                                <m:sub>
                                  <m:r>
                                    <m:rPr>
                                      <m:sty m:val="p"/>
                                      <m:brk m:alnAt="7"/>
                                    </m:rPr>
                                    <a:rPr lang="de-DE" i="1" dirty="0">
                                      <a:latin typeface="Cambria Math" panose="02040503050406030204" pitchFamily="18" charset="0"/>
                                    </a:rPr>
                                    <m:t>i</m:t>
                                  </m:r>
                                  <m:r>
                                    <a:rPr lang="de-DE" i="1" dirty="0">
                                      <a:latin typeface="Cambria Math" panose="02040503050406030204" pitchFamily="18" charset="0"/>
                                    </a:rPr>
                                    <m:t>=0</m:t>
                                  </m:r>
                                </m:sub>
                                <m:sup>
                                  <m:r>
                                    <m:rPr>
                                      <m:sty m:val="p"/>
                                    </m:rPr>
                                    <a:rPr lang="de-DE" i="1" dirty="0">
                                      <a:latin typeface="Cambria Math" panose="02040503050406030204" pitchFamily="18" charset="0"/>
                                    </a:rPr>
                                    <m:t>i</m:t>
                                  </m:r>
                                  <m:r>
                                    <a:rPr lang="de-DE" i="1" dirty="0">
                                      <a:latin typeface="Cambria Math" panose="02040503050406030204" pitchFamily="18" charset="0"/>
                                    </a:rPr>
                                    <m:t>=</m:t>
                                  </m:r>
                                  <m:d>
                                    <m:dPr>
                                      <m:begChr m:val="|"/>
                                      <m:endChr m:val="|"/>
                                      <m:ctrlPr>
                                        <a:rPr lang="de-DE" i="1" dirty="0">
                                          <a:latin typeface="Cambria Math" panose="02040503050406030204" pitchFamily="18" charset="0"/>
                                        </a:rPr>
                                      </m:ctrlPr>
                                    </m:dPr>
                                    <m:e>
                                      <m:r>
                                        <m:rPr>
                                          <m:sty m:val="p"/>
                                        </m:rPr>
                                        <a:rPr lang="de-DE" i="1" dirty="0">
                                          <a:latin typeface="Cambria Math" panose="02040503050406030204" pitchFamily="18" charset="0"/>
                                        </a:rPr>
                                        <m:t>S</m:t>
                                      </m:r>
                                    </m:e>
                                  </m:d>
                                </m:sup>
                                <m:e>
                                  <m:sSub>
                                    <m:sSubPr>
                                      <m:ctrlPr>
                                        <a:rPr lang="de-DE" i="1" dirty="0">
                                          <a:latin typeface="Cambria Math" panose="02040503050406030204" pitchFamily="18" charset="0"/>
                                        </a:rPr>
                                      </m:ctrlPr>
                                    </m:sSubPr>
                                    <m:e>
                                      <m:r>
                                        <a:rPr lang="de-DE" i="1" dirty="0">
                                          <a:latin typeface="Cambria Math" panose="02040503050406030204" pitchFamily="18" charset="0"/>
                                        </a:rPr>
                                        <m:t>𝐵</m:t>
                                      </m:r>
                                    </m:e>
                                    <m:sub>
                                      <m:r>
                                        <m:rPr>
                                          <m:sty m:val="p"/>
                                        </m:rPr>
                                        <a:rPr lang="de-DE" i="1" dirty="0">
                                          <a:latin typeface="Cambria Math" panose="02040503050406030204" pitchFamily="18" charset="0"/>
                                        </a:rPr>
                                        <m:t>i</m:t>
                                      </m:r>
                                    </m:sub>
                                  </m:sSub>
                                </m:e>
                              </m:nary>
                              <m:sSub>
                                <m:sSubPr>
                                  <m:ctrlPr>
                                    <a:rPr lang="de-DE" i="1" dirty="0">
                                      <a:latin typeface="Cambria Math" panose="02040503050406030204" pitchFamily="18" charset="0"/>
                                    </a:rPr>
                                  </m:ctrlPr>
                                </m:sSubPr>
                                <m:e>
                                  <m:r>
                                    <a:rPr lang="de-DE" i="1" dirty="0">
                                      <a:latin typeface="Cambria Math" panose="02040503050406030204" pitchFamily="18" charset="0"/>
                                    </a:rPr>
                                    <m:t>𝑥</m:t>
                                  </m:r>
                                </m:e>
                                <m:sub>
                                  <m:r>
                                    <a:rPr lang="de-DE" i="1" dirty="0">
                                      <a:latin typeface="Cambria Math" panose="02040503050406030204" pitchFamily="18" charset="0"/>
                                    </a:rPr>
                                    <m:t>𝑖</m:t>
                                  </m:r>
                                </m:sub>
                              </m:sSub>
                              <m:r>
                                <a:rPr lang="de-DE" i="1" dirty="0">
                                  <a:latin typeface="Cambria Math" panose="02040503050406030204" pitchFamily="18" charset="0"/>
                                </a:rPr>
                                <m:t>≥</m:t>
                              </m:r>
                              <m:r>
                                <a:rPr lang="de-DE" i="1" dirty="0">
                                  <a:latin typeface="Cambria Math" panose="02040503050406030204" pitchFamily="18" charset="0"/>
                                </a:rPr>
                                <m:t>𝛼</m:t>
                              </m:r>
                            </m:e>
                          </m:d>
                        </m:e>
                      </m:func>
                    </m:oMath>
                  </m:oMathPara>
                </a14:m>
                <a:br>
                  <a:rPr lang="de-DE" dirty="0"/>
                </a:br>
                <a:br>
                  <a:rPr lang="de-DE" dirty="0"/>
                </a:br>
                <a:r>
                  <a:rPr lang="de-DE" sz="4800" dirty="0"/>
                  <a:t>?</a:t>
                </a:r>
                <a:endParaRPr lang="en-US" dirty="0"/>
              </a:p>
              <a:p>
                <a:pPr marL="0" indent="0" algn="ctr">
                  <a:buNone/>
                </a:pPr>
                <a:endParaRPr lang="en-US" dirty="0"/>
              </a:p>
            </p:txBody>
          </p:sp>
        </mc:Choice>
        <mc:Fallback>
          <p:sp>
            <p:nvSpPr>
              <p:cNvPr id="2" name="Content Placeholder 1">
                <a:extLst>
                  <a:ext uri="{FF2B5EF4-FFF2-40B4-BE49-F238E27FC236}">
                    <a16:creationId xmlns:a16="http://schemas.microsoft.com/office/drawing/2014/main" id="{D537B19A-9017-0030-DC9E-E8356D53E00F}"/>
                  </a:ext>
                </a:extLst>
              </p:cNvPr>
              <p:cNvSpPr>
                <a:spLocks noGrp="1" noRot="1" noChangeAspect="1" noMove="1" noResize="1" noEditPoints="1" noAdjustHandles="1" noChangeArrowheads="1" noChangeShapeType="1" noTextEdit="1"/>
              </p:cNvSpPr>
              <p:nvPr>
                <p:ph type="body" sz="quarter" idx="13"/>
              </p:nvPr>
            </p:nvSpPr>
            <p:spPr>
              <a:xfrm>
                <a:off x="472441" y="2000250"/>
                <a:ext cx="9163172" cy="2786903"/>
              </a:xfrm>
              <a:blipFill>
                <a:blip r:embed="rId2"/>
                <a:stretch>
                  <a:fillRect t="-656" b="-10284"/>
                </a:stretch>
              </a:blipFill>
            </p:spPr>
            <p:txBody>
              <a:bodyPr/>
              <a:lstStyle/>
              <a:p>
                <a:r>
                  <a:rPr lang="en-US">
                    <a:noFill/>
                  </a:rPr>
                  <a:t> </a:t>
                </a:r>
              </a:p>
            </p:txBody>
          </p:sp>
        </mc:Fallback>
      </mc:AlternateContent>
    </p:spTree>
    <p:extLst>
      <p:ext uri="{BB962C8B-B14F-4D97-AF65-F5344CB8AC3E}">
        <p14:creationId xmlns:p14="http://schemas.microsoft.com/office/powerpoint/2010/main" val="3997018633"/>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E00AD-CBB2-D3E7-B114-C40268D07F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FC5A30-A948-91AD-C7B1-CE7A33250A50}"/>
              </a:ext>
            </a:extLst>
          </p:cNvPr>
          <p:cNvSpPr>
            <a:spLocks noGrp="1"/>
          </p:cNvSpPr>
          <p:nvPr>
            <p:ph type="title"/>
          </p:nvPr>
        </p:nvSpPr>
        <p:spPr/>
        <p:txBody>
          <a:bodyPr/>
          <a:lstStyle/>
          <a:p>
            <a:r>
              <a:rPr lang="de-DE" dirty="0" err="1"/>
              <a:t>Elephant</a:t>
            </a:r>
            <a:r>
              <a:rPr lang="de-DE" dirty="0"/>
              <a:t> </a:t>
            </a:r>
            <a:r>
              <a:rPr lang="de-DE" dirty="0" err="1"/>
              <a:t>factor</a:t>
            </a:r>
            <a:r>
              <a:rPr lang="de-DE" dirty="0"/>
              <a:t> </a:t>
            </a:r>
            <a:r>
              <a:rPr lang="de-DE" dirty="0" err="1"/>
              <a:t>needed</a:t>
            </a:r>
            <a:r>
              <a:rPr lang="de-DE" dirty="0"/>
              <a:t> </a:t>
            </a:r>
            <a:r>
              <a:rPr lang="de-DE" dirty="0" err="1"/>
              <a:t>work</a:t>
            </a:r>
            <a:endParaRPr lang="en-US" dirty="0"/>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3BABFD6F-7895-F56F-F738-A182E40C9B2C}"/>
                  </a:ext>
                </a:extLst>
              </p:cNvPr>
              <p:cNvSpPr>
                <a:spLocks noGrp="1"/>
              </p:cNvSpPr>
              <p:nvPr>
                <p:ph type="body" sz="quarter" idx="13"/>
              </p:nvPr>
            </p:nvSpPr>
            <p:spPr>
              <a:xfrm>
                <a:off x="472441" y="2000250"/>
                <a:ext cx="9163172" cy="2786903"/>
              </a:xfrm>
            </p:spPr>
            <p:txBody>
              <a:bodyPr>
                <a:normAutofit fontScale="85000" lnSpcReduction="10000"/>
              </a:bodyPr>
              <a:lstStyle/>
              <a:p>
                <a:pPr marL="0" indent="0" algn="ctr">
                  <a:buNone/>
                </a:pPr>
                <a:endParaRPr lang="de-DE"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de-DE" b="0" i="1" dirty="0" smtClean="0">
                          <a:latin typeface="Cambria Math" panose="02040503050406030204" pitchFamily="18" charset="0"/>
                        </a:rPr>
                        <m:t>𝐸</m:t>
                      </m:r>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𝐹</m:t>
                          </m:r>
                        </m:e>
                        <m:sub>
                          <m:r>
                            <a:rPr lang="de-DE" b="0" i="1" dirty="0" smtClean="0">
                              <a:latin typeface="Cambria Math" panose="02040503050406030204" pitchFamily="18" charset="0"/>
                            </a:rPr>
                            <m:t>𝑟</m:t>
                          </m:r>
                        </m:sub>
                      </m:sSub>
                      <m:r>
                        <a:rPr lang="de-DE" b="0" i="1" dirty="0" smtClean="0">
                          <a:latin typeface="Cambria Math" panose="02040503050406030204" pitchFamily="18" charset="0"/>
                        </a:rPr>
                        <m:t>=</m:t>
                      </m:r>
                      <m:d>
                        <m:dPr>
                          <m:begChr m:val="‖"/>
                          <m:endChr m:val="‖"/>
                          <m:ctrlPr>
                            <a:rPr lang="de-DE" i="1" dirty="0">
                              <a:latin typeface="Cambria Math" panose="02040503050406030204" pitchFamily="18" charset="0"/>
                            </a:rPr>
                          </m:ctrlPr>
                        </m:dPr>
                        <m:e>
                          <m:r>
                            <a:rPr lang="de-DE" b="1" i="0" dirty="0" smtClean="0">
                              <a:latin typeface="Cambria Math" panose="02040503050406030204" pitchFamily="18" charset="0"/>
                            </a:rPr>
                            <m:t>𝐱</m:t>
                          </m:r>
                        </m:e>
                      </m:d>
                      <m:r>
                        <a:rPr lang="de-DE" b="0" i="1" dirty="0" smtClean="0">
                          <a:latin typeface="Cambria Math" panose="02040503050406030204" pitchFamily="18" charset="0"/>
                        </a:rPr>
                        <m:t> </m:t>
                      </m:r>
                      <m:r>
                        <m:rPr>
                          <m:sty m:val="p"/>
                        </m:rPr>
                        <a:rPr lang="de-DE" b="0" i="1" dirty="0" smtClean="0">
                          <a:latin typeface="Cambria Math" panose="02040503050406030204" pitchFamily="18" charset="0"/>
                        </a:rPr>
                        <m:t>with</m:t>
                      </m:r>
                      <m:func>
                        <m:funcPr>
                          <m:ctrlPr>
                            <a:rPr lang="de-DE" i="1" dirty="0">
                              <a:latin typeface="Cambria Math" panose="02040503050406030204" pitchFamily="18" charset="0"/>
                            </a:rPr>
                          </m:ctrlPr>
                        </m:funcPr>
                        <m:fName>
                          <m:r>
                            <a:rPr lang="de-DE" b="1" i="0" dirty="0" smtClean="0">
                              <a:latin typeface="Cambria Math" panose="02040503050406030204" pitchFamily="18" charset="0"/>
                            </a:rPr>
                            <m:t>𝐱</m:t>
                          </m:r>
                          <m:r>
                            <a:rPr lang="de-DE" b="0" i="1" dirty="0" smtClean="0">
                              <a:latin typeface="Cambria Math" panose="02040503050406030204" pitchFamily="18" charset="0"/>
                            </a:rPr>
                            <m:t>=</m:t>
                          </m:r>
                          <m:limLow>
                            <m:limLowPr>
                              <m:ctrlPr>
                                <a:rPr lang="de-DE" i="1" dirty="0">
                                  <a:latin typeface="Cambria Math" panose="02040503050406030204" pitchFamily="18" charset="0"/>
                                </a:rPr>
                              </m:ctrlPr>
                            </m:limLowPr>
                            <m:e>
                              <m:r>
                                <m:rPr>
                                  <m:sty m:val="p"/>
                                </m:rPr>
                                <a:rPr lang="de-DE" b="0" i="1" dirty="0" smtClean="0">
                                  <a:latin typeface="Cambria Math" panose="02040503050406030204" pitchFamily="18" charset="0"/>
                                </a:rPr>
                                <m:t>arg</m:t>
                              </m:r>
                              <m:r>
                                <m:rPr>
                                  <m:sty m:val="p"/>
                                </m:rPr>
                                <a:rPr lang="de-DE" dirty="0">
                                  <a:latin typeface="Cambria Math" panose="02040503050406030204" pitchFamily="18" charset="0"/>
                                </a:rPr>
                                <m:t>min</m:t>
                              </m:r>
                            </m:e>
                            <m:lim>
                              <m:r>
                                <a:rPr lang="de-DE" b="1" dirty="0">
                                  <a:latin typeface="Cambria Math" panose="02040503050406030204" pitchFamily="18" charset="0"/>
                                </a:rPr>
                                <m:t>𝐱</m:t>
                              </m:r>
                              <m:sSup>
                                <m:sSupPr>
                                  <m:ctrlPr>
                                    <a:rPr lang="de-DE" i="1" dirty="0">
                                      <a:latin typeface="Cambria Math" panose="02040503050406030204" pitchFamily="18" charset="0"/>
                                    </a:rPr>
                                  </m:ctrlPr>
                                </m:sSupPr>
                                <m:e>
                                  <m:r>
                                    <a:rPr lang="de-DE" i="1" dirty="0">
                                      <a:latin typeface="Cambria Math" panose="02040503050406030204" pitchFamily="18" charset="0"/>
                                    </a:rPr>
                                    <m:t>∈</m:t>
                                  </m:r>
                                  <m:r>
                                    <m:rPr>
                                      <m:lit/>
                                    </m:rPr>
                                    <a:rPr lang="de-DE" i="1" dirty="0">
                                      <a:latin typeface="Cambria Math" panose="02040503050406030204" pitchFamily="18" charset="0"/>
                                    </a:rPr>
                                    <m:t>{0,1}</m:t>
                                  </m:r>
                                </m:e>
                                <m:sup>
                                  <m:d>
                                    <m:dPr>
                                      <m:begChr m:val="|"/>
                                      <m:endChr m:val="|"/>
                                      <m:ctrlPr>
                                        <a:rPr lang="de-DE" i="1" dirty="0">
                                          <a:latin typeface="Cambria Math" panose="02040503050406030204" pitchFamily="18" charset="0"/>
                                        </a:rPr>
                                      </m:ctrlPr>
                                    </m:dPr>
                                    <m:e>
                                      <m:sSub>
                                        <m:sSubPr>
                                          <m:ctrlPr>
                                            <a:rPr lang="de-DE" b="0" i="1" dirty="0" smtClean="0">
                                              <a:latin typeface="Cambria Math" panose="02040503050406030204" pitchFamily="18" charset="0"/>
                                            </a:rPr>
                                          </m:ctrlPr>
                                        </m:sSubPr>
                                        <m:e>
                                          <m:r>
                                            <a:rPr lang="de-DE" i="1" dirty="0">
                                              <a:latin typeface="Cambria Math" panose="02040503050406030204" pitchFamily="18" charset="0"/>
                                            </a:rPr>
                                            <m:t>𝑆</m:t>
                                          </m:r>
                                        </m:e>
                                        <m:sub>
                                          <m:r>
                                            <a:rPr lang="de-DE" b="0" i="1" dirty="0" smtClean="0">
                                              <a:latin typeface="Cambria Math" panose="02040503050406030204" pitchFamily="18" charset="0"/>
                                            </a:rPr>
                                            <m:t>𝑟</m:t>
                                          </m:r>
                                        </m:sub>
                                      </m:sSub>
                                    </m:e>
                                  </m:d>
                                </m:sup>
                              </m:sSup>
                            </m:lim>
                          </m:limLow>
                        </m:fName>
                        <m:e>
                          <m:d>
                            <m:dPr>
                              <m:ctrlPr>
                                <a:rPr lang="de-DE" i="1" dirty="0">
                                  <a:latin typeface="Cambria Math" panose="02040503050406030204" pitchFamily="18" charset="0"/>
                                </a:rPr>
                              </m:ctrlPr>
                            </m:dPr>
                            <m:e>
                              <m:nary>
                                <m:naryPr>
                                  <m:chr m:val="∑"/>
                                  <m:ctrlPr>
                                    <a:rPr lang="de-DE" i="1" dirty="0">
                                      <a:latin typeface="Cambria Math" panose="02040503050406030204" pitchFamily="18" charset="0"/>
                                    </a:rPr>
                                  </m:ctrlPr>
                                </m:naryPr>
                                <m:sub>
                                  <m:r>
                                    <m:rPr>
                                      <m:sty m:val="p"/>
                                      <m:brk m:alnAt="7"/>
                                    </m:rPr>
                                    <a:rPr lang="de-DE" i="1" dirty="0">
                                      <a:latin typeface="Cambria Math" panose="02040503050406030204" pitchFamily="18" charset="0"/>
                                    </a:rPr>
                                    <m:t>i</m:t>
                                  </m:r>
                                  <m:r>
                                    <a:rPr lang="de-DE" i="1" dirty="0">
                                      <a:latin typeface="Cambria Math" panose="02040503050406030204" pitchFamily="18" charset="0"/>
                                    </a:rPr>
                                    <m:t>=0</m:t>
                                  </m:r>
                                </m:sub>
                                <m:sup>
                                  <m:r>
                                    <m:rPr>
                                      <m:sty m:val="p"/>
                                    </m:rPr>
                                    <a:rPr lang="de-DE" i="1" dirty="0">
                                      <a:latin typeface="Cambria Math" panose="02040503050406030204" pitchFamily="18" charset="0"/>
                                    </a:rPr>
                                    <m:t>i</m:t>
                                  </m:r>
                                  <m:r>
                                    <a:rPr lang="de-DE" i="1" dirty="0">
                                      <a:latin typeface="Cambria Math" panose="02040503050406030204" pitchFamily="18" charset="0"/>
                                    </a:rPr>
                                    <m:t>=</m:t>
                                  </m:r>
                                  <m:d>
                                    <m:dPr>
                                      <m:begChr m:val="|"/>
                                      <m:endChr m:val="|"/>
                                      <m:ctrlPr>
                                        <a:rPr lang="de-DE" i="1" dirty="0">
                                          <a:latin typeface="Cambria Math" panose="02040503050406030204" pitchFamily="18" charset="0"/>
                                        </a:rPr>
                                      </m:ctrlPr>
                                    </m:dPr>
                                    <m:e>
                                      <m:sSub>
                                        <m:sSubPr>
                                          <m:ctrlPr>
                                            <a:rPr lang="de-DE" i="1" dirty="0">
                                              <a:latin typeface="Cambria Math" panose="02040503050406030204" pitchFamily="18" charset="0"/>
                                            </a:rPr>
                                          </m:ctrlPr>
                                        </m:sSubPr>
                                        <m:e>
                                          <m:r>
                                            <a:rPr lang="de-DE" i="1" dirty="0">
                                              <a:latin typeface="Cambria Math" panose="02040503050406030204" pitchFamily="18" charset="0"/>
                                            </a:rPr>
                                            <m:t>𝑆</m:t>
                                          </m:r>
                                        </m:e>
                                        <m:sub>
                                          <m:r>
                                            <a:rPr lang="de-DE" i="1" dirty="0">
                                              <a:latin typeface="Cambria Math" panose="02040503050406030204" pitchFamily="18" charset="0"/>
                                            </a:rPr>
                                            <m:t>𝑟</m:t>
                                          </m:r>
                                        </m:sub>
                                      </m:sSub>
                                    </m:e>
                                  </m:d>
                                  <m:r>
                                    <a:rPr lang="de-DE" b="0" i="1" dirty="0" smtClean="0">
                                      <a:latin typeface="Cambria Math" panose="02040503050406030204" pitchFamily="18" charset="0"/>
                                    </a:rPr>
                                    <m:t>−1</m:t>
                                  </m:r>
                                </m:sup>
                                <m:e>
                                  <m:sSub>
                                    <m:sSubPr>
                                      <m:ctrlPr>
                                        <a:rPr lang="de-DE" i="1" dirty="0">
                                          <a:latin typeface="Cambria Math" panose="02040503050406030204" pitchFamily="18" charset="0"/>
                                        </a:rPr>
                                      </m:ctrlPr>
                                    </m:sSubPr>
                                    <m:e>
                                      <m:sSub>
                                        <m:sSubPr>
                                          <m:ctrlPr>
                                            <a:rPr lang="de-DE" i="1" dirty="0">
                                              <a:latin typeface="Cambria Math" panose="02040503050406030204" pitchFamily="18" charset="0"/>
                                            </a:rPr>
                                          </m:ctrlPr>
                                        </m:sSubPr>
                                        <m:e>
                                          <m:r>
                                            <a:rPr lang="de-DE" i="1" dirty="0">
                                              <a:latin typeface="Cambria Math" panose="02040503050406030204" pitchFamily="18" charset="0"/>
                                            </a:rPr>
                                            <m:t>𝐵</m:t>
                                          </m:r>
                                        </m:e>
                                        <m:sub>
                                          <m:sSub>
                                            <m:sSubPr>
                                              <m:ctrlPr>
                                                <a:rPr lang="de-DE" i="1" dirty="0">
                                                  <a:latin typeface="Cambria Math" panose="02040503050406030204" pitchFamily="18" charset="0"/>
                                                </a:rPr>
                                              </m:ctrlPr>
                                            </m:sSubPr>
                                            <m:e>
                                              <m:r>
                                                <a:rPr lang="de-DE" i="1" dirty="0">
                                                  <a:latin typeface="Cambria Math" panose="02040503050406030204" pitchFamily="18" charset="0"/>
                                                </a:rPr>
                                                <m:t>𝑖</m:t>
                                              </m:r>
                                            </m:e>
                                            <m:sub>
                                              <m:r>
                                                <a:rPr lang="de-DE" i="1" dirty="0">
                                                  <a:latin typeface="Cambria Math" panose="02040503050406030204" pitchFamily="18" charset="0"/>
                                                </a:rPr>
                                                <m:t>𝑟</m:t>
                                              </m:r>
                                            </m:sub>
                                          </m:sSub>
                                        </m:sub>
                                      </m:sSub>
                                      <m:r>
                                        <a:rPr lang="de-DE" i="1" dirty="0">
                                          <a:latin typeface="Cambria Math" panose="02040503050406030204" pitchFamily="18" charset="0"/>
                                        </a:rPr>
                                        <m:t>𝑥</m:t>
                                      </m:r>
                                    </m:e>
                                    <m:sub>
                                      <m:r>
                                        <a:rPr lang="de-DE" i="1" dirty="0">
                                          <a:latin typeface="Cambria Math" panose="02040503050406030204" pitchFamily="18" charset="0"/>
                                        </a:rPr>
                                        <m:t>𝑖</m:t>
                                      </m:r>
                                    </m:sub>
                                  </m:sSub>
                                </m:e>
                              </m:nary>
                              <m:r>
                                <a:rPr lang="de-DE" b="0" i="1" dirty="0" smtClean="0">
                                  <a:latin typeface="Cambria Math" panose="02040503050406030204" pitchFamily="18" charset="0"/>
                                </a:rPr>
                                <m:t>,</m:t>
                              </m:r>
                              <m:r>
                                <a:rPr lang="de-DE" i="1" dirty="0">
                                  <a:latin typeface="Cambria Math" panose="02040503050406030204" pitchFamily="18" charset="0"/>
                                </a:rPr>
                                <m:t> </m:t>
                              </m:r>
                              <m:r>
                                <a:rPr lang="de-DE" i="1" dirty="0">
                                  <a:latin typeface="Cambria Math" panose="02040503050406030204" pitchFamily="18" charset="0"/>
                                </a:rPr>
                                <m:t>𝑠</m:t>
                              </m:r>
                              <m:r>
                                <a:rPr lang="de-DE" i="1" dirty="0">
                                  <a:latin typeface="Cambria Math" panose="02040503050406030204" pitchFamily="18" charset="0"/>
                                </a:rPr>
                                <m:t>.</m:t>
                              </m:r>
                              <m:r>
                                <a:rPr lang="de-DE" i="1" dirty="0">
                                  <a:latin typeface="Cambria Math" panose="02040503050406030204" pitchFamily="18" charset="0"/>
                                </a:rPr>
                                <m:t>𝑡</m:t>
                              </m:r>
                              <m:r>
                                <a:rPr lang="de-DE" i="1" dirty="0">
                                  <a:latin typeface="Cambria Math" panose="02040503050406030204" pitchFamily="18" charset="0"/>
                                </a:rPr>
                                <m:t>.</m:t>
                              </m:r>
                              <m:nary>
                                <m:naryPr>
                                  <m:chr m:val="∑"/>
                                  <m:ctrlPr>
                                    <a:rPr lang="de-DE" i="1" dirty="0">
                                      <a:latin typeface="Cambria Math" panose="02040503050406030204" pitchFamily="18" charset="0"/>
                                    </a:rPr>
                                  </m:ctrlPr>
                                </m:naryPr>
                                <m:sub>
                                  <m:r>
                                    <m:rPr>
                                      <m:sty m:val="p"/>
                                      <m:brk m:alnAt="7"/>
                                    </m:rPr>
                                    <a:rPr lang="de-DE" i="1" dirty="0">
                                      <a:latin typeface="Cambria Math" panose="02040503050406030204" pitchFamily="18" charset="0"/>
                                    </a:rPr>
                                    <m:t>i</m:t>
                                  </m:r>
                                  <m:r>
                                    <a:rPr lang="de-DE" i="1" dirty="0">
                                      <a:latin typeface="Cambria Math" panose="02040503050406030204" pitchFamily="18" charset="0"/>
                                    </a:rPr>
                                    <m:t>=0</m:t>
                                  </m:r>
                                </m:sub>
                                <m:sup>
                                  <m:r>
                                    <m:rPr>
                                      <m:sty m:val="p"/>
                                    </m:rPr>
                                    <a:rPr lang="de-DE" i="1" dirty="0">
                                      <a:latin typeface="Cambria Math" panose="02040503050406030204" pitchFamily="18" charset="0"/>
                                    </a:rPr>
                                    <m:t>i</m:t>
                                  </m:r>
                                  <m:r>
                                    <a:rPr lang="de-DE" i="1" dirty="0">
                                      <a:latin typeface="Cambria Math" panose="02040503050406030204" pitchFamily="18" charset="0"/>
                                    </a:rPr>
                                    <m:t>=</m:t>
                                  </m:r>
                                  <m:d>
                                    <m:dPr>
                                      <m:begChr m:val="|"/>
                                      <m:endChr m:val="|"/>
                                      <m:ctrlPr>
                                        <a:rPr lang="de-DE" i="1" dirty="0">
                                          <a:latin typeface="Cambria Math" panose="02040503050406030204" pitchFamily="18" charset="0"/>
                                        </a:rPr>
                                      </m:ctrlPr>
                                    </m:dPr>
                                    <m:e>
                                      <m:sSub>
                                        <m:sSubPr>
                                          <m:ctrlPr>
                                            <a:rPr lang="de-DE" i="1" dirty="0">
                                              <a:latin typeface="Cambria Math" panose="02040503050406030204" pitchFamily="18" charset="0"/>
                                            </a:rPr>
                                          </m:ctrlPr>
                                        </m:sSubPr>
                                        <m:e>
                                          <m:r>
                                            <a:rPr lang="de-DE" i="1" dirty="0">
                                              <a:latin typeface="Cambria Math" panose="02040503050406030204" pitchFamily="18" charset="0"/>
                                            </a:rPr>
                                            <m:t>𝑆</m:t>
                                          </m:r>
                                        </m:e>
                                        <m:sub>
                                          <m:r>
                                            <a:rPr lang="de-DE" i="1" dirty="0">
                                              <a:latin typeface="Cambria Math" panose="02040503050406030204" pitchFamily="18" charset="0"/>
                                            </a:rPr>
                                            <m:t>𝑟</m:t>
                                          </m:r>
                                        </m:sub>
                                      </m:sSub>
                                    </m:e>
                                  </m:d>
                                  <m:r>
                                    <a:rPr lang="de-DE" b="0" i="1" dirty="0" smtClean="0">
                                      <a:latin typeface="Cambria Math" panose="02040503050406030204" pitchFamily="18" charset="0"/>
                                    </a:rPr>
                                    <m:t>−1</m:t>
                                  </m:r>
                                </m:sup>
                                <m:e>
                                  <m:sSub>
                                    <m:sSubPr>
                                      <m:ctrlPr>
                                        <a:rPr lang="de-DE" i="1" dirty="0">
                                          <a:latin typeface="Cambria Math" panose="02040503050406030204" pitchFamily="18" charset="0"/>
                                        </a:rPr>
                                      </m:ctrlPr>
                                    </m:sSubPr>
                                    <m:e>
                                      <m:r>
                                        <a:rPr lang="de-DE" i="1" dirty="0">
                                          <a:latin typeface="Cambria Math" panose="02040503050406030204" pitchFamily="18" charset="0"/>
                                        </a:rPr>
                                        <m:t>𝐵</m:t>
                                      </m:r>
                                    </m:e>
                                    <m:sub>
                                      <m:sSub>
                                        <m:sSubPr>
                                          <m:ctrlPr>
                                            <a:rPr lang="de-DE" b="0" i="1" dirty="0" smtClean="0">
                                              <a:latin typeface="Cambria Math" panose="02040503050406030204" pitchFamily="18" charset="0"/>
                                            </a:rPr>
                                          </m:ctrlPr>
                                        </m:sSubPr>
                                        <m:e>
                                          <m:r>
                                            <a:rPr lang="de-DE" i="1" dirty="0">
                                              <a:latin typeface="Cambria Math" panose="02040503050406030204" pitchFamily="18" charset="0"/>
                                            </a:rPr>
                                            <m:t>𝑖</m:t>
                                          </m:r>
                                        </m:e>
                                        <m:sub>
                                          <m:r>
                                            <a:rPr lang="de-DE" b="0" i="1" dirty="0" smtClean="0">
                                              <a:latin typeface="Cambria Math" panose="02040503050406030204" pitchFamily="18" charset="0"/>
                                            </a:rPr>
                                            <m:t>𝑟</m:t>
                                          </m:r>
                                        </m:sub>
                                      </m:sSub>
                                    </m:sub>
                                  </m:sSub>
                                </m:e>
                              </m:nary>
                              <m:sSub>
                                <m:sSubPr>
                                  <m:ctrlPr>
                                    <a:rPr lang="de-DE" i="1" dirty="0">
                                      <a:latin typeface="Cambria Math" panose="02040503050406030204" pitchFamily="18" charset="0"/>
                                    </a:rPr>
                                  </m:ctrlPr>
                                </m:sSubPr>
                                <m:e>
                                  <m:r>
                                    <a:rPr lang="de-DE" i="1" dirty="0">
                                      <a:latin typeface="Cambria Math" panose="02040503050406030204" pitchFamily="18" charset="0"/>
                                    </a:rPr>
                                    <m:t>𝑥</m:t>
                                  </m:r>
                                </m:e>
                                <m:sub>
                                  <m:r>
                                    <a:rPr lang="de-DE" i="1" dirty="0">
                                      <a:latin typeface="Cambria Math" panose="02040503050406030204" pitchFamily="18" charset="0"/>
                                    </a:rPr>
                                    <m:t>𝑖</m:t>
                                  </m:r>
                                </m:sub>
                              </m:sSub>
                              <m:r>
                                <a:rPr lang="de-DE" i="1" dirty="0">
                                  <a:latin typeface="Cambria Math" panose="02040503050406030204" pitchFamily="18" charset="0"/>
                                </a:rPr>
                                <m:t>≥</m:t>
                              </m:r>
                              <m:limLow>
                                <m:limLowPr>
                                  <m:ctrlPr>
                                    <a:rPr lang="de-DE" b="0" i="1" dirty="0" smtClean="0">
                                      <a:highlight>
                                        <a:srgbClr val="FFFF00"/>
                                      </a:highlight>
                                      <a:latin typeface="Cambria Math" panose="02040503050406030204" pitchFamily="18" charset="0"/>
                                    </a:rPr>
                                  </m:ctrlPr>
                                </m:limLowPr>
                                <m:e>
                                  <m:groupChr>
                                    <m:groupChrPr>
                                      <m:chr m:val="⏟"/>
                                      <m:ctrlPr>
                                        <a:rPr lang="de-DE" b="0" i="1" dirty="0" smtClean="0">
                                          <a:highlight>
                                            <a:srgbClr val="FFFF00"/>
                                          </a:highlight>
                                          <a:latin typeface="Cambria Math" panose="02040503050406030204" pitchFamily="18" charset="0"/>
                                        </a:rPr>
                                      </m:ctrlPr>
                                    </m:groupChrPr>
                                    <m:e>
                                      <m:r>
                                        <a:rPr lang="de-DE" b="0" i="1" dirty="0" smtClean="0">
                                          <a:highlight>
                                            <a:srgbClr val="FFFF00"/>
                                          </a:highlight>
                                          <a:latin typeface="Cambria Math" panose="02040503050406030204" pitchFamily="18" charset="0"/>
                                        </a:rPr>
                                        <m:t>𝛼</m:t>
                                      </m:r>
                                    </m:e>
                                  </m:groupChr>
                                </m:e>
                                <m:lim>
                                  <m:r>
                                    <m:rPr>
                                      <m:sty m:val="p"/>
                                    </m:rPr>
                                    <a:rPr lang="de-DE" b="0" i="1" dirty="0" smtClean="0">
                                      <a:highlight>
                                        <a:srgbClr val="FFFF00"/>
                                      </a:highlight>
                                      <a:latin typeface="Cambria Math" panose="02040503050406030204" pitchFamily="18" charset="0"/>
                                    </a:rPr>
                                    <m:t>what</m:t>
                                  </m:r>
                                  <m:r>
                                    <a:rPr lang="de-DE" b="0" i="1" dirty="0" smtClean="0">
                                      <a:highlight>
                                        <a:srgbClr val="FFFF00"/>
                                      </a:highlight>
                                      <a:latin typeface="Cambria Math" panose="02040503050406030204" pitchFamily="18" charset="0"/>
                                    </a:rPr>
                                    <m:t> </m:t>
                                  </m:r>
                                  <m:r>
                                    <m:rPr>
                                      <m:sty m:val="p"/>
                                    </m:rPr>
                                    <a:rPr lang="de-DE" b="0" i="1" dirty="0" smtClean="0">
                                      <a:highlight>
                                        <a:srgbClr val="FFFF00"/>
                                      </a:highlight>
                                      <a:latin typeface="Cambria Math" panose="02040503050406030204" pitchFamily="18" charset="0"/>
                                    </a:rPr>
                                    <m:t>is</m:t>
                                  </m:r>
                                  <m:r>
                                    <a:rPr lang="de-DE" b="0" i="1" dirty="0" smtClean="0">
                                      <a:highlight>
                                        <a:srgbClr val="FFFF00"/>
                                      </a:highlight>
                                      <a:latin typeface="Cambria Math" panose="02040503050406030204" pitchFamily="18" charset="0"/>
                                    </a:rPr>
                                    <m:t> </m:t>
                                  </m:r>
                                  <m:r>
                                    <m:rPr>
                                      <m:sty m:val="p"/>
                                    </m:rPr>
                                    <a:rPr lang="de-DE" b="0" i="1" dirty="0" smtClean="0">
                                      <a:highlight>
                                        <a:srgbClr val="FFFF00"/>
                                      </a:highlight>
                                      <a:latin typeface="Cambria Math" panose="02040503050406030204" pitchFamily="18" charset="0"/>
                                    </a:rPr>
                                    <m:t>threshold</m:t>
                                  </m:r>
                                  <m:r>
                                    <a:rPr lang="de-DE" b="0" i="1" dirty="0" smtClean="0">
                                      <a:highlight>
                                        <a:srgbClr val="FFFF00"/>
                                      </a:highlight>
                                      <a:latin typeface="Cambria Math" panose="02040503050406030204" pitchFamily="18" charset="0"/>
                                    </a:rPr>
                                    <m:t>?</m:t>
                                  </m:r>
                                </m:lim>
                              </m:limLow>
                            </m:e>
                          </m:d>
                        </m:e>
                      </m:func>
                    </m:oMath>
                  </m:oMathPara>
                </a14:m>
                <a:endParaRPr lang="de-DE" b="0" i="1" dirty="0">
                  <a:latin typeface="Cambria Math" panose="02040503050406030204" pitchFamily="18" charset="0"/>
                </a:endParaRPr>
              </a:p>
              <a:p>
                <a:pPr marL="0" indent="0" algn="ctr">
                  <a:buNone/>
                </a:pPr>
                <a:endParaRPr lang="de-DE"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de-DE" i="1" smtClean="0">
                          <a:latin typeface="Cambria Math" panose="02040503050406030204" pitchFamily="18" charset="0"/>
                          <a:ea typeface="Cambria Math" panose="02040503050406030204" pitchFamily="18" charset="0"/>
                        </a:rPr>
                        <m:t>𝛼</m:t>
                      </m:r>
                      <m:r>
                        <a:rPr lang="de-DE" b="0" i="1" smtClean="0">
                          <a:latin typeface="Cambria Math" panose="02040503050406030204" pitchFamily="18" charset="0"/>
                          <a:ea typeface="Cambria Math" panose="02040503050406030204" pitchFamily="18" charset="0"/>
                        </a:rPr>
                        <m:t>∈(0,1) </m:t>
                      </m:r>
                    </m:oMath>
                  </m:oMathPara>
                </a14:m>
                <a:endParaRPr lang="de-DE"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limLow>
                        <m:limLowPr>
                          <m:ctrlPr>
                            <a:rPr lang="de-DE" b="0" i="1" dirty="0" smtClean="0">
                              <a:highlight>
                                <a:srgbClr val="FFFF00"/>
                              </a:highlight>
                              <a:latin typeface="Cambria Math" panose="02040503050406030204" pitchFamily="18" charset="0"/>
                            </a:rPr>
                          </m:ctrlPr>
                        </m:limLowPr>
                        <m:e>
                          <m:groupChr>
                            <m:groupChrPr>
                              <m:chr m:val="⏟"/>
                              <m:ctrlPr>
                                <a:rPr lang="de-DE" b="0" i="1" dirty="0" smtClean="0">
                                  <a:highlight>
                                    <a:srgbClr val="FFFF00"/>
                                  </a:highlight>
                                  <a:latin typeface="Cambria Math" panose="02040503050406030204" pitchFamily="18" charset="0"/>
                                </a:rPr>
                              </m:ctrlPr>
                            </m:groupChrPr>
                            <m:e>
                              <m:sSub>
                                <m:sSubPr>
                                  <m:ctrlPr>
                                    <a:rPr lang="de-DE" i="1" dirty="0">
                                      <a:highlight>
                                        <a:srgbClr val="FFFF00"/>
                                      </a:highlight>
                                      <a:latin typeface="Cambria Math" panose="02040503050406030204" pitchFamily="18" charset="0"/>
                                    </a:rPr>
                                  </m:ctrlPr>
                                </m:sSubPr>
                                <m:e>
                                  <m:r>
                                    <a:rPr lang="de-DE" i="1" dirty="0">
                                      <a:highlight>
                                        <a:srgbClr val="FFFF00"/>
                                      </a:highlight>
                                      <a:latin typeface="Cambria Math" panose="02040503050406030204" pitchFamily="18" charset="0"/>
                                    </a:rPr>
                                    <m:t>𝑆</m:t>
                                  </m:r>
                                </m:e>
                                <m:sub>
                                  <m:r>
                                    <a:rPr lang="de-DE" i="1" dirty="0">
                                      <a:highlight>
                                        <a:srgbClr val="FFFF00"/>
                                      </a:highlight>
                                      <a:latin typeface="Cambria Math" panose="02040503050406030204" pitchFamily="18" charset="0"/>
                                    </a:rPr>
                                    <m:t>𝑟</m:t>
                                  </m:r>
                                </m:sub>
                              </m:sSub>
                            </m:e>
                          </m:groupChr>
                        </m:e>
                        <m:lim>
                          <m:r>
                            <m:rPr>
                              <m:sty m:val="p"/>
                            </m:rPr>
                            <a:rPr lang="de-DE" b="0" i="1" dirty="0" smtClean="0">
                              <a:highlight>
                                <a:srgbClr val="FFFF00"/>
                              </a:highlight>
                              <a:latin typeface="Cambria Math" panose="02040503050406030204" pitchFamily="18" charset="0"/>
                            </a:rPr>
                            <m:t>what</m:t>
                          </m:r>
                          <m:r>
                            <a:rPr lang="de-DE" b="0" i="1" dirty="0" smtClean="0">
                              <a:highlight>
                                <a:srgbClr val="FFFF00"/>
                              </a:highlight>
                              <a:latin typeface="Cambria Math" panose="02040503050406030204" pitchFamily="18" charset="0"/>
                            </a:rPr>
                            <m:t> </m:t>
                          </m:r>
                          <m:r>
                            <m:rPr>
                              <m:sty m:val="p"/>
                            </m:rPr>
                            <a:rPr lang="de-DE" b="0" i="1" dirty="0" smtClean="0">
                              <a:highlight>
                                <a:srgbClr val="FFFF00"/>
                              </a:highlight>
                              <a:latin typeface="Cambria Math" panose="02040503050406030204" pitchFamily="18" charset="0"/>
                            </a:rPr>
                            <m:t>is</m:t>
                          </m:r>
                          <m:r>
                            <a:rPr lang="de-DE" b="0" i="1" dirty="0" smtClean="0">
                              <a:highlight>
                                <a:srgbClr val="FFFF00"/>
                              </a:highlight>
                              <a:latin typeface="Cambria Math" panose="02040503050406030204" pitchFamily="18" charset="0"/>
                            </a:rPr>
                            <m:t> </m:t>
                          </m:r>
                          <m:r>
                            <m:rPr>
                              <m:sty m:val="p"/>
                            </m:rPr>
                            <a:rPr lang="de-DE" b="0" i="1" dirty="0" smtClean="0">
                              <a:highlight>
                                <a:srgbClr val="FFFF00"/>
                              </a:highlight>
                              <a:latin typeface="Cambria Math" panose="02040503050406030204" pitchFamily="18" charset="0"/>
                            </a:rPr>
                            <m:t>an</m:t>
                          </m:r>
                          <m:r>
                            <a:rPr lang="de-DE" b="0" i="1" dirty="0" smtClean="0">
                              <a:highlight>
                                <a:srgbClr val="FFFF00"/>
                              </a:highlight>
                              <a:latin typeface="Cambria Math" panose="02040503050406030204" pitchFamily="18" charset="0"/>
                            </a:rPr>
                            <m:t> </m:t>
                          </m:r>
                          <m:r>
                            <m:rPr>
                              <m:sty m:val="p"/>
                            </m:rPr>
                            <a:rPr lang="de-DE" b="0" i="1" dirty="0" smtClean="0">
                              <a:highlight>
                                <a:srgbClr val="FFFF00"/>
                              </a:highlight>
                              <a:latin typeface="Cambria Math" panose="02040503050406030204" pitchFamily="18" charset="0"/>
                            </a:rPr>
                            <m:t>organization</m:t>
                          </m:r>
                        </m:lim>
                      </m:limLow>
                      <m:r>
                        <a:rPr lang="de-DE" i="1" dirty="0" smtClean="0">
                          <a:latin typeface="Cambria Math" panose="02040503050406030204" pitchFamily="18" charset="0"/>
                        </a:rPr>
                        <m:t>≔</m:t>
                      </m:r>
                      <m:r>
                        <m:rPr>
                          <m:lit/>
                        </m:rPr>
                        <a:rPr lang="de-DE" i="1" dirty="0" smtClean="0">
                          <a:latin typeface="Cambria Math" panose="02040503050406030204" pitchFamily="18" charset="0"/>
                        </a:rPr>
                        <m:t>{</m:t>
                      </m:r>
                      <m:r>
                        <a:rPr lang="de-DE" i="1" dirty="0" smtClean="0">
                          <a:latin typeface="Cambria Math" panose="02040503050406030204" pitchFamily="18" charset="0"/>
                        </a:rPr>
                        <m:t>𝑠</m:t>
                      </m:r>
                      <m:r>
                        <a:rPr lang="de-DE" i="1" dirty="0" smtClean="0">
                          <a:latin typeface="Cambria Math" panose="02040503050406030204" pitchFamily="18" charset="0"/>
                        </a:rPr>
                        <m:t>: </m:t>
                      </m:r>
                      <m:r>
                        <a:rPr lang="de-DE" i="1" dirty="0" smtClean="0">
                          <a:latin typeface="Cambria Math" panose="02040503050406030204" pitchFamily="18" charset="0"/>
                        </a:rPr>
                        <m:t>𝑠</m:t>
                      </m:r>
                      <m:r>
                        <a:rPr lang="de-DE" i="1" dirty="0" smtClean="0">
                          <a:latin typeface="Cambria Math" panose="02040503050406030204" pitchFamily="18" charset="0"/>
                        </a:rPr>
                        <m:t> </m:t>
                      </m:r>
                      <m:r>
                        <a:rPr lang="de-DE" i="1" dirty="0" err="1" smtClean="0">
                          <a:latin typeface="Cambria Math" panose="02040503050406030204" pitchFamily="18" charset="0"/>
                        </a:rPr>
                        <m:t>𝑖𝑠</m:t>
                      </m:r>
                      <m:r>
                        <a:rPr lang="de-DE" i="1" dirty="0" smtClean="0">
                          <a:latin typeface="Cambria Math" panose="02040503050406030204" pitchFamily="18" charset="0"/>
                        </a:rPr>
                        <m:t> </m:t>
                      </m:r>
                      <m:r>
                        <a:rPr lang="de-DE" i="1" dirty="0" err="1" smtClean="0">
                          <a:latin typeface="Cambria Math" panose="02040503050406030204" pitchFamily="18" charset="0"/>
                        </a:rPr>
                        <m:t>𝑜𝑟𝑔𝑎𝑛𝑖𝑧𝑎𝑡𝑖𝑜𝑛</m:t>
                      </m:r>
                      <m:r>
                        <a:rPr lang="de-DE" i="1" dirty="0" smtClean="0">
                          <a:latin typeface="Cambria Math" panose="02040503050406030204" pitchFamily="18" charset="0"/>
                        </a:rPr>
                        <m:t> </m:t>
                      </m:r>
                      <m:r>
                        <a:rPr lang="de-DE" i="1" dirty="0" err="1" smtClean="0">
                          <a:latin typeface="Cambria Math" panose="02040503050406030204" pitchFamily="18" charset="0"/>
                        </a:rPr>
                        <m:t>𝑤𝑖𝑡h</m:t>
                      </m:r>
                      <m:r>
                        <a:rPr lang="de-DE" i="1" dirty="0" smtClean="0">
                          <a:latin typeface="Cambria Math" panose="02040503050406030204" pitchFamily="18" charset="0"/>
                        </a:rPr>
                        <m:t> </m:t>
                      </m:r>
                      <m:r>
                        <a:rPr lang="de-DE" i="1" dirty="0" err="1" smtClean="0">
                          <a:latin typeface="Cambria Math" panose="02040503050406030204" pitchFamily="18" charset="0"/>
                        </a:rPr>
                        <m:t>𝑐𝑜𝑚𝑚𝑖𝑡𝑠</m:t>
                      </m:r>
                      <m:r>
                        <a:rPr lang="de-DE" i="1" dirty="0" smtClean="0">
                          <a:latin typeface="Cambria Math" panose="02040503050406030204" pitchFamily="18" charset="0"/>
                        </a:rPr>
                        <m:t> </m:t>
                      </m:r>
                      <m:r>
                        <a:rPr lang="de-DE" i="1" dirty="0" smtClean="0">
                          <a:latin typeface="Cambria Math" panose="02040503050406030204" pitchFamily="18" charset="0"/>
                        </a:rPr>
                        <m:t>𝑖𝑛</m:t>
                      </m:r>
                      <m:r>
                        <a:rPr lang="de-DE" i="1" dirty="0" smtClean="0">
                          <a:latin typeface="Cambria Math" panose="02040503050406030204" pitchFamily="18" charset="0"/>
                        </a:rPr>
                        <m:t> </m:t>
                      </m:r>
                      <m:r>
                        <a:rPr lang="de-DE" i="1" dirty="0" err="1" smtClean="0">
                          <a:latin typeface="Cambria Math" panose="02040503050406030204" pitchFamily="18" charset="0"/>
                        </a:rPr>
                        <m:t>𝑟𝑒𝑝𝑜𝑠𝑖𝑡𝑜𝑟𝑦</m:t>
                      </m:r>
                      <m:r>
                        <m:rPr>
                          <m:lit/>
                        </m:rPr>
                        <a:rPr lang="de-DE" i="1" dirty="0" smtClean="0">
                          <a:latin typeface="Cambria Math" panose="02040503050406030204" pitchFamily="18" charset="0"/>
                        </a:rPr>
                        <m:t>}</m:t>
                      </m:r>
                    </m:oMath>
                  </m:oMathPara>
                </a14:m>
                <a:endParaRPr lang="de-DE" i="1" dirty="0">
                  <a:latin typeface="Cambria Math" panose="02040503050406030204" pitchFamily="18" charset="0"/>
                </a:endParaRPr>
              </a:p>
              <a:p>
                <a:pPr marL="0" indent="0" algn="ctr">
                  <a:buNone/>
                </a:pPr>
                <a:endParaRPr lang="de-DE" b="0" i="1" dirty="0">
                  <a:latin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𝐵</m:t>
                          </m:r>
                        </m:e>
                        <m:sub>
                          <m:sSub>
                            <m:sSubPr>
                              <m:ctrlPr>
                                <a:rPr lang="de-DE" b="0" i="1" smtClean="0">
                                  <a:latin typeface="Cambria Math" panose="02040503050406030204" pitchFamily="18" charset="0"/>
                                </a:rPr>
                              </m:ctrlPr>
                            </m:sSubPr>
                            <m:e>
                              <m:r>
                                <a:rPr lang="de-DE" b="0" i="1" smtClean="0">
                                  <a:latin typeface="Cambria Math" panose="02040503050406030204" pitchFamily="18" charset="0"/>
                                </a:rPr>
                                <m:t>𝑠</m:t>
                              </m:r>
                            </m:e>
                            <m:sub>
                              <m:r>
                                <a:rPr lang="de-DE" b="0" i="1" smtClean="0">
                                  <a:latin typeface="Cambria Math" panose="02040503050406030204" pitchFamily="18" charset="0"/>
                                </a:rPr>
                                <m:t>𝑟</m:t>
                              </m:r>
                            </m:sub>
                          </m:sSub>
                        </m:sub>
                      </m:sSub>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1</m:t>
                          </m:r>
                        </m:num>
                        <m:den>
                          <m:d>
                            <m:dPr>
                              <m:begChr m:val="|"/>
                              <m:endChr m:val="|"/>
                              <m:ctrlPr>
                                <a:rPr lang="de-DE" b="0" i="1" smtClean="0">
                                  <a:latin typeface="Cambria Math" panose="02040503050406030204" pitchFamily="18" charset="0"/>
                                </a:rPr>
                              </m:ctrlPr>
                            </m:dPr>
                            <m:e>
                              <m:r>
                                <a:rPr lang="de-DE" b="0" i="1" smtClean="0">
                                  <a:latin typeface="Cambria Math" panose="02040503050406030204" pitchFamily="18" charset="0"/>
                                </a:rPr>
                                <m:t>𝐶</m:t>
                              </m:r>
                            </m:e>
                          </m:d>
                        </m:den>
                      </m:f>
                      <m:nary>
                        <m:naryPr>
                          <m:chr m:val="∑"/>
                          <m:supHide m:val="on"/>
                          <m:ctrlPr>
                            <a:rPr lang="de-DE" b="0" i="1" smtClean="0">
                              <a:latin typeface="Cambria Math" panose="02040503050406030204" pitchFamily="18" charset="0"/>
                            </a:rPr>
                          </m:ctrlPr>
                        </m:naryPr>
                        <m:sub>
                          <m:sSub>
                            <m:sSubPr>
                              <m:ctrlPr>
                                <a:rPr lang="de-DE" b="0" i="1" smtClean="0">
                                  <a:latin typeface="Cambria Math" panose="02040503050406030204" pitchFamily="18" charset="0"/>
                                </a:rPr>
                              </m:ctrlPr>
                            </m:sSubPr>
                            <m:e>
                              <m:r>
                                <a:rPr lang="de-DE" b="0" i="1" smtClean="0">
                                  <a:latin typeface="Cambria Math" panose="02040503050406030204" pitchFamily="18" charset="0"/>
                                </a:rPr>
                                <m:t>𝑐</m:t>
                              </m:r>
                            </m:e>
                            <m:sub>
                              <m:r>
                                <m:rPr>
                                  <m:brk m:alnAt="7"/>
                                </m:rPr>
                                <a:rPr lang="de-DE" b="0" i="1" smtClean="0">
                                  <a:latin typeface="Cambria Math" panose="02040503050406030204" pitchFamily="18" charset="0"/>
                                </a:rPr>
                                <m:t>𝑖</m:t>
                              </m:r>
                            </m:sub>
                          </m:sSub>
                          <m:r>
                            <a:rPr lang="de-DE" b="0" i="1" smtClean="0">
                              <a:latin typeface="Cambria Math" panose="02040503050406030204" pitchFamily="18" charset="0"/>
                            </a:rPr>
                            <m:t>∈</m:t>
                          </m:r>
                          <m:limLow>
                            <m:limLowPr>
                              <m:ctrlPr>
                                <a:rPr lang="de-DE" b="0" i="1" smtClean="0">
                                  <a:highlight>
                                    <a:srgbClr val="FFFF00"/>
                                  </a:highlight>
                                  <a:latin typeface="Cambria Math" panose="02040503050406030204" pitchFamily="18" charset="0"/>
                                </a:rPr>
                              </m:ctrlPr>
                            </m:limLowPr>
                            <m:e>
                              <m:groupChr>
                                <m:groupChrPr>
                                  <m:chr m:val="⏟"/>
                                  <m:ctrlPr>
                                    <a:rPr lang="de-DE" b="0" i="1" smtClean="0">
                                      <a:highlight>
                                        <a:srgbClr val="FFFF00"/>
                                      </a:highlight>
                                      <a:latin typeface="Cambria Math" panose="02040503050406030204" pitchFamily="18" charset="0"/>
                                    </a:rPr>
                                  </m:ctrlPr>
                                </m:groupChrPr>
                                <m:e>
                                  <m:r>
                                    <m:rPr>
                                      <m:sty m:val="p"/>
                                    </m:rPr>
                                    <a:rPr lang="de-DE" b="0" i="1" smtClean="0">
                                      <a:highlight>
                                        <a:srgbClr val="FFFF00"/>
                                      </a:highlight>
                                      <a:latin typeface="Cambria Math" panose="02040503050406030204" pitchFamily="18" charset="0"/>
                                    </a:rPr>
                                    <m:t>C</m:t>
                                  </m:r>
                                </m:e>
                              </m:groupChr>
                            </m:e>
                            <m:lim>
                              <m:r>
                                <m:rPr>
                                  <m:sty m:val="p"/>
                                </m:rPr>
                                <a:rPr lang="de-DE" b="0" i="1" smtClean="0">
                                  <a:highlight>
                                    <a:srgbClr val="FFFF00"/>
                                  </a:highlight>
                                  <a:latin typeface="Cambria Math" panose="02040503050406030204" pitchFamily="18" charset="0"/>
                                </a:rPr>
                                <m:t>how</m:t>
                              </m:r>
                              <m:r>
                                <a:rPr lang="de-DE" b="0" i="1" smtClean="0">
                                  <a:highlight>
                                    <a:srgbClr val="FFFF00"/>
                                  </a:highlight>
                                  <a:latin typeface="Cambria Math" panose="02040503050406030204" pitchFamily="18" charset="0"/>
                                </a:rPr>
                                <m:t> </m:t>
                              </m:r>
                              <m:r>
                                <m:rPr>
                                  <m:sty m:val="p"/>
                                </m:rPr>
                                <a:rPr lang="de-DE" b="0" i="1" smtClean="0">
                                  <a:highlight>
                                    <a:srgbClr val="FFFF00"/>
                                  </a:highlight>
                                  <a:latin typeface="Cambria Math" panose="02040503050406030204" pitchFamily="18" charset="0"/>
                                </a:rPr>
                                <m:t>does</m:t>
                              </m:r>
                              <m:r>
                                <a:rPr lang="de-DE" b="0" i="1" smtClean="0">
                                  <a:highlight>
                                    <a:srgbClr val="FFFF00"/>
                                  </a:highlight>
                                  <a:latin typeface="Cambria Math" panose="02040503050406030204" pitchFamily="18" charset="0"/>
                                </a:rPr>
                                <m:t> </m:t>
                              </m:r>
                              <m:r>
                                <m:rPr>
                                  <m:sty m:val="p"/>
                                </m:rPr>
                                <a:rPr lang="de-DE" b="0" i="1" smtClean="0">
                                  <a:highlight>
                                    <a:srgbClr val="FFFF00"/>
                                  </a:highlight>
                                  <a:latin typeface="Cambria Math" panose="02040503050406030204" pitchFamily="18" charset="0"/>
                                </a:rPr>
                                <m:t>C</m:t>
                              </m:r>
                              <m:r>
                                <a:rPr lang="de-DE" b="0" i="1" smtClean="0">
                                  <a:highlight>
                                    <a:srgbClr val="FFFF00"/>
                                  </a:highlight>
                                  <a:latin typeface="Cambria Math" panose="02040503050406030204" pitchFamily="18" charset="0"/>
                                </a:rPr>
                                <m:t> </m:t>
                              </m:r>
                              <m:r>
                                <m:rPr>
                                  <m:sty m:val="p"/>
                                </m:rPr>
                                <a:rPr lang="de-DE" b="0" i="1" smtClean="0">
                                  <a:highlight>
                                    <a:srgbClr val="FFFF00"/>
                                  </a:highlight>
                                  <a:latin typeface="Cambria Math" panose="02040503050406030204" pitchFamily="18" charset="0"/>
                                </a:rPr>
                                <m:t>look</m:t>
                              </m:r>
                              <m:r>
                                <a:rPr lang="de-DE" b="0" i="1" smtClean="0">
                                  <a:highlight>
                                    <a:srgbClr val="FFFF00"/>
                                  </a:highlight>
                                  <a:latin typeface="Cambria Math" panose="02040503050406030204" pitchFamily="18" charset="0"/>
                                </a:rPr>
                                <m:t> </m:t>
                              </m:r>
                              <m:r>
                                <m:rPr>
                                  <m:sty m:val="p"/>
                                </m:rPr>
                                <a:rPr lang="de-DE" b="0" i="1" smtClean="0">
                                  <a:highlight>
                                    <a:srgbClr val="FFFF00"/>
                                  </a:highlight>
                                  <a:latin typeface="Cambria Math" panose="02040503050406030204" pitchFamily="18" charset="0"/>
                                </a:rPr>
                                <m:t>like</m:t>
                              </m:r>
                            </m:lim>
                          </m:limLow>
                        </m:sub>
                        <m:sup/>
                        <m:e>
                          <m:sSub>
                            <m:sSubPr>
                              <m:ctrlPr>
                                <a:rPr lang="de-DE" b="0" i="1" smtClean="0">
                                  <a:latin typeface="Cambria Math" panose="02040503050406030204" pitchFamily="18" charset="0"/>
                                </a:rPr>
                              </m:ctrlPr>
                            </m:sSubPr>
                            <m:e>
                              <m:r>
                                <a:rPr lang="de-DE" b="0" i="1" smtClean="0">
                                  <a:latin typeface="Cambria Math" panose="02040503050406030204" pitchFamily="18" charset="0"/>
                                </a:rPr>
                                <m:t>𝐼</m:t>
                              </m:r>
                            </m:e>
                            <m:sub>
                              <m:r>
                                <a:rPr lang="de-DE" b="0" i="1" smtClean="0">
                                  <a:latin typeface="Cambria Math" panose="02040503050406030204" pitchFamily="18" charset="0"/>
                                </a:rPr>
                                <m:t>𝑠</m:t>
                              </m:r>
                            </m:sub>
                          </m:sSub>
                          <m:d>
                            <m:dPr>
                              <m:ctrlPr>
                                <a:rPr lang="de-DE" b="0" i="1" smtClean="0">
                                  <a:latin typeface="Cambria Math" panose="02040503050406030204" pitchFamily="18" charset="0"/>
                                </a:rPr>
                              </m:ctrlPr>
                            </m:dPr>
                            <m:e>
                              <m:sSub>
                                <m:sSubPr>
                                  <m:ctrlPr>
                                    <a:rPr lang="de-DE" i="1">
                                      <a:latin typeface="Cambria Math" panose="02040503050406030204" pitchFamily="18" charset="0"/>
                                    </a:rPr>
                                  </m:ctrlPr>
                                </m:sSubPr>
                                <m:e>
                                  <m:r>
                                    <a:rPr lang="de-DE" i="1">
                                      <a:latin typeface="Cambria Math" panose="02040503050406030204" pitchFamily="18" charset="0"/>
                                    </a:rPr>
                                    <m:t>𝑐</m:t>
                                  </m:r>
                                </m:e>
                                <m:sub>
                                  <m:r>
                                    <a:rPr lang="de-DE" i="1">
                                      <a:latin typeface="Cambria Math" panose="02040503050406030204" pitchFamily="18" charset="0"/>
                                    </a:rPr>
                                    <m:t>𝑖</m:t>
                                  </m:r>
                                </m:sub>
                              </m:sSub>
                            </m:e>
                          </m:d>
                        </m:e>
                      </m:nary>
                      <m:r>
                        <a:rPr lang="de-DE" b="0" i="1" smtClean="0">
                          <a:latin typeface="Cambria Math" panose="02040503050406030204" pitchFamily="18" charset="0"/>
                        </a:rPr>
                        <m:t>,  </m:t>
                      </m:r>
                      <m:r>
                        <a:rPr lang="de-DE" b="0" i="1" smtClean="0">
                          <a:latin typeface="Cambria Math" panose="02040503050406030204" pitchFamily="18" charset="0"/>
                        </a:rPr>
                        <m:t>𝑤𝑖𝑡h</m:t>
                      </m:r>
                      <m:r>
                        <a:rPr lang="de-DE" b="0" i="1" smtClean="0">
                          <a:latin typeface="Cambria Math" panose="02040503050406030204" pitchFamily="18" charset="0"/>
                        </a:rPr>
                        <m:t> </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𝐼</m:t>
                          </m:r>
                        </m:e>
                        <m:sub>
                          <m:r>
                            <a:rPr lang="de-DE"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de-DE" b="0" i="1" smtClean="0">
                                  <a:latin typeface="Cambria Math" panose="02040503050406030204" pitchFamily="18" charset="0"/>
                                </a:rPr>
                                <m:t>1</m:t>
                              </m:r>
                              <m:r>
                                <a:rPr lang="en-US" b="0" i="1" smtClean="0">
                                  <a:latin typeface="Cambria Math" panose="02040503050406030204" pitchFamily="18" charset="0"/>
                                </a:rPr>
                                <m:t>,  </m:t>
                              </m:r>
                              <m:r>
                                <a:rPr lang="de-DE" b="0" i="1" smtClean="0">
                                  <a:latin typeface="Cambria Math" panose="02040503050406030204" pitchFamily="18" charset="0"/>
                                </a:rPr>
                                <m:t>𝑐𝑜𝑚𝑚𝑖𝑡</m:t>
                              </m:r>
                              <m:r>
                                <a:rPr lang="de-DE" b="0" i="1" smtClean="0">
                                  <a:latin typeface="Cambria Math" panose="02040503050406030204" pitchFamily="18" charset="0"/>
                                </a:rPr>
                                <m:t> </m:t>
                              </m:r>
                              <m:r>
                                <a:rPr lang="de-DE" b="0" i="1" smtClean="0">
                                  <a:latin typeface="Cambria Math" panose="02040503050406030204" pitchFamily="18" charset="0"/>
                                </a:rPr>
                                <m:t>𝑥</m:t>
                              </m:r>
                              <m:r>
                                <a:rPr lang="de-DE" b="0" i="1" smtClean="0">
                                  <a:latin typeface="Cambria Math" panose="02040503050406030204" pitchFamily="18" charset="0"/>
                                </a:rPr>
                                <m:t> </m:t>
                              </m:r>
                              <m:r>
                                <a:rPr lang="de-DE" b="0" i="1" smtClean="0">
                                  <a:latin typeface="Cambria Math" panose="02040503050406030204" pitchFamily="18" charset="0"/>
                                </a:rPr>
                                <m:t>𝑏𝑒𝑙𝑜𝑛𝑔𝑠</m:t>
                              </m:r>
                              <m:r>
                                <a:rPr lang="de-DE" b="0" i="1" smtClean="0">
                                  <a:latin typeface="Cambria Math" panose="02040503050406030204" pitchFamily="18" charset="0"/>
                                </a:rPr>
                                <m:t> </m:t>
                              </m:r>
                              <m:r>
                                <a:rPr lang="de-DE" b="0" i="1" smtClean="0">
                                  <a:latin typeface="Cambria Math" panose="02040503050406030204" pitchFamily="18" charset="0"/>
                                </a:rPr>
                                <m:t>𝑡𝑜</m:t>
                              </m:r>
                              <m:r>
                                <a:rPr lang="de-DE" b="0" i="1" smtClean="0">
                                  <a:latin typeface="Cambria Math" panose="02040503050406030204" pitchFamily="18" charset="0"/>
                                </a:rPr>
                                <m:t> </m:t>
                              </m:r>
                              <m:r>
                                <a:rPr lang="de-DE" b="0" i="1" smtClean="0">
                                  <a:latin typeface="Cambria Math" panose="02040503050406030204" pitchFamily="18" charset="0"/>
                                </a:rPr>
                                <m:t>𝑜𝑟𝑔𝑎𝑛𝑠𝑎𝑡𝑖𝑜𝑛</m:t>
                              </m:r>
                              <m:r>
                                <a:rPr lang="de-DE" b="0" i="1" smtClean="0">
                                  <a:latin typeface="Cambria Math" panose="02040503050406030204" pitchFamily="18" charset="0"/>
                                </a:rPr>
                                <m:t> </m:t>
                              </m:r>
                              <m:r>
                                <a:rPr lang="de-DE" b="0" i="1" smtClean="0">
                                  <a:latin typeface="Cambria Math" panose="02040503050406030204" pitchFamily="18" charset="0"/>
                                </a:rPr>
                                <m:t>𝑠</m:t>
                              </m:r>
                            </m:e>
                            <m:e>
                              <m:r>
                                <a:rPr lang="en-US" b="0" i="1" smtClean="0">
                                  <a:latin typeface="Cambria Math" panose="02040503050406030204" pitchFamily="18" charset="0"/>
                                </a:rPr>
                                <m:t>&amp;</m:t>
                              </m:r>
                              <m:r>
                                <a:rPr lang="de-DE" b="0" i="1" smtClean="0">
                                  <a:latin typeface="Cambria Math" panose="02040503050406030204" pitchFamily="18" charset="0"/>
                                </a:rPr>
                                <m:t>0</m:t>
                              </m:r>
                              <m:r>
                                <a:rPr lang="en-US" b="0" i="1" smtClean="0">
                                  <a:latin typeface="Cambria Math" panose="02040503050406030204" pitchFamily="18" charset="0"/>
                                </a:rPr>
                                <m:t>,  </m:t>
                              </m:r>
                              <m:r>
                                <a:rPr lang="de-DE" b="0" i="1" smtClean="0">
                                  <a:latin typeface="Cambria Math" panose="02040503050406030204" pitchFamily="18" charset="0"/>
                                </a:rPr>
                                <m:t> </m:t>
                              </m:r>
                              <m:r>
                                <a:rPr lang="de-DE" b="0" i="1" smtClean="0">
                                  <a:latin typeface="Cambria Math" panose="02040503050406030204" pitchFamily="18" charset="0"/>
                                </a:rPr>
                                <m:t>𝑒𝑙𝑠𝑒</m:t>
                              </m:r>
                            </m:e>
                          </m:eqArr>
                        </m:e>
                      </m:d>
                    </m:oMath>
                  </m:oMathPara>
                </a14:m>
                <a:endParaRPr lang="en-US" dirty="0"/>
              </a:p>
            </p:txBody>
          </p:sp>
        </mc:Choice>
        <mc:Fallback>
          <p:sp>
            <p:nvSpPr>
              <p:cNvPr id="2" name="Content Placeholder 1">
                <a:extLst>
                  <a:ext uri="{FF2B5EF4-FFF2-40B4-BE49-F238E27FC236}">
                    <a16:creationId xmlns:a16="http://schemas.microsoft.com/office/drawing/2014/main" id="{3BABFD6F-7895-F56F-F738-A182E40C9B2C}"/>
                  </a:ext>
                </a:extLst>
              </p:cNvPr>
              <p:cNvSpPr>
                <a:spLocks noGrp="1" noRot="1" noChangeAspect="1" noMove="1" noResize="1" noEditPoints="1" noAdjustHandles="1" noChangeArrowheads="1" noChangeShapeType="1" noTextEdit="1"/>
              </p:cNvSpPr>
              <p:nvPr>
                <p:ph type="body" sz="quarter" idx="13"/>
              </p:nvPr>
            </p:nvSpPr>
            <p:spPr>
              <a:xfrm>
                <a:off x="472441" y="2000250"/>
                <a:ext cx="9163172" cy="2786903"/>
              </a:xfrm>
              <a:blipFill>
                <a:blip r:embed="rId2"/>
                <a:stretch>
                  <a:fillRect b="-42888"/>
                </a:stretch>
              </a:blipFill>
            </p:spPr>
            <p:txBody>
              <a:bodyPr/>
              <a:lstStyle/>
              <a:p>
                <a:r>
                  <a:rPr lang="en-US">
                    <a:noFill/>
                  </a:rPr>
                  <a:t> </a:t>
                </a:r>
              </a:p>
            </p:txBody>
          </p:sp>
        </mc:Fallback>
      </mc:AlternateContent>
    </p:spTree>
    <p:extLst>
      <p:ext uri="{BB962C8B-B14F-4D97-AF65-F5344CB8AC3E}">
        <p14:creationId xmlns:p14="http://schemas.microsoft.com/office/powerpoint/2010/main" val="2620276936"/>
      </p:ext>
    </p:extLst>
  </p:cSld>
  <p:clrMapOvr>
    <a:masterClrMapping/>
  </p:clrMapOvr>
  <mc:AlternateContent xmlns:mc="http://schemas.openxmlformats.org/markup-compatibility/2006">
    <mc:Choice xmlns:p14="http://schemas.microsoft.com/office/powerpoint/2010/main" Requires="p14">
      <p:transition spd="slow" p14:dur="2000" advClick="0" advTm="3000"/>
    </mc:Choice>
    <mc:Fallback>
      <p:transition spd="slow" advClick="0"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3202-B59D-F2BB-18B7-34480DA524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249C35A-00C3-F908-4CA8-F83B3C54384A}"/>
              </a:ext>
            </a:extLst>
          </p:cNvPr>
          <p:cNvSpPr>
            <a:spLocks noGrp="1"/>
          </p:cNvSpPr>
          <p:nvPr>
            <p:ph type="title"/>
          </p:nvPr>
        </p:nvSpPr>
        <p:spPr/>
        <p:txBody>
          <a:bodyPr/>
          <a:lstStyle/>
          <a:p>
            <a:r>
              <a:rPr lang="de-DE" dirty="0"/>
              <a:t>Work Items Shown</a:t>
            </a:r>
            <a:endParaRPr lang="en-US" dirty="0"/>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B1E9C73C-DB16-87D8-76E1-CFE16DAD5F1B}"/>
                  </a:ext>
                </a:extLst>
              </p:cNvPr>
              <p:cNvSpPr>
                <a:spLocks noGrp="1"/>
              </p:cNvSpPr>
              <p:nvPr>
                <p:ph type="body" sz="quarter" idx="13"/>
              </p:nvPr>
            </p:nvSpPr>
            <p:spPr>
              <a:xfrm>
                <a:off x="472441" y="2000250"/>
                <a:ext cx="9163172" cy="4435571"/>
              </a:xfrm>
            </p:spPr>
            <p:txBody>
              <a:bodyPr>
                <a:normAutofit/>
              </a:bodyPr>
              <a:lstStyle/>
              <a:p>
                <a:pPr marL="0" indent="0" algn="ctr">
                  <a:buNone/>
                </a:pPr>
                <a:r>
                  <a:rPr lang="de-DE" sz="2000" dirty="0">
                    <a:latin typeface="Arial" panose="020B0604020202020204" pitchFamily="34" charset="0"/>
                    <a:cs typeface="Arial" panose="020B0604020202020204" pitchFamily="34" charset="0"/>
                  </a:rPr>
                  <a:t>General Questions</a:t>
                </a:r>
              </a:p>
              <a:p>
                <a:pPr marL="0" indent="0">
                  <a:buNone/>
                </a:pPr>
                <a14:m>
                  <m:oMath xmlns:m="http://schemas.openxmlformats.org/officeDocument/2006/math">
                    <m:r>
                      <a:rPr lang="de-DE" sz="2400" i="1" dirty="0">
                        <a:latin typeface="Cambria Math" panose="02040503050406030204" pitchFamily="18" charset="0"/>
                      </a:rPr>
                      <m:t>𝛼</m:t>
                    </m:r>
                  </m:oMath>
                </a14:m>
                <a:r>
                  <a:rPr lang="de-DE" sz="2400" i="1" dirty="0">
                    <a:latin typeface="Cambria Math" panose="02040503050406030204" pitchFamily="18" charset="0"/>
                  </a:rPr>
                  <a:t> </a:t>
                </a:r>
                <a:r>
                  <a:rPr lang="de-DE" sz="2400" dirty="0">
                    <a:latin typeface="Cambria Math" panose="02040503050406030204" pitchFamily="18" charset="0"/>
                  </a:rPr>
                  <a:t>:=</a:t>
                </a:r>
                <a:r>
                  <a:rPr lang="de-DE" sz="2400" i="1" dirty="0">
                    <a:latin typeface="Cambria Math" panose="02040503050406030204" pitchFamily="18" charset="0"/>
                  </a:rPr>
                  <a:t> </a:t>
                </a:r>
                <a:r>
                  <a:rPr lang="de-DE" sz="2400" dirty="0">
                    <a:latin typeface="Cambria Math" panose="02040503050406030204" pitchFamily="18" charset="0"/>
                  </a:rPr>
                  <a:t>Threshold?</a:t>
                </a:r>
              </a:p>
              <a:p>
                <a:pPr marL="0" indent="0">
                  <a:buNone/>
                </a:pPr>
                <a14:m>
                  <m:oMath xmlns:m="http://schemas.openxmlformats.org/officeDocument/2006/math">
                    <m:r>
                      <a:rPr lang="de-DE" sz="2400" i="1" dirty="0">
                        <a:latin typeface="Cambria Math" panose="02040503050406030204" pitchFamily="18" charset="0"/>
                      </a:rPr>
                      <m:t>𝑆</m:t>
                    </m:r>
                  </m:oMath>
                </a14:m>
                <a:r>
                  <a:rPr lang="de-DE" sz="2400" i="1" dirty="0">
                    <a:latin typeface="Cambria Math" panose="02040503050406030204" pitchFamily="18" charset="0"/>
                  </a:rPr>
                  <a:t> := </a:t>
                </a:r>
                <a:r>
                  <a:rPr lang="de-DE" sz="2400" dirty="0" err="1">
                    <a:latin typeface="Cambria Math" panose="02040503050406030204" pitchFamily="18" charset="0"/>
                  </a:rPr>
                  <a:t>What</a:t>
                </a:r>
                <a:r>
                  <a:rPr lang="de-DE" sz="2400" dirty="0">
                    <a:latin typeface="Cambria Math" panose="02040503050406030204" pitchFamily="18" charset="0"/>
                  </a:rPr>
                  <a:t> </a:t>
                </a:r>
                <a:r>
                  <a:rPr lang="de-DE" sz="2400" dirty="0" err="1">
                    <a:latin typeface="Cambria Math" panose="02040503050406030204" pitchFamily="18" charset="0"/>
                  </a:rPr>
                  <a:t>counts</a:t>
                </a:r>
                <a:r>
                  <a:rPr lang="de-DE" sz="2400" dirty="0">
                    <a:latin typeface="Cambria Math" panose="02040503050406030204" pitchFamily="18" charset="0"/>
                  </a:rPr>
                  <a:t> an </a:t>
                </a:r>
                <a:r>
                  <a:rPr lang="de-DE" sz="2400" dirty="0" err="1">
                    <a:latin typeface="Cambria Math" panose="02040503050406030204" pitchFamily="18" charset="0"/>
                  </a:rPr>
                  <a:t>an</a:t>
                </a:r>
                <a:r>
                  <a:rPr lang="de-DE" sz="2400" dirty="0">
                    <a:latin typeface="Cambria Math" panose="02040503050406030204" pitchFamily="18" charset="0"/>
                  </a:rPr>
                  <a:t> </a:t>
                </a:r>
                <a:r>
                  <a:rPr lang="de-DE" sz="2400" dirty="0" err="1">
                    <a:latin typeface="Cambria Math" panose="02040503050406030204" pitchFamily="18" charset="0"/>
                  </a:rPr>
                  <a:t>organization</a:t>
                </a:r>
                <a:r>
                  <a:rPr lang="de-DE" sz="2400" dirty="0">
                    <a:latin typeface="Cambria Math" panose="02040503050406030204" pitchFamily="18" charset="0"/>
                  </a:rPr>
                  <a:t>?</a:t>
                </a:r>
              </a:p>
              <a:p>
                <a:pPr marL="0" indent="0">
                  <a:buNone/>
                </a:pPr>
                <a14:m>
                  <m:oMath xmlns:m="http://schemas.openxmlformats.org/officeDocument/2006/math">
                    <m:r>
                      <m:rPr>
                        <m:sty m:val="p"/>
                      </m:rPr>
                      <a:rPr lang="de-DE" sz="2400" i="1">
                        <a:latin typeface="Cambria Math" panose="02040503050406030204" pitchFamily="18" charset="0"/>
                      </a:rPr>
                      <m:t>C</m:t>
                    </m:r>
                  </m:oMath>
                </a14:m>
                <a:r>
                  <a:rPr lang="de-DE" sz="2400" dirty="0">
                    <a:latin typeface="Cambria Math" panose="02040503050406030204" pitchFamily="18" charset="0"/>
                  </a:rPr>
                  <a:t>:= </a:t>
                </a:r>
                <a:r>
                  <a:rPr lang="de-DE" sz="2400" dirty="0" err="1">
                    <a:latin typeface="Cambria Math" panose="02040503050406030204" pitchFamily="18" charset="0"/>
                  </a:rPr>
                  <a:t>What</a:t>
                </a:r>
                <a:r>
                  <a:rPr lang="de-DE" sz="2400" dirty="0">
                    <a:latin typeface="Cambria Math" panose="02040503050406030204" pitchFamily="18" charset="0"/>
                  </a:rPr>
                  <a:t> </a:t>
                </a:r>
                <a:r>
                  <a:rPr lang="de-DE" sz="2400" dirty="0" err="1">
                    <a:latin typeface="Cambria Math" panose="02040503050406030204" pitchFamily="18" charset="0"/>
                  </a:rPr>
                  <a:t>counts</a:t>
                </a:r>
                <a:r>
                  <a:rPr lang="de-DE" sz="2400" dirty="0">
                    <a:latin typeface="Cambria Math" panose="02040503050406030204" pitchFamily="18" charset="0"/>
                  </a:rPr>
                  <a:t> </a:t>
                </a:r>
                <a:r>
                  <a:rPr lang="de-DE" sz="2400" dirty="0" err="1">
                    <a:latin typeface="Cambria Math" panose="02040503050406030204" pitchFamily="18" charset="0"/>
                  </a:rPr>
                  <a:t>as</a:t>
                </a:r>
                <a:r>
                  <a:rPr lang="de-DE" sz="2400" dirty="0">
                    <a:latin typeface="Cambria Math" panose="02040503050406030204" pitchFamily="18" charset="0"/>
                  </a:rPr>
                  <a:t> a </a:t>
                </a:r>
                <a:r>
                  <a:rPr lang="de-DE" sz="2400" dirty="0" err="1">
                    <a:latin typeface="Cambria Math" panose="02040503050406030204" pitchFamily="18" charset="0"/>
                  </a:rPr>
                  <a:t>meaningful</a:t>
                </a:r>
                <a:r>
                  <a:rPr lang="de-DE" sz="2400" dirty="0">
                    <a:latin typeface="Cambria Math" panose="02040503050406030204" pitchFamily="18" charset="0"/>
                  </a:rPr>
                  <a:t> </a:t>
                </a:r>
                <a:r>
                  <a:rPr lang="de-DE" sz="2400" dirty="0" err="1">
                    <a:latin typeface="Cambria Math" panose="02040503050406030204" pitchFamily="18" charset="0"/>
                  </a:rPr>
                  <a:t>commit</a:t>
                </a:r>
                <a:r>
                  <a:rPr lang="de-DE" sz="2400" dirty="0">
                    <a:latin typeface="Cambria Math" panose="02040503050406030204" pitchFamily="18" charset="0"/>
                  </a:rPr>
                  <a:t> (e.g. </a:t>
                </a:r>
                <a:r>
                  <a:rPr lang="de-DE" sz="2400" dirty="0" err="1">
                    <a:latin typeface="Cambria Math" panose="02040503050406030204" pitchFamily="18" charset="0"/>
                  </a:rPr>
                  <a:t>only</a:t>
                </a:r>
                <a:r>
                  <a:rPr lang="de-DE" sz="2400" dirty="0">
                    <a:latin typeface="Cambria Math" panose="02040503050406030204" pitchFamily="18" charset="0"/>
                  </a:rPr>
                  <a:t> </a:t>
                </a:r>
                <a:r>
                  <a:rPr lang="de-DE" sz="2400" dirty="0" err="1">
                    <a:latin typeface="Cambria Math" panose="02040503050406030204" pitchFamily="18" charset="0"/>
                  </a:rPr>
                  <a:t>main</a:t>
                </a:r>
                <a:r>
                  <a:rPr lang="de-DE" sz="2400" dirty="0">
                    <a:latin typeface="Cambria Math" panose="02040503050406030204" pitchFamily="18" charset="0"/>
                  </a:rPr>
                  <a:t> </a:t>
                </a:r>
                <a:r>
                  <a:rPr lang="de-DE" sz="2400" dirty="0" err="1">
                    <a:latin typeface="Cambria Math" panose="02040503050406030204" pitchFamily="18" charset="0"/>
                  </a:rPr>
                  <a:t>branch</a:t>
                </a:r>
                <a:r>
                  <a:rPr lang="de-DE" sz="2400" dirty="0">
                    <a:latin typeface="Cambria Math" panose="02040503050406030204" pitchFamily="18" charset="0"/>
                  </a:rPr>
                  <a:t>)?</a:t>
                </a:r>
              </a:p>
              <a:p>
                <a:pPr marL="0" indent="0">
                  <a:buNone/>
                </a:pPr>
                <a:endParaRPr lang="de-DE" sz="2400" dirty="0">
                  <a:latin typeface="Cambria Math" panose="02040503050406030204" pitchFamily="18" charset="0"/>
                </a:endParaRPr>
              </a:p>
              <a:p>
                <a:pPr marL="0" indent="0" algn="ctr">
                  <a:buNone/>
                </a:pPr>
                <a:r>
                  <a:rPr lang="de-DE" sz="2400" dirty="0">
                    <a:latin typeface="Cambria Math" panose="02040503050406030204" pitchFamily="18" charset="0"/>
                  </a:rPr>
                  <a:t>Mappings</a:t>
                </a:r>
              </a:p>
              <a:p>
                <a:pPr marL="0" indent="0">
                  <a:buNone/>
                </a:pPr>
                <a14:m>
                  <m:oMath xmlns:m="http://schemas.openxmlformats.org/officeDocument/2006/math">
                    <m:sSub>
                      <m:sSubPr>
                        <m:ctrlPr>
                          <a:rPr lang="de-DE" sz="2400" i="1" dirty="0" smtClean="0">
                            <a:latin typeface="Cambria Math" panose="02040503050406030204" pitchFamily="18" charset="0"/>
                          </a:rPr>
                        </m:ctrlPr>
                      </m:sSubPr>
                      <m:e>
                        <m:r>
                          <a:rPr lang="de-DE" sz="2400" i="1" dirty="0" smtClean="0">
                            <a:latin typeface="Cambria Math" panose="02040503050406030204" pitchFamily="18" charset="0"/>
                          </a:rPr>
                          <m:t>𝑓</m:t>
                        </m:r>
                      </m:e>
                      <m:sub>
                        <m:r>
                          <a:rPr lang="de-DE" sz="2400" i="1" dirty="0" smtClean="0">
                            <a:latin typeface="Cambria Math" panose="02040503050406030204" pitchFamily="18" charset="0"/>
                          </a:rPr>
                          <m:t>𝑐</m:t>
                        </m:r>
                      </m:sub>
                    </m:sSub>
                    <m:d>
                      <m:dPr>
                        <m:ctrlPr>
                          <a:rPr lang="de-DE" sz="2400" i="1" dirty="0" smtClean="0">
                            <a:latin typeface="Cambria Math" panose="02040503050406030204" pitchFamily="18" charset="0"/>
                          </a:rPr>
                        </m:ctrlPr>
                      </m:dPr>
                      <m:e>
                        <m:r>
                          <a:rPr lang="de-DE" sz="2400" i="1" dirty="0" smtClean="0">
                            <a:latin typeface="Cambria Math" panose="02040503050406030204" pitchFamily="18" charset="0"/>
                          </a:rPr>
                          <m:t>𝑐</m:t>
                        </m:r>
                      </m:e>
                    </m:d>
                    <m:r>
                      <a:rPr lang="de-DE" sz="2400" b="0" i="1" dirty="0" smtClean="0">
                        <a:latin typeface="Cambria Math" panose="02040503050406030204" pitchFamily="18" charset="0"/>
                      </a:rPr>
                      <m:t>:</m:t>
                    </m:r>
                    <m:sSub>
                      <m:sSubPr>
                        <m:ctrlPr>
                          <a:rPr lang="de-DE" sz="2400" b="0" i="1" dirty="0" smtClean="0">
                            <a:latin typeface="Cambria Math" panose="02040503050406030204" pitchFamily="18" charset="0"/>
                          </a:rPr>
                        </m:ctrlPr>
                      </m:sSubPr>
                      <m:e>
                        <m:r>
                          <a:rPr lang="de-DE" sz="2400" b="0" i="1" dirty="0" smtClean="0">
                            <a:latin typeface="Cambria Math" panose="02040503050406030204" pitchFamily="18" charset="0"/>
                          </a:rPr>
                          <m:t>𝐶</m:t>
                        </m:r>
                      </m:e>
                      <m:sub>
                        <m:r>
                          <a:rPr lang="de-DE" sz="2400" b="0" i="1" dirty="0" smtClean="0">
                            <a:latin typeface="Cambria Math" panose="02040503050406030204" pitchFamily="18" charset="0"/>
                          </a:rPr>
                          <m:t>𝐴</m:t>
                        </m:r>
                      </m:sub>
                    </m:sSub>
                    <m:r>
                      <a:rPr lang="de-DE" sz="2400" b="0" i="1" dirty="0" smtClean="0">
                        <a:latin typeface="Cambria Math" panose="02040503050406030204" pitchFamily="18" charset="0"/>
                        <a:ea typeface="Cambria Math" panose="02040503050406030204" pitchFamily="18" charset="0"/>
                      </a:rPr>
                      <m:t>→</m:t>
                    </m:r>
                    <m:r>
                      <a:rPr lang="de-DE" sz="2400" b="0" i="1" dirty="0" smtClean="0">
                        <a:latin typeface="Cambria Math" panose="02040503050406030204" pitchFamily="18" charset="0"/>
                      </a:rPr>
                      <m:t> </m:t>
                    </m:r>
                    <m:r>
                      <m:rPr>
                        <m:lit/>
                      </m:rPr>
                      <a:rPr lang="de-DE" sz="2400" b="0" i="1" dirty="0" smtClean="0">
                        <a:latin typeface="Cambria Math" panose="02040503050406030204" pitchFamily="18" charset="0"/>
                      </a:rPr>
                      <m:t>(</m:t>
                    </m:r>
                    <m:r>
                      <a:rPr lang="de-DE" sz="2400" b="0" i="1" dirty="0" smtClean="0">
                        <a:latin typeface="Cambria Math" panose="02040503050406030204" pitchFamily="18" charset="0"/>
                      </a:rPr>
                      <m:t>0,1</m:t>
                    </m:r>
                    <m:r>
                      <m:rPr>
                        <m:lit/>
                      </m:rPr>
                      <a:rPr lang="de-DE" sz="2400" b="0" i="1" dirty="0" smtClean="0">
                        <a:latin typeface="Cambria Math" panose="02040503050406030204" pitchFamily="18" charset="0"/>
                      </a:rPr>
                      <m:t>)</m:t>
                    </m:r>
                  </m:oMath>
                </a14:m>
                <a:r>
                  <a:rPr lang="de-DE" sz="2400" dirty="0">
                    <a:latin typeface="Cambria Math" panose="02040503050406030204" pitchFamily="18" charset="0"/>
                  </a:rPr>
                  <a:t> := Commit from all </a:t>
                </a:r>
                <a:r>
                  <a:rPr lang="de-DE" sz="2400" dirty="0" err="1">
                    <a:latin typeface="Cambria Math" panose="02040503050406030204" pitchFamily="18" charset="0"/>
                  </a:rPr>
                  <a:t>commits</a:t>
                </a:r>
                <a:r>
                  <a:rPr lang="de-DE" sz="2400" dirty="0">
                    <a:latin typeface="Cambria Math" panose="02040503050406030204" pitchFamily="18" charset="0"/>
                  </a:rPr>
                  <a:t> </a:t>
                </a:r>
                <a:r>
                  <a:rPr lang="de-DE" sz="2400" dirty="0" err="1">
                    <a:latin typeface="Cambria Math" panose="02040503050406030204" pitchFamily="18" charset="0"/>
                  </a:rPr>
                  <a:t>to</a:t>
                </a:r>
                <a:r>
                  <a:rPr lang="de-DE" sz="2400" dirty="0">
                    <a:latin typeface="Cambria Math" panose="02040503050406030204" pitchFamily="18" charset="0"/>
                  </a:rPr>
                  <a:t> </a:t>
                </a:r>
                <a:r>
                  <a:rPr lang="de-DE" sz="2400" dirty="0" err="1">
                    <a:latin typeface="Cambria Math" panose="02040503050406030204" pitchFamily="18" charset="0"/>
                  </a:rPr>
                  <a:t>meaning</a:t>
                </a:r>
                <a:r>
                  <a:rPr lang="de-DE" sz="2400" dirty="0">
                    <a:latin typeface="Cambria Math" panose="02040503050406030204" pitchFamily="18" charset="0"/>
                  </a:rPr>
                  <a:t> </a:t>
                </a:r>
                <a:r>
                  <a:rPr lang="de-DE" sz="2400" dirty="0" err="1">
                    <a:latin typeface="Cambria Math" panose="02040503050406030204" pitchFamily="18" charset="0"/>
                  </a:rPr>
                  <a:t>commit</a:t>
                </a:r>
                <a:endParaRPr lang="de-DE" sz="2400" dirty="0">
                  <a:latin typeface="Cambria Math" panose="02040503050406030204" pitchFamily="18" charset="0"/>
                </a:endParaRPr>
              </a:p>
              <a:p>
                <a:pPr marL="0" indent="0">
                  <a:buNone/>
                </a:pPr>
                <a14:m>
                  <m:oMath xmlns:m="http://schemas.openxmlformats.org/officeDocument/2006/math">
                    <m:sSub>
                      <m:sSubPr>
                        <m:ctrlPr>
                          <a:rPr lang="de-DE" sz="2400" i="1" dirty="0">
                            <a:latin typeface="Cambria Math" panose="02040503050406030204" pitchFamily="18" charset="0"/>
                          </a:rPr>
                        </m:ctrlPr>
                      </m:sSubPr>
                      <m:e>
                        <m:r>
                          <a:rPr lang="de-DE" sz="2400" i="1" dirty="0">
                            <a:latin typeface="Cambria Math" panose="02040503050406030204" pitchFamily="18" charset="0"/>
                          </a:rPr>
                          <m:t>𝑓</m:t>
                        </m:r>
                      </m:e>
                      <m:sub>
                        <m:r>
                          <m:rPr>
                            <m:sty m:val="p"/>
                          </m:rPr>
                          <a:rPr lang="de-DE" sz="2400" b="0" i="1" dirty="0" smtClean="0">
                            <a:latin typeface="Cambria Math" panose="02040503050406030204" pitchFamily="18" charset="0"/>
                          </a:rPr>
                          <m:t>o</m:t>
                        </m:r>
                      </m:sub>
                    </m:sSub>
                    <m:d>
                      <m:dPr>
                        <m:ctrlPr>
                          <a:rPr lang="de-DE" sz="2400" i="1" dirty="0">
                            <a:latin typeface="Cambria Math" panose="02040503050406030204" pitchFamily="18" charset="0"/>
                          </a:rPr>
                        </m:ctrlPr>
                      </m:dPr>
                      <m:e>
                        <m:r>
                          <m:rPr>
                            <m:sty m:val="p"/>
                          </m:rPr>
                          <a:rPr lang="de-DE" sz="2400" b="0" i="1" dirty="0" smtClean="0">
                            <a:latin typeface="Cambria Math" panose="02040503050406030204" pitchFamily="18" charset="0"/>
                          </a:rPr>
                          <m:t>o</m:t>
                        </m:r>
                      </m:e>
                    </m:d>
                    <m:r>
                      <a:rPr lang="de-DE" sz="2400" b="0" i="1" dirty="0" smtClean="0">
                        <a:latin typeface="Cambria Math" panose="02040503050406030204" pitchFamily="18" charset="0"/>
                      </a:rPr>
                      <m:t>:</m:t>
                    </m:r>
                    <m:r>
                      <a:rPr lang="de-DE" sz="2400" b="0" i="1" dirty="0" smtClean="0">
                        <a:latin typeface="Cambria Math" panose="02040503050406030204" pitchFamily="18" charset="0"/>
                      </a:rPr>
                      <m:t>𝑀</m:t>
                    </m:r>
                    <m:r>
                      <a:rPr lang="de-DE" sz="2400" i="1" dirty="0">
                        <a:latin typeface="Cambria Math" panose="02040503050406030204" pitchFamily="18" charset="0"/>
                        <a:ea typeface="Cambria Math" panose="02040503050406030204" pitchFamily="18" charset="0"/>
                      </a:rPr>
                      <m:t>→</m:t>
                    </m:r>
                    <m:r>
                      <a:rPr lang="de-DE" sz="2400" i="1" dirty="0">
                        <a:latin typeface="Cambria Math" panose="02040503050406030204" pitchFamily="18" charset="0"/>
                      </a:rPr>
                      <m:t> </m:t>
                    </m:r>
                    <m:r>
                      <m:rPr>
                        <m:lit/>
                        <m:sty m:val="p"/>
                      </m:rPr>
                      <a:rPr lang="de-DE" sz="2400" b="0" i="1" dirty="0" smtClean="0">
                        <a:latin typeface="Cambria Math" panose="02040503050406030204" pitchFamily="18" charset="0"/>
                      </a:rPr>
                      <m:t>S</m:t>
                    </m:r>
                  </m:oMath>
                </a14:m>
                <a:r>
                  <a:rPr lang="de-DE" sz="2400" dirty="0">
                    <a:latin typeface="Cambria Math" panose="02040503050406030204" pitchFamily="18" charset="0"/>
                  </a:rPr>
                  <a:t> := </a:t>
                </a:r>
                <a:r>
                  <a:rPr lang="de-DE" sz="2400" dirty="0" err="1">
                    <a:latin typeface="Cambria Math" panose="02040503050406030204" pitchFamily="18" charset="0"/>
                  </a:rPr>
                  <a:t>Committer</a:t>
                </a:r>
                <a:r>
                  <a:rPr lang="de-DE" sz="2400" dirty="0">
                    <a:latin typeface="Cambria Math" panose="02040503050406030204" pitchFamily="18" charset="0"/>
                  </a:rPr>
                  <a:t> </a:t>
                </a:r>
                <a:r>
                  <a:rPr lang="de-DE" sz="2400" dirty="0" err="1">
                    <a:latin typeface="Cambria Math" panose="02040503050406030204" pitchFamily="18" charset="0"/>
                  </a:rPr>
                  <a:t>to</a:t>
                </a:r>
                <a:r>
                  <a:rPr lang="de-DE" sz="2400" dirty="0">
                    <a:latin typeface="Cambria Math" panose="02040503050406030204" pitchFamily="18" charset="0"/>
                  </a:rPr>
                  <a:t> </a:t>
                </a:r>
                <a:r>
                  <a:rPr lang="de-DE" sz="2400" dirty="0" err="1">
                    <a:latin typeface="Cambria Math" panose="02040503050406030204" pitchFamily="18" charset="0"/>
                  </a:rPr>
                  <a:t>Organization</a:t>
                </a:r>
                <a:endParaRPr lang="de-DE" sz="2400" dirty="0">
                  <a:latin typeface="Cambria Math" panose="02040503050406030204" pitchFamily="18" charset="0"/>
                </a:endParaRPr>
              </a:p>
              <a:p>
                <a:pPr marL="0" indent="0">
                  <a:buNone/>
                </a:pPr>
                <a:endParaRPr lang="de-DE" sz="2400" dirty="0">
                  <a:latin typeface="Cambria Math" panose="02040503050406030204" pitchFamily="18" charset="0"/>
                </a:endParaRPr>
              </a:p>
              <a:p>
                <a:pPr marL="0" indent="0" algn="ctr">
                  <a:buNone/>
                </a:pPr>
                <a:endParaRPr lang="de-DE" sz="2400" dirty="0">
                  <a:latin typeface="Cambria Math" panose="02040503050406030204" pitchFamily="18" charset="0"/>
                </a:endParaRPr>
              </a:p>
            </p:txBody>
          </p:sp>
        </mc:Choice>
        <mc:Fallback>
          <p:sp>
            <p:nvSpPr>
              <p:cNvPr id="2" name="Content Placeholder 1">
                <a:extLst>
                  <a:ext uri="{FF2B5EF4-FFF2-40B4-BE49-F238E27FC236}">
                    <a16:creationId xmlns:a16="http://schemas.microsoft.com/office/drawing/2014/main" id="{B1E9C73C-DB16-87D8-76E1-CFE16DAD5F1B}"/>
                  </a:ext>
                </a:extLst>
              </p:cNvPr>
              <p:cNvSpPr>
                <a:spLocks noGrp="1" noRot="1" noChangeAspect="1" noMove="1" noResize="1" noEditPoints="1" noAdjustHandles="1" noChangeArrowheads="1" noChangeShapeType="1" noTextEdit="1"/>
              </p:cNvSpPr>
              <p:nvPr>
                <p:ph type="body" sz="quarter" idx="13"/>
              </p:nvPr>
            </p:nvSpPr>
            <p:spPr>
              <a:xfrm>
                <a:off x="472441" y="2000250"/>
                <a:ext cx="9163172" cy="4435571"/>
              </a:xfrm>
              <a:blipFill>
                <a:blip r:embed="rId2"/>
                <a:stretch>
                  <a:fillRect l="-599" t="-1236"/>
                </a:stretch>
              </a:blipFill>
            </p:spPr>
            <p:txBody>
              <a:bodyPr/>
              <a:lstStyle/>
              <a:p>
                <a:r>
                  <a:rPr lang="en-US">
                    <a:noFill/>
                  </a:rPr>
                  <a:t> </a:t>
                </a:r>
              </a:p>
            </p:txBody>
          </p:sp>
        </mc:Fallback>
      </mc:AlternateContent>
    </p:spTree>
    <p:extLst>
      <p:ext uri="{BB962C8B-B14F-4D97-AF65-F5344CB8AC3E}">
        <p14:creationId xmlns:p14="http://schemas.microsoft.com/office/powerpoint/2010/main" val="4057522686"/>
      </p:ext>
    </p:extLst>
  </p:cSld>
  <p:clrMapOvr>
    <a:masterClrMapping/>
  </p:clrMapOvr>
  <mc:AlternateContent xmlns:mc="http://schemas.openxmlformats.org/markup-compatibility/2006">
    <mc:Choice xmlns:p14="http://schemas.microsoft.com/office/powerpoint/2010/main" Requires="p14">
      <p:transition spd="slow" p14:dur="2000" advClick="0" advTm="3000"/>
    </mc:Choice>
    <mc:Fallback>
      <p:transition spd="slow" advClick="0"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7F4BF-7068-118B-5883-A67CEB9546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E86804-B16D-0AD2-4D71-9F7525F981C7}"/>
              </a:ext>
            </a:extLst>
          </p:cNvPr>
          <p:cNvSpPr>
            <a:spLocks noGrp="1"/>
          </p:cNvSpPr>
          <p:nvPr>
            <p:ph type="title"/>
          </p:nvPr>
        </p:nvSpPr>
        <p:spPr/>
        <p:txBody>
          <a:bodyPr/>
          <a:lstStyle/>
          <a:p>
            <a:r>
              <a:rPr lang="de-DE" dirty="0"/>
              <a:t>Work Items Shown </a:t>
            </a:r>
            <a:r>
              <a:rPr lang="de-DE" dirty="0" err="1"/>
              <a:t>Cont</a:t>
            </a:r>
            <a:r>
              <a:rPr lang="de-DE" dirty="0"/>
              <a:t>.</a:t>
            </a:r>
            <a:endParaRPr lang="en-US" dirty="0"/>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8566851E-FA64-0B4C-8F17-C7557B7B34C2}"/>
                  </a:ext>
                </a:extLst>
              </p:cNvPr>
              <p:cNvSpPr>
                <a:spLocks noGrp="1"/>
              </p:cNvSpPr>
              <p:nvPr>
                <p:ph type="body" sz="quarter" idx="13"/>
              </p:nvPr>
            </p:nvSpPr>
            <p:spPr>
              <a:xfrm>
                <a:off x="472441" y="2000250"/>
                <a:ext cx="9163172" cy="4435571"/>
              </a:xfrm>
            </p:spPr>
            <p:txBody>
              <a:bodyPr>
                <a:normAutofit/>
              </a:bodyPr>
              <a:lstStyle/>
              <a:p>
                <a:pPr marL="0" indent="0" algn="ctr">
                  <a:buNone/>
                </a:pPr>
                <a:r>
                  <a:rPr lang="de-DE" sz="2000" dirty="0" err="1">
                    <a:latin typeface="Arial" panose="020B0604020202020204" pitchFamily="34" charset="0"/>
                    <a:cs typeface="Arial" panose="020B0604020202020204" pitchFamily="34" charset="0"/>
                  </a:rPr>
                  <a:t>Generalization</a:t>
                </a:r>
                <a:r>
                  <a:rPr lang="de-DE" sz="2000" dirty="0">
                    <a:latin typeface="Arial" panose="020B0604020202020204" pitchFamily="34" charset="0"/>
                    <a:cs typeface="Arial" panose="020B0604020202020204" pitchFamily="34" charset="0"/>
                  </a:rPr>
                  <a:t> Questions</a:t>
                </a:r>
              </a:p>
              <a:p>
                <a:pPr marL="0" indent="0">
                  <a:buNone/>
                </a:pPr>
                <a14:m>
                  <m:oMath xmlns:m="http://schemas.openxmlformats.org/officeDocument/2006/math">
                    <m:r>
                      <a:rPr lang="de-DE" sz="2400" i="1" dirty="0" smtClean="0">
                        <a:latin typeface="Cambria Math" panose="02040503050406030204" pitchFamily="18" charset="0"/>
                      </a:rPr>
                      <m:t>𝐸</m:t>
                    </m:r>
                    <m:sSub>
                      <m:sSubPr>
                        <m:ctrlPr>
                          <a:rPr lang="de-DE" sz="2400" b="0" i="1" dirty="0" smtClean="0">
                            <a:latin typeface="Cambria Math" panose="02040503050406030204" pitchFamily="18" charset="0"/>
                          </a:rPr>
                        </m:ctrlPr>
                      </m:sSubPr>
                      <m:e>
                        <m:r>
                          <m:rPr>
                            <m:sty m:val="p"/>
                          </m:rPr>
                          <a:rPr lang="de-DE" sz="2400" b="0" i="1" dirty="0" smtClean="0">
                            <a:latin typeface="Cambria Math" panose="02040503050406030204" pitchFamily="18" charset="0"/>
                          </a:rPr>
                          <m:t>F</m:t>
                        </m:r>
                      </m:e>
                      <m:sub>
                        <m:r>
                          <a:rPr lang="de-DE" sz="2400" b="0" i="1" dirty="0" smtClean="0">
                            <a:latin typeface="Cambria Math" panose="02040503050406030204" pitchFamily="18" charset="0"/>
                          </a:rPr>
                          <m:t>𝑝</m:t>
                        </m:r>
                      </m:sub>
                    </m:sSub>
                  </m:oMath>
                </a14:m>
                <a:r>
                  <a:rPr lang="de-DE" sz="2400" dirty="0">
                    <a:latin typeface="Cambria Math" panose="02040503050406030204" pitchFamily="18" charset="0"/>
                  </a:rPr>
                  <a:t> from </a:t>
                </a:r>
                <a:r>
                  <a:rPr lang="de-DE" sz="2400" dirty="0" err="1">
                    <a:latin typeface="Cambria Math" panose="02040503050406030204" pitchFamily="18" charset="0"/>
                  </a:rPr>
                  <a:t>repository</a:t>
                </a:r>
                <a:r>
                  <a:rPr lang="de-DE" sz="2400" dirty="0">
                    <a:latin typeface="Cambria Math" panose="02040503050406030204" pitchFamily="18" charset="0"/>
                  </a:rPr>
                  <a:t> </a:t>
                </a:r>
                <a:r>
                  <a:rPr lang="de-DE" sz="2400" dirty="0" err="1">
                    <a:latin typeface="Cambria Math" panose="02040503050406030204" pitchFamily="18" charset="0"/>
                  </a:rPr>
                  <a:t>to</a:t>
                </a:r>
                <a:r>
                  <a:rPr lang="de-DE" sz="2400" dirty="0">
                    <a:latin typeface="Cambria Math" panose="02040503050406030204" pitchFamily="18" charset="0"/>
                  </a:rPr>
                  <a:t> </a:t>
                </a:r>
                <a:r>
                  <a:rPr lang="de-DE" sz="2400" dirty="0" err="1">
                    <a:latin typeface="Cambria Math" panose="02040503050406030204" pitchFamily="18" charset="0"/>
                  </a:rPr>
                  <a:t>project</a:t>
                </a:r>
                <a:endParaRPr lang="de-DE" sz="2400" dirty="0">
                  <a:latin typeface="Cambria Math" panose="02040503050406030204" pitchFamily="18" charset="0"/>
                </a:endParaRPr>
              </a:p>
              <a:p>
                <a:pPr marL="0" indent="0">
                  <a:buNone/>
                </a:pPr>
                <a14:m>
                  <m:oMath xmlns:m="http://schemas.openxmlformats.org/officeDocument/2006/math">
                    <m:r>
                      <a:rPr lang="de-DE" sz="2400" i="1" dirty="0">
                        <a:latin typeface="Cambria Math" panose="02040503050406030204" pitchFamily="18" charset="0"/>
                      </a:rPr>
                      <m:t>𝐸</m:t>
                    </m:r>
                    <m:sSub>
                      <m:sSubPr>
                        <m:ctrlPr>
                          <a:rPr lang="de-DE" sz="2400" i="1" dirty="0">
                            <a:latin typeface="Cambria Math" panose="02040503050406030204" pitchFamily="18" charset="0"/>
                          </a:rPr>
                        </m:ctrlPr>
                      </m:sSubPr>
                      <m:e>
                        <m:r>
                          <a:rPr lang="de-DE" sz="2400" i="1" dirty="0">
                            <a:latin typeface="Cambria Math" panose="02040503050406030204" pitchFamily="18" charset="0"/>
                          </a:rPr>
                          <m:t>𝐹</m:t>
                        </m:r>
                      </m:e>
                      <m:sub>
                        <m:r>
                          <m:rPr>
                            <m:sty m:val="p"/>
                          </m:rPr>
                          <a:rPr lang="de-DE" sz="2400" b="0" i="1" dirty="0" smtClean="0">
                            <a:latin typeface="Cambria Math" panose="02040503050406030204" pitchFamily="18" charset="0"/>
                          </a:rPr>
                          <m:t>NNF</m:t>
                        </m:r>
                      </m:sub>
                    </m:sSub>
                    <m:r>
                      <a:rPr lang="de-DE" sz="2400" i="1" dirty="0">
                        <a:latin typeface="Cambria Math" panose="02040503050406030204" pitchFamily="18" charset="0"/>
                      </a:rPr>
                      <m:t> </m:t>
                    </m:r>
                  </m:oMath>
                </a14:m>
                <a:r>
                  <a:rPr lang="de-DE" sz="2400" dirty="0">
                    <a:latin typeface="Cambria Math" panose="02040503050406030204" pitchFamily="18" charset="0"/>
                  </a:rPr>
                  <a:t>from </a:t>
                </a:r>
                <a:r>
                  <a:rPr lang="de-DE" sz="2400" dirty="0" err="1">
                    <a:latin typeface="Cambria Math" panose="02040503050406030204" pitchFamily="18" charset="0"/>
                  </a:rPr>
                  <a:t>project</a:t>
                </a:r>
                <a:r>
                  <a:rPr lang="de-DE" sz="2400" dirty="0">
                    <a:latin typeface="Cambria Math" panose="02040503050406030204" pitchFamily="18" charset="0"/>
                  </a:rPr>
                  <a:t> </a:t>
                </a:r>
                <a:r>
                  <a:rPr lang="de-DE" sz="2400" dirty="0" err="1">
                    <a:latin typeface="Cambria Math" panose="02040503050406030204" pitchFamily="18" charset="0"/>
                  </a:rPr>
                  <a:t>to</a:t>
                </a:r>
                <a:r>
                  <a:rPr lang="de-DE" sz="2400" dirty="0">
                    <a:latin typeface="Cambria Math" panose="02040503050406030204" pitchFamily="18" charset="0"/>
                  </a:rPr>
                  <a:t> </a:t>
                </a:r>
                <a:r>
                  <a:rPr lang="de-DE" sz="2400" dirty="0" err="1">
                    <a:latin typeface="Cambria Math" panose="02040503050406030204" pitchFamily="18" charset="0"/>
                  </a:rPr>
                  <a:t>NeoNephos</a:t>
                </a:r>
                <a:endParaRPr lang="de-DE" sz="2400" dirty="0">
                  <a:latin typeface="Cambria Math" panose="02040503050406030204" pitchFamily="18" charset="0"/>
                </a:endParaRPr>
              </a:p>
              <a:p>
                <a:pPr marL="0" indent="0">
                  <a:buNone/>
                </a:pPr>
                <a:endParaRPr lang="de-DE" sz="2400" dirty="0">
                  <a:latin typeface="Cambria Math" panose="02040503050406030204" pitchFamily="18" charset="0"/>
                </a:endParaRPr>
              </a:p>
              <a:p>
                <a:pPr marL="0" indent="0" algn="ctr">
                  <a:buNone/>
                </a:pPr>
                <a:endParaRPr lang="de-DE" sz="2400" dirty="0">
                  <a:latin typeface="Cambria Math" panose="02040503050406030204" pitchFamily="18" charset="0"/>
                </a:endParaRPr>
              </a:p>
            </p:txBody>
          </p:sp>
        </mc:Choice>
        <mc:Fallback>
          <p:sp>
            <p:nvSpPr>
              <p:cNvPr id="2" name="Content Placeholder 1">
                <a:extLst>
                  <a:ext uri="{FF2B5EF4-FFF2-40B4-BE49-F238E27FC236}">
                    <a16:creationId xmlns:a16="http://schemas.microsoft.com/office/drawing/2014/main" id="{8566851E-FA64-0B4C-8F17-C7557B7B34C2}"/>
                  </a:ext>
                </a:extLst>
              </p:cNvPr>
              <p:cNvSpPr>
                <a:spLocks noGrp="1" noRot="1" noChangeAspect="1" noMove="1" noResize="1" noEditPoints="1" noAdjustHandles="1" noChangeArrowheads="1" noChangeShapeType="1" noTextEdit="1"/>
              </p:cNvSpPr>
              <p:nvPr>
                <p:ph type="body" sz="quarter" idx="13"/>
              </p:nvPr>
            </p:nvSpPr>
            <p:spPr>
              <a:xfrm>
                <a:off x="472441" y="2000250"/>
                <a:ext cx="9163172" cy="4435571"/>
              </a:xfrm>
              <a:blipFill>
                <a:blip r:embed="rId2"/>
                <a:stretch>
                  <a:fillRect l="-200" t="-1236"/>
                </a:stretch>
              </a:blipFill>
            </p:spPr>
            <p:txBody>
              <a:bodyPr/>
              <a:lstStyle/>
              <a:p>
                <a:r>
                  <a:rPr lang="en-US">
                    <a:noFill/>
                  </a:rPr>
                  <a:t> </a:t>
                </a:r>
              </a:p>
            </p:txBody>
          </p:sp>
        </mc:Fallback>
      </mc:AlternateContent>
    </p:spTree>
    <p:extLst>
      <p:ext uri="{BB962C8B-B14F-4D97-AF65-F5344CB8AC3E}">
        <p14:creationId xmlns:p14="http://schemas.microsoft.com/office/powerpoint/2010/main" val="2360017128"/>
      </p:ext>
    </p:extLst>
  </p:cSld>
  <p:clrMapOvr>
    <a:masterClrMapping/>
  </p:clrMapOvr>
  <mc:AlternateContent xmlns:mc="http://schemas.openxmlformats.org/markup-compatibility/2006">
    <mc:Choice xmlns:p14="http://schemas.microsoft.com/office/powerpoint/2010/main" Requires="p14">
      <p:transition spd="slow" p14:dur="2000" advClick="0" advTm="3000"/>
    </mc:Choice>
    <mc:Fallback>
      <p:transition spd="slow" advClick="0"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17802-0B41-D499-4845-0E6691265C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08F55A1-6F71-26A7-3C5C-6A450EE394E9}"/>
              </a:ext>
            </a:extLst>
          </p:cNvPr>
          <p:cNvSpPr>
            <a:spLocks noGrp="1"/>
          </p:cNvSpPr>
          <p:nvPr>
            <p:ph type="title"/>
          </p:nvPr>
        </p:nvSpPr>
        <p:spPr/>
        <p:txBody>
          <a:bodyPr/>
          <a:lstStyle/>
          <a:p>
            <a:r>
              <a:rPr lang="de-DE" dirty="0"/>
              <a:t>Work Items Shown </a:t>
            </a:r>
            <a:r>
              <a:rPr lang="de-DE" dirty="0" err="1"/>
              <a:t>Cont</a:t>
            </a:r>
            <a:r>
              <a:rPr lang="de-DE" dirty="0"/>
              <a:t>.</a:t>
            </a:r>
            <a:endParaRPr lang="en-US" dirty="0"/>
          </a:p>
        </p:txBody>
      </p:sp>
      <p:sp>
        <p:nvSpPr>
          <p:cNvPr id="2" name="Content Placeholder 1">
            <a:extLst>
              <a:ext uri="{FF2B5EF4-FFF2-40B4-BE49-F238E27FC236}">
                <a16:creationId xmlns:a16="http://schemas.microsoft.com/office/drawing/2014/main" id="{C073912A-4180-C2E8-41D2-B499DDE01577}"/>
              </a:ext>
            </a:extLst>
          </p:cNvPr>
          <p:cNvSpPr>
            <a:spLocks noGrp="1"/>
          </p:cNvSpPr>
          <p:nvPr>
            <p:ph type="body" sz="quarter" idx="13"/>
          </p:nvPr>
        </p:nvSpPr>
        <p:spPr/>
        <p:txBody>
          <a:bodyPr>
            <a:normAutofit/>
          </a:bodyPr>
          <a:lstStyle/>
          <a:p>
            <a:pPr marL="0" indent="0">
              <a:buNone/>
            </a:pPr>
            <a:r>
              <a:rPr lang="de-DE" sz="2400" dirty="0" err="1">
                <a:latin typeface="Cambria Math" panose="02040503050406030204" pitchFamily="18" charset="0"/>
              </a:rPr>
              <a:t>Contribute</a:t>
            </a:r>
            <a:r>
              <a:rPr lang="de-DE" sz="2400" dirty="0">
                <a:latin typeface="Cambria Math" panose="02040503050406030204" pitchFamily="18" charset="0"/>
              </a:rPr>
              <a:t> in </a:t>
            </a:r>
            <a:r>
              <a:rPr lang="de-DE" sz="2400" dirty="0" err="1">
                <a:latin typeface="Cambria Math" panose="02040503050406030204" pitchFamily="18" charset="0"/>
                <a:hlinkClick r:id="rId2"/>
              </a:rPr>
              <a:t>Issue</a:t>
            </a:r>
            <a:r>
              <a:rPr lang="de-DE" sz="2400" dirty="0">
                <a:latin typeface="Cambria Math" panose="02040503050406030204" pitchFamily="18" charset="0"/>
                <a:hlinkClick r:id="rId2"/>
              </a:rPr>
              <a:t> 55</a:t>
            </a:r>
            <a:r>
              <a:rPr lang="de-DE" sz="2400" dirty="0">
                <a:latin typeface="Cambria Math" panose="02040503050406030204" pitchFamily="18" charset="0"/>
              </a:rPr>
              <a:t>.</a:t>
            </a:r>
          </a:p>
          <a:p>
            <a:pPr marL="0" indent="0" algn="ctr">
              <a:buNone/>
            </a:pPr>
            <a:endParaRPr lang="de-DE" sz="2400" dirty="0">
              <a:latin typeface="Cambria Math" panose="02040503050406030204" pitchFamily="18" charset="0"/>
            </a:endParaRPr>
          </a:p>
        </p:txBody>
      </p:sp>
      <p:pic>
        <p:nvPicPr>
          <p:cNvPr id="4" name="Picture 3">
            <a:extLst>
              <a:ext uri="{FF2B5EF4-FFF2-40B4-BE49-F238E27FC236}">
                <a16:creationId xmlns:a16="http://schemas.microsoft.com/office/drawing/2014/main" id="{0051828B-9ADB-2231-5B53-02AA15C3F500}"/>
              </a:ext>
            </a:extLst>
          </p:cNvPr>
          <p:cNvPicPr>
            <a:picLocks noChangeAspect="1"/>
          </p:cNvPicPr>
          <p:nvPr/>
        </p:nvPicPr>
        <p:blipFill>
          <a:blip r:embed="rId3"/>
          <a:stretch>
            <a:fillRect/>
          </a:stretch>
        </p:blipFill>
        <p:spPr>
          <a:xfrm>
            <a:off x="4490403" y="1995170"/>
            <a:ext cx="7315834" cy="3604572"/>
          </a:xfrm>
          <a:prstGeom prst="rect">
            <a:avLst/>
          </a:prstGeom>
        </p:spPr>
      </p:pic>
    </p:spTree>
    <p:extLst>
      <p:ext uri="{BB962C8B-B14F-4D97-AF65-F5344CB8AC3E}">
        <p14:creationId xmlns:p14="http://schemas.microsoft.com/office/powerpoint/2010/main" val="164519071"/>
      </p:ext>
    </p:extLst>
  </p:cSld>
  <p:clrMapOvr>
    <a:masterClrMapping/>
  </p:clrMapOvr>
  <mc:AlternateContent xmlns:mc="http://schemas.openxmlformats.org/markup-compatibility/2006">
    <mc:Choice xmlns:p14="http://schemas.microsoft.com/office/powerpoint/2010/main" Requires="p14">
      <p:transition spd="slow" p14:dur="2000" advClick="0" advTm="3000"/>
    </mc:Choice>
    <mc:Fallback>
      <p:transition spd="slow" advClick="0"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EE578-4F6E-758F-3CFA-9EFFC13157E0}"/>
              </a:ext>
            </a:extLst>
          </p:cNvPr>
          <p:cNvSpPr>
            <a:spLocks noGrp="1"/>
          </p:cNvSpPr>
          <p:nvPr>
            <p:ph type="title"/>
          </p:nvPr>
        </p:nvSpPr>
        <p:spPr/>
        <p:txBody>
          <a:bodyPr/>
          <a:lstStyle/>
          <a:p>
            <a:r>
              <a:rPr lang="de-DE" dirty="0"/>
              <a:t>Honorable </a:t>
            </a:r>
            <a:r>
              <a:rPr lang="de-DE" dirty="0" err="1"/>
              <a:t>Mentions</a:t>
            </a:r>
            <a:endParaRPr lang="en-US" dirty="0"/>
          </a:p>
        </p:txBody>
      </p:sp>
      <p:sp>
        <p:nvSpPr>
          <p:cNvPr id="3" name="Text Placeholder 2">
            <a:extLst>
              <a:ext uri="{FF2B5EF4-FFF2-40B4-BE49-F238E27FC236}">
                <a16:creationId xmlns:a16="http://schemas.microsoft.com/office/drawing/2014/main" id="{AAAD4F15-8935-556D-49CF-303657CC8211}"/>
              </a:ext>
            </a:extLst>
          </p:cNvPr>
          <p:cNvSpPr>
            <a:spLocks noGrp="1"/>
          </p:cNvSpPr>
          <p:nvPr>
            <p:ph type="body" sz="quarter" idx="13"/>
          </p:nvPr>
        </p:nvSpPr>
        <p:spPr/>
        <p:txBody>
          <a:bodyPr>
            <a:normAutofit/>
          </a:bodyPr>
          <a:lstStyle/>
          <a:p>
            <a:r>
              <a:rPr lang="de-DE" sz="2800" dirty="0">
                <a:hlinkClick r:id="rId2"/>
              </a:rPr>
              <a:t>#63 </a:t>
            </a:r>
            <a:r>
              <a:rPr lang="de-DE" sz="2800" dirty="0" err="1"/>
              <a:t>Ensure</a:t>
            </a:r>
            <a:r>
              <a:rPr lang="de-DE" sz="2800" dirty="0"/>
              <a:t> Garden Linux </a:t>
            </a:r>
            <a:r>
              <a:rPr lang="de-DE" sz="2800" dirty="0" err="1"/>
              <a:t>is</a:t>
            </a:r>
            <a:r>
              <a:rPr lang="de-DE" sz="2800" dirty="0"/>
              <a:t> </a:t>
            </a:r>
            <a:r>
              <a:rPr lang="de-DE" sz="2800" dirty="0" err="1"/>
              <a:t>listed</a:t>
            </a:r>
            <a:r>
              <a:rPr lang="de-DE" sz="2800" dirty="0"/>
              <a:t> </a:t>
            </a:r>
            <a:r>
              <a:rPr lang="de-DE" sz="2800" dirty="0" err="1"/>
              <a:t>appropriately</a:t>
            </a:r>
            <a:r>
              <a:rPr lang="de-DE" sz="2800" dirty="0"/>
              <a:t> in LFX </a:t>
            </a:r>
            <a:r>
              <a:rPr lang="de-DE" sz="2800" dirty="0" err="1"/>
              <a:t>Insights</a:t>
            </a:r>
            <a:endParaRPr lang="en-US" sz="2800" dirty="0"/>
          </a:p>
        </p:txBody>
      </p:sp>
    </p:spTree>
    <p:extLst>
      <p:ext uri="{BB962C8B-B14F-4D97-AF65-F5344CB8AC3E}">
        <p14:creationId xmlns:p14="http://schemas.microsoft.com/office/powerpoint/2010/main" val="3886990089"/>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0</TotalTime>
  <Words>375</Words>
  <Application>Microsoft Office PowerPoint</Application>
  <PresentationFormat>Widescreen</PresentationFormat>
  <Paragraphs>65</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 (Body)</vt:lpstr>
      <vt:lpstr>Helvetica Neue</vt:lpstr>
      <vt:lpstr>Aptos</vt:lpstr>
      <vt:lpstr>Aptos Display</vt:lpstr>
      <vt:lpstr>Arial</vt:lpstr>
      <vt:lpstr>Cambria Math</vt:lpstr>
      <vt:lpstr>Office Theme</vt:lpstr>
      <vt:lpstr>PowerPoint Presentation</vt:lpstr>
      <vt:lpstr>        KPI Open Issues</vt:lpstr>
      <vt:lpstr>World of Open Source Survey (#66)</vt:lpstr>
      <vt:lpstr>LFX Insights Feasibility (#62)</vt:lpstr>
      <vt:lpstr>Elephant Factor</vt:lpstr>
      <vt:lpstr>PowerPoint Presentation</vt:lpstr>
      <vt:lpstr>Example elephant factors</vt:lpstr>
      <vt:lpstr>How to measure the elephant factor?</vt:lpstr>
      <vt:lpstr>Elephant factor for a repository</vt:lpstr>
      <vt:lpstr>Elephant factor for multiple repositories</vt:lpstr>
      <vt:lpstr>Elephant factor needed work</vt:lpstr>
      <vt:lpstr>Work Items Shown</vt:lpstr>
      <vt:lpstr>Work Items Shown Cont.</vt:lpstr>
      <vt:lpstr>Work Items Shown Cont.</vt:lpstr>
      <vt:lpstr>Honorable Mentions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Scheidemann, Tristan (external - Service)</cp:lastModifiedBy>
  <cp:revision>12</cp:revision>
  <dcterms:created xsi:type="dcterms:W3CDTF">2026-03-04T13:51:43Z</dcterms:created>
  <dcterms:modified xsi:type="dcterms:W3CDTF">2026-09-10T08:57:06Z</dcterms:modified>
</cp:coreProperties>
</file>