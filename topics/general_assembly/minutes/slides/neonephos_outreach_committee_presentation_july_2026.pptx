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327" r:id="rId2"/>
    <p:sldId id="323" r:id="rId3"/>
    <p:sldId id="298" r:id="rId4"/>
    <p:sldId id="329" r:id="rId5"/>
    <p:sldId id="330" r:id="rId6"/>
    <p:sldId id="331" r:id="rId7"/>
    <p:sldId id="271" r:id="rId8"/>
    <p:sldId id="333" r:id="rId9"/>
    <p:sldId id="267" r:id="rId10"/>
    <p:sldId id="335" r:id="rId11"/>
    <p:sldId id="33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AFF"/>
    <a:srgbClr val="F6FBFF"/>
    <a:srgbClr val="A6CAED"/>
    <a:srgbClr val="4F95D9"/>
    <a:srgbClr val="163E64"/>
    <a:srgbClr val="DDEBF8"/>
    <a:srgbClr val="F2F2F2"/>
    <a:srgbClr val="0D5DDF"/>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B2FE44-1BCD-F648-BD0B-A242B2156A66}" v="5" dt="2026-06-16T09:01:51.0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036"/>
    <p:restoredTop sz="94698"/>
  </p:normalViewPr>
  <p:slideViewPr>
    <p:cSldViewPr snapToGrid="0">
      <p:cViewPr varScale="1">
        <p:scale>
          <a:sx n="78" d="100"/>
          <a:sy n="78" d="100"/>
        </p:scale>
        <p:origin x="557"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8D1FFF-3B6F-A440-B2E7-D2C34C2609DB}" type="datetimeFigureOut">
              <a:rPr lang="en-US" smtClean="0"/>
              <a:t>7/3/2026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C7977E-D206-0644-9C2D-F055898E797E}" type="slidenum">
              <a:rPr lang="en-US" smtClean="0"/>
              <a:t>‹#›</a:t>
            </a:fld>
            <a:endParaRPr lang="en-US"/>
          </a:p>
        </p:txBody>
      </p:sp>
    </p:spTree>
    <p:extLst>
      <p:ext uri="{BB962C8B-B14F-4D97-AF65-F5344CB8AC3E}">
        <p14:creationId xmlns:p14="http://schemas.microsoft.com/office/powerpoint/2010/main" val="3338908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de-DE" b="1" dirty="0"/>
              <a:t>THIS SLIDE IS MANDATORY!</a:t>
            </a:r>
            <a:endParaRPr lang="en-US" b="1" dirty="0"/>
          </a:p>
        </p:txBody>
      </p:sp>
    </p:spTree>
    <p:extLst>
      <p:ext uri="{BB962C8B-B14F-4D97-AF65-F5344CB8AC3E}">
        <p14:creationId xmlns:p14="http://schemas.microsoft.com/office/powerpoint/2010/main" val="838490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50797-E692-9132-7DD1-89230CBEE6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252DD1-51E6-EFA5-9DF2-65A9B66CC9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48F133-6347-76E2-80FF-FF26E6443B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A98EC9-886C-19FB-BB4F-0BF7803E3AC1}"/>
              </a:ext>
            </a:extLst>
          </p:cNvPr>
          <p:cNvSpPr>
            <a:spLocks noGrp="1"/>
          </p:cNvSpPr>
          <p:nvPr>
            <p:ph type="sldNum" sz="quarter" idx="5"/>
          </p:nvPr>
        </p:nvSpPr>
        <p:spPr/>
        <p:txBody>
          <a:bodyPr/>
          <a:lstStyle/>
          <a:p>
            <a:fld id="{C2C7977E-D206-0644-9C2D-F055898E797E}" type="slidenum">
              <a:rPr lang="en-US" smtClean="0"/>
              <a:t>3</a:t>
            </a:fld>
            <a:endParaRPr lang="en-US"/>
          </a:p>
        </p:txBody>
      </p:sp>
    </p:spTree>
    <p:extLst>
      <p:ext uri="{BB962C8B-B14F-4D97-AF65-F5344CB8AC3E}">
        <p14:creationId xmlns:p14="http://schemas.microsoft.com/office/powerpoint/2010/main" val="33429598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preserve="1" userDrawn="1">
  <p:cSld name="Title_Slide_1">
    <p:spTree>
      <p:nvGrpSpPr>
        <p:cNvPr id="1" name="Shape 71"/>
        <p:cNvGrpSpPr/>
        <p:nvPr/>
      </p:nvGrpSpPr>
      <p:grpSpPr>
        <a:xfrm>
          <a:off x="0" y="0"/>
          <a:ext cx="0" cy="0"/>
          <a:chOff x="0" y="0"/>
          <a:chExt cx="0" cy="0"/>
        </a:xfrm>
      </p:grpSpPr>
      <p:pic>
        <p:nvPicPr>
          <p:cNvPr id="6" name="Picture 5">
            <a:extLst>
              <a:ext uri="{FF2B5EF4-FFF2-40B4-BE49-F238E27FC236}">
                <a16:creationId xmlns:a16="http://schemas.microsoft.com/office/drawing/2014/main" id="{045436DE-6E80-7615-3C3C-4A3A9CEF6203}"/>
              </a:ext>
            </a:extLst>
          </p:cNvPr>
          <p:cNvPicPr>
            <a:picLocks noChangeAspect="1"/>
          </p:cNvPicPr>
          <p:nvPr userDrawn="1"/>
        </p:nvPicPr>
        <p:blipFill>
          <a:blip r:embed="rId2"/>
          <a:stretch>
            <a:fillRect/>
          </a:stretch>
        </p:blipFill>
        <p:spPr>
          <a:xfrm>
            <a:off x="4039984" y="-981795"/>
            <a:ext cx="9550031" cy="9142859"/>
          </a:xfrm>
          <a:prstGeom prst="rect">
            <a:avLst/>
          </a:prstGeom>
        </p:spPr>
      </p:pic>
      <p:pic>
        <p:nvPicPr>
          <p:cNvPr id="5" name="Picture 4">
            <a:extLst>
              <a:ext uri="{FF2B5EF4-FFF2-40B4-BE49-F238E27FC236}">
                <a16:creationId xmlns:a16="http://schemas.microsoft.com/office/drawing/2014/main" id="{792DD94B-0C76-2431-63F5-379E56E51FA1}"/>
              </a:ext>
            </a:extLst>
          </p:cNvPr>
          <p:cNvPicPr>
            <a:picLocks noChangeAspect="1"/>
          </p:cNvPicPr>
          <p:nvPr userDrawn="1"/>
        </p:nvPicPr>
        <p:blipFill>
          <a:blip r:embed="rId3"/>
          <a:stretch>
            <a:fillRect/>
          </a:stretch>
        </p:blipFill>
        <p:spPr>
          <a:xfrm rot="10800000">
            <a:off x="-19050" y="-19050"/>
            <a:ext cx="1765983" cy="2916849"/>
          </a:xfrm>
          <a:prstGeom prst="rect">
            <a:avLst/>
          </a:prstGeom>
        </p:spPr>
      </p:pic>
      <p:pic>
        <p:nvPicPr>
          <p:cNvPr id="8" name="Picture 7">
            <a:extLst>
              <a:ext uri="{FF2B5EF4-FFF2-40B4-BE49-F238E27FC236}">
                <a16:creationId xmlns:a16="http://schemas.microsoft.com/office/drawing/2014/main" id="{A7B556CE-4A31-7E36-05BE-8DD0DA6BB781}"/>
              </a:ext>
            </a:extLst>
          </p:cNvPr>
          <p:cNvPicPr>
            <a:picLocks noChangeAspect="1"/>
          </p:cNvPicPr>
          <p:nvPr userDrawn="1"/>
        </p:nvPicPr>
        <p:blipFill>
          <a:blip r:embed="rId4"/>
          <a:stretch>
            <a:fillRect/>
          </a:stretch>
        </p:blipFill>
        <p:spPr>
          <a:xfrm>
            <a:off x="3535033" y="2916849"/>
            <a:ext cx="5279967" cy="1024302"/>
          </a:xfrm>
          <a:prstGeom prst="rect">
            <a:avLst/>
          </a:prstGeom>
        </p:spPr>
      </p:pic>
      <p:sp>
        <p:nvSpPr>
          <p:cNvPr id="2" name="Rectangle 1">
            <a:extLst>
              <a:ext uri="{FF2B5EF4-FFF2-40B4-BE49-F238E27FC236}">
                <a16:creationId xmlns:a16="http://schemas.microsoft.com/office/drawing/2014/main" id="{FF3A080A-F28A-C092-7DE0-39B1E62C1550}"/>
              </a:ext>
            </a:extLst>
          </p:cNvPr>
          <p:cNvSpPr/>
          <p:nvPr userDrawn="1"/>
        </p:nvSpPr>
        <p:spPr>
          <a:xfrm>
            <a:off x="11585542" y="6457361"/>
            <a:ext cx="518474" cy="320511"/>
          </a:xfrm>
          <a:prstGeom prst="rect">
            <a:avLst/>
          </a:prstGeom>
          <a:solidFill>
            <a:srgbClr val="F5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2212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_Slide_2">
    <p:spTree>
      <p:nvGrpSpPr>
        <p:cNvPr id="1" name="Shape 71"/>
        <p:cNvGrpSpPr/>
        <p:nvPr/>
      </p:nvGrpSpPr>
      <p:grpSpPr>
        <a:xfrm>
          <a:off x="0" y="0"/>
          <a:ext cx="0" cy="0"/>
          <a:chOff x="0" y="0"/>
          <a:chExt cx="0" cy="0"/>
        </a:xfrm>
      </p:grpSpPr>
      <p:pic>
        <p:nvPicPr>
          <p:cNvPr id="6" name="Picture 5">
            <a:extLst>
              <a:ext uri="{FF2B5EF4-FFF2-40B4-BE49-F238E27FC236}">
                <a16:creationId xmlns:a16="http://schemas.microsoft.com/office/drawing/2014/main" id="{045436DE-6E80-7615-3C3C-4A3A9CEF6203}"/>
              </a:ext>
            </a:extLst>
          </p:cNvPr>
          <p:cNvPicPr>
            <a:picLocks noChangeAspect="1"/>
          </p:cNvPicPr>
          <p:nvPr userDrawn="1"/>
        </p:nvPicPr>
        <p:blipFill>
          <a:blip r:embed="rId2"/>
          <a:stretch>
            <a:fillRect/>
          </a:stretch>
        </p:blipFill>
        <p:spPr>
          <a:xfrm>
            <a:off x="4039985" y="-991222"/>
            <a:ext cx="9550031" cy="9142859"/>
          </a:xfrm>
          <a:prstGeom prst="rect">
            <a:avLst/>
          </a:prstGeom>
        </p:spPr>
      </p:pic>
      <p:sp>
        <p:nvSpPr>
          <p:cNvPr id="11" name="Title 4">
            <a:extLst>
              <a:ext uri="{FF2B5EF4-FFF2-40B4-BE49-F238E27FC236}">
                <a16:creationId xmlns:a16="http://schemas.microsoft.com/office/drawing/2014/main" id="{F32F4B2D-93E1-FC02-8ACE-BEB798D2A3EA}"/>
              </a:ext>
            </a:extLst>
          </p:cNvPr>
          <p:cNvSpPr>
            <a:spLocks noGrp="1"/>
          </p:cNvSpPr>
          <p:nvPr>
            <p:ph type="title" hasCustomPrompt="1"/>
          </p:nvPr>
        </p:nvSpPr>
        <p:spPr>
          <a:xfrm>
            <a:off x="372690" y="2766218"/>
            <a:ext cx="10515600" cy="1325563"/>
          </a:xfrm>
        </p:spPr>
        <p:txBody>
          <a:bodyPr/>
          <a:lstStyle>
            <a:lvl1pPr>
              <a:defRPr sz="4500" b="1">
                <a:solidFill>
                  <a:schemeClr val="tx1"/>
                </a:solidFill>
              </a:defRPr>
            </a:lvl1pPr>
          </a:lstStyle>
          <a:p>
            <a:r>
              <a:rPr lang="en-US" dirty="0"/>
              <a:t>Header</a:t>
            </a:r>
          </a:p>
        </p:txBody>
      </p:sp>
      <p:pic>
        <p:nvPicPr>
          <p:cNvPr id="13" name="Picture 12">
            <a:extLst>
              <a:ext uri="{FF2B5EF4-FFF2-40B4-BE49-F238E27FC236}">
                <a16:creationId xmlns:a16="http://schemas.microsoft.com/office/drawing/2014/main" id="{1BEBDAEE-DF6C-1A40-7449-6211232D98D5}"/>
              </a:ext>
            </a:extLst>
          </p:cNvPr>
          <p:cNvPicPr>
            <a:picLocks noChangeAspect="1"/>
          </p:cNvPicPr>
          <p:nvPr userDrawn="1"/>
        </p:nvPicPr>
        <p:blipFill>
          <a:blip r:embed="rId3"/>
          <a:stretch>
            <a:fillRect/>
          </a:stretch>
        </p:blipFill>
        <p:spPr>
          <a:xfrm>
            <a:off x="472440" y="596850"/>
            <a:ext cx="5279967" cy="1024302"/>
          </a:xfrm>
          <a:prstGeom prst="rect">
            <a:avLst/>
          </a:prstGeom>
        </p:spPr>
      </p:pic>
      <p:sp>
        <p:nvSpPr>
          <p:cNvPr id="2" name="Rectangle 1">
            <a:extLst>
              <a:ext uri="{FF2B5EF4-FFF2-40B4-BE49-F238E27FC236}">
                <a16:creationId xmlns:a16="http://schemas.microsoft.com/office/drawing/2014/main" id="{5614898B-58D1-91AA-5C09-0BF1F3E2385B}"/>
              </a:ext>
            </a:extLst>
          </p:cNvPr>
          <p:cNvSpPr/>
          <p:nvPr userDrawn="1"/>
        </p:nvSpPr>
        <p:spPr>
          <a:xfrm>
            <a:off x="11585542" y="6457361"/>
            <a:ext cx="518474" cy="320511"/>
          </a:xfrm>
          <a:prstGeom prst="rect">
            <a:avLst/>
          </a:prstGeom>
          <a:solidFill>
            <a:srgbClr val="F5F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1058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reserve="1" userDrawn="1">
  <p:cSld name="Overview_Slide">
    <p:spTree>
      <p:nvGrpSpPr>
        <p:cNvPr id="1" name="Shape 71"/>
        <p:cNvGrpSpPr/>
        <p:nvPr/>
      </p:nvGrpSpPr>
      <p:grpSpPr>
        <a:xfrm>
          <a:off x="0" y="0"/>
          <a:ext cx="0" cy="0"/>
          <a:chOff x="0" y="0"/>
          <a:chExt cx="0" cy="0"/>
        </a:xfrm>
      </p:grpSpPr>
      <p:pic>
        <p:nvPicPr>
          <p:cNvPr id="6" name="Picture 5">
            <a:extLst>
              <a:ext uri="{FF2B5EF4-FFF2-40B4-BE49-F238E27FC236}">
                <a16:creationId xmlns:a16="http://schemas.microsoft.com/office/drawing/2014/main" id="{045436DE-6E80-7615-3C3C-4A3A9CEF6203}"/>
              </a:ext>
            </a:extLst>
          </p:cNvPr>
          <p:cNvPicPr>
            <a:picLocks noChangeAspect="1"/>
          </p:cNvPicPr>
          <p:nvPr userDrawn="1"/>
        </p:nvPicPr>
        <p:blipFill>
          <a:blip r:embed="rId2"/>
          <a:stretch>
            <a:fillRect/>
          </a:stretch>
        </p:blipFill>
        <p:spPr>
          <a:xfrm>
            <a:off x="4039985" y="-991222"/>
            <a:ext cx="9550031" cy="9142859"/>
          </a:xfrm>
          <a:prstGeom prst="rect">
            <a:avLst/>
          </a:prstGeom>
        </p:spPr>
      </p:pic>
      <p:sp>
        <p:nvSpPr>
          <p:cNvPr id="10" name="TextBox 9">
            <a:extLst>
              <a:ext uri="{FF2B5EF4-FFF2-40B4-BE49-F238E27FC236}">
                <a16:creationId xmlns:a16="http://schemas.microsoft.com/office/drawing/2014/main" id="{F5E3F22A-A2A0-9978-F276-5EBF31E02740}"/>
              </a:ext>
            </a:extLst>
          </p:cNvPr>
          <p:cNvSpPr txBox="1"/>
          <p:nvPr userDrawn="1"/>
        </p:nvSpPr>
        <p:spPr>
          <a:xfrm>
            <a:off x="418237" y="2739252"/>
            <a:ext cx="11435713" cy="1246495"/>
          </a:xfrm>
          <a:prstGeom prst="rect">
            <a:avLst/>
          </a:prstGeom>
          <a:noFill/>
        </p:spPr>
        <p:txBody>
          <a:bodyPr wrap="square">
            <a:spAutoFit/>
          </a:bodyPr>
          <a:lstStyle/>
          <a:p>
            <a:r>
              <a:rPr lang="en-US" sz="2500" b="1" dirty="0" err="1">
                <a:solidFill>
                  <a:schemeClr val="tx1"/>
                </a:solidFill>
              </a:rPr>
              <a:t>NeoNephos</a:t>
            </a:r>
            <a:r>
              <a:rPr lang="en-US" sz="2500" b="1" dirty="0">
                <a:solidFill>
                  <a:schemeClr val="tx1"/>
                </a:solidFill>
              </a:rPr>
              <a:t> is building a community-driven, </a:t>
            </a:r>
          </a:p>
          <a:p>
            <a:r>
              <a:rPr lang="en-US" sz="2500" b="1" dirty="0">
                <a:solidFill>
                  <a:schemeClr val="tx1"/>
                </a:solidFill>
              </a:rPr>
              <a:t>open cloud-native stack to strengthen European digital sovereignty</a:t>
            </a:r>
          </a:p>
          <a:p>
            <a:r>
              <a:rPr lang="en-US" sz="2500" b="1" dirty="0">
                <a:solidFill>
                  <a:schemeClr val="tx1"/>
                </a:solidFill>
              </a:rPr>
              <a:t>by connecting open source building blocks into interoperable platforms.</a:t>
            </a:r>
          </a:p>
        </p:txBody>
      </p:sp>
    </p:spTree>
    <p:extLst>
      <p:ext uri="{BB962C8B-B14F-4D97-AF65-F5344CB8AC3E}">
        <p14:creationId xmlns:p14="http://schemas.microsoft.com/office/powerpoint/2010/main" val="1367580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Layout_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7471781"/>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_Layout_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1FEDEA-C53E-237C-33A9-B0566BAF0D31}"/>
              </a:ext>
            </a:extLst>
          </p:cNvPr>
          <p:cNvSpPr>
            <a:spLocks noGrp="1"/>
          </p:cNvSpPr>
          <p:nvPr>
            <p:ph type="title"/>
          </p:nvPr>
        </p:nvSpPr>
        <p:spPr>
          <a:xfrm>
            <a:off x="472440" y="422179"/>
            <a:ext cx="10515600" cy="1325563"/>
          </a:xfrm>
        </p:spPr>
        <p:txBody>
          <a:bodyPr/>
          <a:lstStyle>
            <a:lvl1pPr>
              <a:defRPr sz="3500" b="1"/>
            </a:lvl1pPr>
          </a:lstStyle>
          <a:p>
            <a:r>
              <a:rPr lang="en-US" dirty="0"/>
              <a:t>Click to edit Master title style</a:t>
            </a:r>
          </a:p>
        </p:txBody>
      </p:sp>
      <p:sp>
        <p:nvSpPr>
          <p:cNvPr id="13" name="Text Placeholder 12">
            <a:extLst>
              <a:ext uri="{FF2B5EF4-FFF2-40B4-BE49-F238E27FC236}">
                <a16:creationId xmlns:a16="http://schemas.microsoft.com/office/drawing/2014/main" id="{50A5EA23-8703-E23F-EEEF-C0DFCAEDD952}"/>
              </a:ext>
            </a:extLst>
          </p:cNvPr>
          <p:cNvSpPr>
            <a:spLocks noGrp="1"/>
          </p:cNvSpPr>
          <p:nvPr>
            <p:ph type="body" sz="quarter" idx="13"/>
          </p:nvPr>
        </p:nvSpPr>
        <p:spPr>
          <a:xfrm>
            <a:off x="472440" y="2000250"/>
            <a:ext cx="8477921" cy="2786903"/>
          </a:xfrm>
        </p:spPr>
        <p:txBody>
          <a:bodyPr/>
          <a:lstStyle>
            <a:lvl1pPr>
              <a:defRPr sz="1700"/>
            </a:lvl1pPr>
            <a:lvl2pPr>
              <a:defRPr sz="1700"/>
            </a:lvl2pPr>
            <a:lvl3pPr>
              <a:defRPr sz="1700"/>
            </a:lvl3pPr>
            <a:lvl4pPr>
              <a:defRPr sz="1700"/>
            </a:lvl4pPr>
            <a:lvl5pP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47005617"/>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ide_Layout_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DA5FE76-B074-AC25-5DC3-6FDB69E6FFAC}"/>
              </a:ext>
            </a:extLst>
          </p:cNvPr>
          <p:cNvPicPr>
            <a:picLocks noChangeAspect="1"/>
          </p:cNvPicPr>
          <p:nvPr userDrawn="1"/>
        </p:nvPicPr>
        <p:blipFill>
          <a:blip r:embed="rId2"/>
          <a:stretch>
            <a:fillRect/>
          </a:stretch>
        </p:blipFill>
        <p:spPr>
          <a:xfrm>
            <a:off x="10587568" y="204257"/>
            <a:ext cx="1363133" cy="210613"/>
          </a:xfrm>
          <a:prstGeom prst="rect">
            <a:avLst/>
          </a:prstGeom>
        </p:spPr>
      </p:pic>
      <p:sp>
        <p:nvSpPr>
          <p:cNvPr id="10" name="Title 4">
            <a:extLst>
              <a:ext uri="{FF2B5EF4-FFF2-40B4-BE49-F238E27FC236}">
                <a16:creationId xmlns:a16="http://schemas.microsoft.com/office/drawing/2014/main" id="{43A44832-25A2-7EAC-F9D1-3DCCA88EAD65}"/>
              </a:ext>
            </a:extLst>
          </p:cNvPr>
          <p:cNvSpPr>
            <a:spLocks noGrp="1"/>
          </p:cNvSpPr>
          <p:nvPr>
            <p:ph type="title"/>
          </p:nvPr>
        </p:nvSpPr>
        <p:spPr>
          <a:xfrm>
            <a:off x="472440" y="422179"/>
            <a:ext cx="10515600" cy="1325563"/>
          </a:xfrm>
        </p:spPr>
        <p:txBody>
          <a:bodyPr/>
          <a:lstStyle>
            <a:lvl1pPr>
              <a:defRPr sz="3500" b="1"/>
            </a:lvl1pPr>
          </a:lstStyle>
          <a:p>
            <a:r>
              <a:rPr lang="en-US" dirty="0"/>
              <a:t>Click to edit Master title style</a:t>
            </a:r>
          </a:p>
        </p:txBody>
      </p:sp>
      <p:sp>
        <p:nvSpPr>
          <p:cNvPr id="11" name="Text Placeholder 12">
            <a:extLst>
              <a:ext uri="{FF2B5EF4-FFF2-40B4-BE49-F238E27FC236}">
                <a16:creationId xmlns:a16="http://schemas.microsoft.com/office/drawing/2014/main" id="{7A5B37CB-99A6-4864-8E03-C6C476C8FC63}"/>
              </a:ext>
            </a:extLst>
          </p:cNvPr>
          <p:cNvSpPr>
            <a:spLocks noGrp="1"/>
          </p:cNvSpPr>
          <p:nvPr>
            <p:ph type="body" sz="quarter" idx="13"/>
          </p:nvPr>
        </p:nvSpPr>
        <p:spPr>
          <a:xfrm>
            <a:off x="472441" y="2000250"/>
            <a:ext cx="4949414" cy="2786903"/>
          </a:xfrm>
        </p:spPr>
        <p:txBody>
          <a:bodyPr/>
          <a:lstStyle>
            <a:lvl1pPr>
              <a:defRPr sz="1700"/>
            </a:lvl1pPr>
            <a:lvl2pPr>
              <a:defRPr sz="1700"/>
            </a:lvl2pPr>
            <a:lvl3pPr>
              <a:defRPr sz="1700"/>
            </a:lvl3pPr>
            <a:lvl4pPr>
              <a:defRPr sz="1700"/>
            </a:lvl4pPr>
            <a:lvl5pP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Online Image Placeholder 2">
            <a:extLst>
              <a:ext uri="{FF2B5EF4-FFF2-40B4-BE49-F238E27FC236}">
                <a16:creationId xmlns:a16="http://schemas.microsoft.com/office/drawing/2014/main" id="{F937125C-C78E-AD2D-5B30-8D28297C0578}"/>
              </a:ext>
            </a:extLst>
          </p:cNvPr>
          <p:cNvSpPr>
            <a:spLocks noGrp="1"/>
          </p:cNvSpPr>
          <p:nvPr>
            <p:ph type="clipArt" sz="quarter" idx="14"/>
          </p:nvPr>
        </p:nvSpPr>
        <p:spPr>
          <a:xfrm>
            <a:off x="5765800" y="1979613"/>
            <a:ext cx="6056313" cy="4119562"/>
          </a:xfrm>
        </p:spPr>
        <p:txBody>
          <a:bodyPr/>
          <a:lstStyle/>
          <a:p>
            <a:endParaRPr lang="en-US"/>
          </a:p>
        </p:txBody>
      </p:sp>
    </p:spTree>
    <p:extLst>
      <p:ext uri="{BB962C8B-B14F-4D97-AF65-F5344CB8AC3E}">
        <p14:creationId xmlns:p14="http://schemas.microsoft.com/office/powerpoint/2010/main" val="3840407236"/>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preserve="1" userDrawn="1">
  <p:cSld name="Antitrust Policy Notice">
    <p:spTree>
      <p:nvGrpSpPr>
        <p:cNvPr id="1" name="Shape 71"/>
        <p:cNvGrpSpPr/>
        <p:nvPr/>
      </p:nvGrpSpPr>
      <p:grpSpPr>
        <a:xfrm>
          <a:off x="0" y="0"/>
          <a:ext cx="0" cy="0"/>
          <a:chOff x="0" y="0"/>
          <a:chExt cx="0" cy="0"/>
        </a:xfrm>
      </p:grpSpPr>
      <p:sp>
        <p:nvSpPr>
          <p:cNvPr id="2" name="Title Placeholder 10">
            <a:extLst>
              <a:ext uri="{FF2B5EF4-FFF2-40B4-BE49-F238E27FC236}">
                <a16:creationId xmlns:a16="http://schemas.microsoft.com/office/drawing/2014/main" id="{EFFD25E4-85F5-21A8-508C-39721715B4F3}"/>
              </a:ext>
            </a:extLst>
          </p:cNvPr>
          <p:cNvSpPr>
            <a:spLocks noGrp="1"/>
          </p:cNvSpPr>
          <p:nvPr>
            <p:ph type="title"/>
          </p:nvPr>
        </p:nvSpPr>
        <p:spPr>
          <a:xfrm>
            <a:off x="838200" y="366185"/>
            <a:ext cx="10515600" cy="1325033"/>
          </a:xfrm>
          <a:prstGeom prst="rect">
            <a:avLst/>
          </a:prstGeom>
        </p:spPr>
        <p:txBody>
          <a:bodyPr vert="horz" lIns="91440" tIns="45720" rIns="91440" bIns="45720" rtlCol="0" anchor="ctr">
            <a:normAutofit/>
          </a:bodyPr>
          <a:lstStyle/>
          <a:p>
            <a:r>
              <a:rPr lang="de-DE" dirty="0">
                <a:latin typeface="Aptos (Body)"/>
              </a:rPr>
              <a:t>Antitrust Policy </a:t>
            </a:r>
            <a:r>
              <a:rPr lang="de-DE" dirty="0" err="1">
                <a:latin typeface="Aptos (Body)"/>
              </a:rPr>
              <a:t>Notice</a:t>
            </a:r>
            <a:endParaRPr lang="en-US" dirty="0">
              <a:latin typeface="Aptos (Body)"/>
            </a:endParaRPr>
          </a:p>
        </p:txBody>
      </p:sp>
      <p:sp>
        <p:nvSpPr>
          <p:cNvPr id="4" name="Text Placeholder 11">
            <a:extLst>
              <a:ext uri="{FF2B5EF4-FFF2-40B4-BE49-F238E27FC236}">
                <a16:creationId xmlns:a16="http://schemas.microsoft.com/office/drawing/2014/main" id="{A9F27D20-B363-4C64-CAA5-B595D7014FE3}"/>
              </a:ext>
            </a:extLst>
          </p:cNvPr>
          <p:cNvSpPr>
            <a:spLocks noGrp="1"/>
          </p:cNvSpPr>
          <p:nvPr>
            <p:ph idx="1" hasCustomPrompt="1"/>
          </p:nvPr>
        </p:nvSpPr>
        <p:spPr>
          <a:xfrm>
            <a:off x="838200" y="1826684"/>
            <a:ext cx="10515600" cy="4349749"/>
          </a:xfrm>
          <a:prstGeom prst="rect">
            <a:avLst/>
          </a:prstGeom>
        </p:spPr>
        <p:txBody>
          <a:bodyPr vert="horz" lIns="91440" tIns="45720" rIns="91440" bIns="45720" rtlCol="0">
            <a:normAutofit/>
          </a:bodyPr>
          <a:lstStyle>
            <a:lvl1pPr>
              <a:defRPr sz="2000"/>
            </a:lvl1pPr>
          </a:lstStyle>
          <a:p>
            <a:pPr marL="237061" lvl="0" indent="-237061">
              <a:lnSpc>
                <a:spcPct val="90000"/>
              </a:lnSpc>
              <a:buClr>
                <a:srgbClr val="168FDF"/>
              </a:buClr>
              <a:buSzPts val="1700"/>
              <a:buFont typeface="Helvetica Neue"/>
              <a:buChar char="›"/>
            </a:pPr>
            <a:r>
              <a:rPr lang="en-US" dirty="0">
                <a:solidFill>
                  <a:srgbClr val="2F2F2F"/>
                </a:solidFill>
                <a:latin typeface="+mn-lt"/>
                <a:ea typeface="Gill Sans"/>
                <a:cs typeface="Gill Sans"/>
                <a:sym typeface="Gill Sans"/>
              </a:rPr>
              <a:t>Linux Foundation Europe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endParaRPr lang="en-US" dirty="0">
              <a:latin typeface="+mn-lt"/>
            </a:endParaRPr>
          </a:p>
          <a:p>
            <a:pPr marL="237061" lvl="0" indent="-101597">
              <a:lnSpc>
                <a:spcPct val="90000"/>
              </a:lnSpc>
              <a:spcBef>
                <a:spcPts val="1067"/>
              </a:spcBef>
              <a:buClr>
                <a:srgbClr val="168FDF"/>
              </a:buClr>
              <a:buSzPts val="1700"/>
              <a:buNone/>
            </a:pPr>
            <a:endParaRPr lang="en-US" dirty="0">
              <a:solidFill>
                <a:srgbClr val="2F2F2F"/>
              </a:solidFill>
              <a:latin typeface="+mn-lt"/>
              <a:ea typeface="Gill Sans"/>
              <a:cs typeface="Gill Sans"/>
              <a:sym typeface="Gill Sans"/>
            </a:endParaRPr>
          </a:p>
          <a:p>
            <a:pPr marL="237061" lvl="0" indent="-237061">
              <a:lnSpc>
                <a:spcPct val="90000"/>
              </a:lnSpc>
              <a:spcBef>
                <a:spcPts val="1067"/>
              </a:spcBef>
              <a:buClr>
                <a:srgbClr val="168FDF"/>
              </a:buClr>
              <a:buSzPts val="1700"/>
              <a:buFont typeface="Helvetica Neue"/>
              <a:buChar char="›"/>
            </a:pPr>
            <a:r>
              <a:rPr lang="en-US" dirty="0">
                <a:solidFill>
                  <a:srgbClr val="2F2F2F"/>
                </a:solidFill>
                <a:latin typeface="+mn-lt"/>
                <a:ea typeface="Gill Sans"/>
                <a:cs typeface="Gill Sans"/>
                <a:sym typeface="Gill Sans"/>
              </a:rPr>
              <a:t>Examples of types of actions that are prohibited at Linux Foundation Europe meetings and in connection with Linux Foundation activities are described in the Linux Foundation Antitrust Policy available at http://www.linuxfoundation.eu/antitrust-policy. If you have questions about these matters, please contact your company counsel, or if you are a member of the Linux Foundation, feel free to contact Andrew Updegrove of the firm of </a:t>
            </a:r>
            <a:r>
              <a:rPr lang="en-US" dirty="0" err="1">
                <a:solidFill>
                  <a:srgbClr val="2F2F2F"/>
                </a:solidFill>
                <a:latin typeface="+mn-lt"/>
                <a:ea typeface="Gill Sans"/>
                <a:cs typeface="Gill Sans"/>
                <a:sym typeface="Gill Sans"/>
              </a:rPr>
              <a:t>Gesmer</a:t>
            </a:r>
            <a:r>
              <a:rPr lang="en-US" dirty="0">
                <a:solidFill>
                  <a:srgbClr val="2F2F2F"/>
                </a:solidFill>
                <a:latin typeface="+mn-lt"/>
                <a:ea typeface="Gill Sans"/>
                <a:cs typeface="Gill Sans"/>
                <a:sym typeface="Gill Sans"/>
              </a:rPr>
              <a:t> Updegrove LLP, which provides legal counsel to the Linux Foundation.</a:t>
            </a:r>
          </a:p>
          <a:p>
            <a:endParaRPr lang="en-US" dirty="0">
              <a:latin typeface="+mn-lt"/>
            </a:endParaRPr>
          </a:p>
        </p:txBody>
      </p:sp>
    </p:spTree>
    <p:extLst>
      <p:ext uri="{BB962C8B-B14F-4D97-AF65-F5344CB8AC3E}">
        <p14:creationId xmlns:p14="http://schemas.microsoft.com/office/powerpoint/2010/main" val="317045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B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E5E68F-7363-B619-9AC9-2278C85727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BC0930-17C5-4459-B4C2-B7CE7D15EF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14">
            <a:extLst>
              <a:ext uri="{FF2B5EF4-FFF2-40B4-BE49-F238E27FC236}">
                <a16:creationId xmlns:a16="http://schemas.microsoft.com/office/drawing/2014/main" id="{CD2DE044-AC67-7A79-E25C-2A5B794BB26E}"/>
              </a:ext>
            </a:extLst>
          </p:cNvPr>
          <p:cNvSpPr txBox="1">
            <a:spLocks/>
          </p:cNvSpPr>
          <p:nvPr userDrawn="1"/>
        </p:nvSpPr>
        <p:spPr>
          <a:xfrm>
            <a:off x="9281410" y="6405114"/>
            <a:ext cx="2743200" cy="366183"/>
          </a:xfrm>
          <a:prstGeom prst="rect">
            <a:avLst/>
          </a:prstGeom>
        </p:spPr>
        <p:txBody>
          <a:bodyPr vert="horz" lIns="91440" tIns="45720" rIns="91440" bIns="45720" rtlCol="0" anchor="ctr"/>
          <a:lstStyle>
            <a:defPPr>
              <a:defRPr lang="en-US"/>
            </a:defPPr>
            <a:lvl1pPr marL="0" algn="r" defTabSz="914400" rtl="0" eaLnBrk="1" latinLnBrk="0" hangingPunct="1">
              <a:defRPr sz="1600" kern="1200">
                <a:solidFill>
                  <a:schemeClr val="tx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700545B-079F-47D2-8F5A-321B676D00E3}" type="slidenum">
              <a:rPr lang="en-US" smtClean="0"/>
              <a:pPr algn="r"/>
              <a:t>‹#›</a:t>
            </a:fld>
            <a:endParaRPr lang="en-US" dirty="0"/>
          </a:p>
        </p:txBody>
      </p:sp>
      <p:pic>
        <p:nvPicPr>
          <p:cNvPr id="6" name="Picture 5">
            <a:extLst>
              <a:ext uri="{FF2B5EF4-FFF2-40B4-BE49-F238E27FC236}">
                <a16:creationId xmlns:a16="http://schemas.microsoft.com/office/drawing/2014/main" id="{F03E2D11-CE84-B939-1371-D5FA438B754B}"/>
              </a:ext>
            </a:extLst>
          </p:cNvPr>
          <p:cNvPicPr>
            <a:picLocks noChangeAspect="1"/>
          </p:cNvPicPr>
          <p:nvPr userDrawn="1"/>
        </p:nvPicPr>
        <p:blipFill>
          <a:blip r:embed="rId9"/>
          <a:stretch>
            <a:fillRect/>
          </a:stretch>
        </p:blipFill>
        <p:spPr>
          <a:xfrm>
            <a:off x="5919032" y="6452934"/>
            <a:ext cx="353935" cy="303373"/>
          </a:xfrm>
          <a:prstGeom prst="rect">
            <a:avLst/>
          </a:prstGeom>
        </p:spPr>
      </p:pic>
    </p:spTree>
    <p:extLst>
      <p:ext uri="{BB962C8B-B14F-4D97-AF65-F5344CB8AC3E}">
        <p14:creationId xmlns:p14="http://schemas.microsoft.com/office/powerpoint/2010/main" val="3501908557"/>
      </p:ext>
    </p:extLst>
  </p:cSld>
  <p:clrMap bg1="lt1" tx1="dk1" bg2="lt2" tx2="dk2" accent1="accent1" accent2="accent2" accent3="accent3" accent4="accent4" accent5="accent5" accent6="accent6" hlink="hlink" folHlink="folHlink"/>
  <p:sldLayoutIdLst>
    <p:sldLayoutId id="2147483673" r:id="rId1"/>
    <p:sldLayoutId id="2147483660" r:id="rId2"/>
    <p:sldLayoutId id="2147483670" r:id="rId3"/>
    <p:sldLayoutId id="2147483649" r:id="rId4"/>
    <p:sldLayoutId id="2147483663" r:id="rId5"/>
    <p:sldLayoutId id="2147483650" r:id="rId6"/>
    <p:sldLayoutId id="2147483669" r:id="rId7"/>
  </p:sldLayoutIdLst>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hyperlink" Target="https://linuxfoundation.zulipchat.com/#narrow/channel/581518-neonephos-wg-outreach-committee/topic/Ambassador.20Program/near/606249058" TargetMode="Externa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github.com/neonephos/outreach/blob/outreach-committee-playbook/documents/outreach_committee_playbook/social_media/social_media.md" TargetMode="Externa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3098DE-DA7A-3E13-E393-D9BEE5480787}"/>
              </a:ext>
            </a:extLst>
          </p:cNvPr>
          <p:cNvSpPr txBox="1"/>
          <p:nvPr/>
        </p:nvSpPr>
        <p:spPr>
          <a:xfrm>
            <a:off x="3431689" y="4389120"/>
            <a:ext cx="7347473" cy="584775"/>
          </a:xfrm>
          <a:prstGeom prst="rect">
            <a:avLst/>
          </a:prstGeom>
          <a:noFill/>
        </p:spPr>
        <p:txBody>
          <a:bodyPr wrap="square" rtlCol="0">
            <a:spAutoFit/>
          </a:bodyPr>
          <a:lstStyle/>
          <a:p>
            <a:r>
              <a:rPr lang="de-DE" sz="3200" b="1" dirty="0"/>
              <a:t>Outreach Committee Meeting </a:t>
            </a:r>
            <a:r>
              <a:rPr lang="de-DE" sz="3200" b="1" dirty="0" err="1"/>
              <a:t>July</a:t>
            </a:r>
            <a:endParaRPr lang="en-US" sz="3200" b="1" dirty="0"/>
          </a:p>
        </p:txBody>
      </p:sp>
    </p:spTree>
    <p:extLst>
      <p:ext uri="{BB962C8B-B14F-4D97-AF65-F5344CB8AC3E}">
        <p14:creationId xmlns:p14="http://schemas.microsoft.com/office/powerpoint/2010/main" val="179628148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Placeholder 10">
            <a:extLst>
              <a:ext uri="{FF2B5EF4-FFF2-40B4-BE49-F238E27FC236}">
                <a16:creationId xmlns:a16="http://schemas.microsoft.com/office/drawing/2014/main" id="{12D4DBC8-5D37-795E-D124-E3E72F80C7F8}"/>
              </a:ext>
            </a:extLst>
          </p:cNvPr>
          <p:cNvSpPr>
            <a:spLocks noGrp="1"/>
          </p:cNvSpPr>
          <p:nvPr>
            <p:ph type="title"/>
          </p:nvPr>
        </p:nvSpPr>
        <p:spPr>
          <a:xfrm>
            <a:off x="838200" y="366185"/>
            <a:ext cx="10515600" cy="1325033"/>
          </a:xfrm>
          <a:prstGeom prst="rect">
            <a:avLst/>
          </a:prstGeom>
        </p:spPr>
        <p:txBody>
          <a:bodyPr vert="horz" lIns="121920" tIns="60960" rIns="121920" bIns="60960" rtlCol="0" anchor="ctr">
            <a:normAutofit/>
          </a:bodyPr>
          <a:lstStyle/>
          <a:p>
            <a:r>
              <a:rPr lang="de-DE" dirty="0">
                <a:solidFill>
                  <a:schemeClr val="tx1"/>
                </a:solidFill>
                <a:latin typeface="Aptos (Body)"/>
              </a:rPr>
              <a:t>Antitrust Policy Notice</a:t>
            </a:r>
            <a:endParaRPr lang="en-US" dirty="0">
              <a:solidFill>
                <a:schemeClr val="tx1"/>
              </a:solidFill>
              <a:latin typeface="Aptos (Body)"/>
            </a:endParaRPr>
          </a:p>
        </p:txBody>
      </p:sp>
      <p:sp>
        <p:nvSpPr>
          <p:cNvPr id="6" name="Text Placeholder 11">
            <a:extLst>
              <a:ext uri="{FF2B5EF4-FFF2-40B4-BE49-F238E27FC236}">
                <a16:creationId xmlns:a16="http://schemas.microsoft.com/office/drawing/2014/main" id="{F50BB901-D4AA-19A6-C756-1EA5F03397DA}"/>
              </a:ext>
            </a:extLst>
          </p:cNvPr>
          <p:cNvSpPr>
            <a:spLocks noGrp="1"/>
          </p:cNvSpPr>
          <p:nvPr>
            <p:ph idx="4294967295"/>
          </p:nvPr>
        </p:nvSpPr>
        <p:spPr>
          <a:xfrm>
            <a:off x="838200" y="1826684"/>
            <a:ext cx="10515600" cy="4349749"/>
          </a:xfrm>
          <a:prstGeom prst="rect">
            <a:avLst/>
          </a:prstGeom>
        </p:spPr>
        <p:txBody>
          <a:bodyPr vert="horz" lIns="121920" tIns="60960" rIns="121920" bIns="60960" rtlCol="0">
            <a:normAutofit fontScale="85000" lnSpcReduction="20000"/>
          </a:bodyPr>
          <a:lstStyle/>
          <a:p>
            <a:pPr marL="237061" indent="-237061">
              <a:buClr>
                <a:srgbClr val="168FDF"/>
              </a:buClr>
              <a:buSzPts val="1700"/>
              <a:buFont typeface="Helvetica Neue"/>
              <a:buChar char="›"/>
            </a:pPr>
            <a:r>
              <a:rPr lang="en-US" dirty="0">
                <a:solidFill>
                  <a:srgbClr val="2F2F2F"/>
                </a:solidFill>
                <a:latin typeface="+mn-lt"/>
                <a:ea typeface="Gill Sans"/>
                <a:cs typeface="Gill Sans"/>
                <a:sym typeface="Gill Sans"/>
              </a:rPr>
              <a:t>Linux Foundation Europe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endParaRPr lang="en-US" dirty="0">
              <a:latin typeface="+mn-lt"/>
            </a:endParaRPr>
          </a:p>
          <a:p>
            <a:pPr marL="237061" indent="-101597">
              <a:spcBef>
                <a:spcPts val="1067"/>
              </a:spcBef>
              <a:buClr>
                <a:srgbClr val="168FDF"/>
              </a:buClr>
              <a:buSzPts val="1700"/>
              <a:buNone/>
            </a:pPr>
            <a:endParaRPr lang="en-US" dirty="0">
              <a:solidFill>
                <a:srgbClr val="2F2F2F"/>
              </a:solidFill>
              <a:latin typeface="+mn-lt"/>
              <a:ea typeface="Gill Sans"/>
              <a:cs typeface="Gill Sans"/>
              <a:sym typeface="Gill Sans"/>
            </a:endParaRPr>
          </a:p>
          <a:p>
            <a:pPr marL="237061" indent="-237061">
              <a:spcBef>
                <a:spcPts val="1067"/>
              </a:spcBef>
              <a:buClr>
                <a:srgbClr val="168FDF"/>
              </a:buClr>
              <a:buSzPts val="1700"/>
              <a:buFont typeface="Helvetica Neue"/>
              <a:buChar char="›"/>
            </a:pPr>
            <a:r>
              <a:rPr lang="en-US" dirty="0">
                <a:solidFill>
                  <a:srgbClr val="2F2F2F"/>
                </a:solidFill>
                <a:latin typeface="+mn-lt"/>
                <a:ea typeface="Gill Sans"/>
                <a:cs typeface="Gill Sans"/>
                <a:sym typeface="Gill Sans"/>
              </a:rPr>
              <a:t>Examples of types of actions that are prohibited at Linux Foundation Europe meetings and in connection with Linux Foundation activities are described in the Linux Foundation Antitrust Policy available at http://www.linuxfoundation.eu/antitrust-policy. If you have questions about these matters, please contact your company counsel, or if you are a member of the Linux Foundation, feel free to contact Andrew Updegrove of the firm of </a:t>
            </a:r>
            <a:r>
              <a:rPr lang="en-US" dirty="0" err="1">
                <a:solidFill>
                  <a:srgbClr val="2F2F2F"/>
                </a:solidFill>
                <a:latin typeface="+mn-lt"/>
                <a:ea typeface="Gill Sans"/>
                <a:cs typeface="Gill Sans"/>
                <a:sym typeface="Gill Sans"/>
              </a:rPr>
              <a:t>Gesmer</a:t>
            </a:r>
            <a:r>
              <a:rPr lang="en-US" dirty="0">
                <a:solidFill>
                  <a:srgbClr val="2F2F2F"/>
                </a:solidFill>
                <a:latin typeface="+mn-lt"/>
                <a:ea typeface="Gill Sans"/>
                <a:cs typeface="Gill Sans"/>
                <a:sym typeface="Gill Sans"/>
              </a:rPr>
              <a:t> Updegrove LLP, which provides legal counsel to the Linux Foundation.</a:t>
            </a:r>
          </a:p>
          <a:p>
            <a:endParaRPr lang="en-US" dirty="0">
              <a:latin typeface="+mn-lt"/>
            </a:endParaRPr>
          </a:p>
        </p:txBody>
      </p:sp>
    </p:spTree>
    <p:extLst>
      <p:ext uri="{BB962C8B-B14F-4D97-AF65-F5344CB8AC3E}">
        <p14:creationId xmlns:p14="http://schemas.microsoft.com/office/powerpoint/2010/main" val="88060158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6A11F-5FFC-4256-3751-F97712425F75}"/>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0D2C1EDB-5F77-735E-25D0-C555E43FD13E}"/>
              </a:ext>
            </a:extLst>
          </p:cNvPr>
          <p:cNvGrpSpPr/>
          <p:nvPr/>
        </p:nvGrpSpPr>
        <p:grpSpPr>
          <a:xfrm>
            <a:off x="1566472" y="2042010"/>
            <a:ext cx="9059056" cy="3680364"/>
            <a:chOff x="119920" y="2162545"/>
            <a:chExt cx="6535712" cy="2135083"/>
          </a:xfrm>
        </p:grpSpPr>
        <p:sp>
          <p:nvSpPr>
            <p:cNvPr id="5" name="Rectangle 4">
              <a:extLst>
                <a:ext uri="{FF2B5EF4-FFF2-40B4-BE49-F238E27FC236}">
                  <a16:creationId xmlns:a16="http://schemas.microsoft.com/office/drawing/2014/main" id="{43DF1868-3A73-880E-1B23-F03FDC6C20CC}"/>
                </a:ext>
              </a:extLst>
            </p:cNvPr>
            <p:cNvSpPr/>
            <p:nvPr/>
          </p:nvSpPr>
          <p:spPr>
            <a:xfrm>
              <a:off x="119920" y="2162545"/>
              <a:ext cx="6535712" cy="659568"/>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6E96B2AD-1686-EC6A-565C-28EC347D9831}"/>
                </a:ext>
              </a:extLst>
            </p:cNvPr>
            <p:cNvSpPr/>
            <p:nvPr/>
          </p:nvSpPr>
          <p:spPr>
            <a:xfrm>
              <a:off x="119920" y="2907132"/>
              <a:ext cx="6535712" cy="659568"/>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98F20675-3A52-1BD7-98F4-DC1D1D4586B6}"/>
                </a:ext>
              </a:extLst>
            </p:cNvPr>
            <p:cNvSpPr/>
            <p:nvPr/>
          </p:nvSpPr>
          <p:spPr>
            <a:xfrm>
              <a:off x="119920" y="3638060"/>
              <a:ext cx="6535712" cy="659568"/>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D9E5645F-9586-1D14-EE88-1C942E46400E}"/>
                </a:ext>
              </a:extLst>
            </p:cNvPr>
            <p:cNvSpPr txBox="1"/>
            <p:nvPr/>
          </p:nvSpPr>
          <p:spPr>
            <a:xfrm>
              <a:off x="1723868" y="2306381"/>
              <a:ext cx="3468273" cy="321390"/>
            </a:xfrm>
            <a:prstGeom prst="rect">
              <a:avLst/>
            </a:prstGeom>
            <a:noFill/>
          </p:spPr>
          <p:txBody>
            <a:bodyPr wrap="square">
              <a:spAutoFit/>
            </a:bodyPr>
            <a:lstStyle/>
            <a:p>
              <a:pPr algn="ctr">
                <a:buNone/>
              </a:pPr>
              <a:r>
                <a:rPr lang="en-US" sz="3000" b="1" dirty="0">
                  <a:effectLst/>
                  <a:latin typeface="Aptos" panose="020B0004020202020204" pitchFamily="34" charset="0"/>
                </a:rPr>
                <a:t>Updates on the SIGs</a:t>
              </a:r>
            </a:p>
          </p:txBody>
        </p:sp>
        <p:sp>
          <p:nvSpPr>
            <p:cNvPr id="37" name="TextBox 36">
              <a:extLst>
                <a:ext uri="{FF2B5EF4-FFF2-40B4-BE49-F238E27FC236}">
                  <a16:creationId xmlns:a16="http://schemas.microsoft.com/office/drawing/2014/main" id="{799143E5-DB98-A219-4AAE-8A180EFE2E0D}"/>
                </a:ext>
              </a:extLst>
            </p:cNvPr>
            <p:cNvSpPr txBox="1"/>
            <p:nvPr/>
          </p:nvSpPr>
          <p:spPr>
            <a:xfrm>
              <a:off x="1723868" y="3066581"/>
              <a:ext cx="3468273" cy="321390"/>
            </a:xfrm>
            <a:prstGeom prst="rect">
              <a:avLst/>
            </a:prstGeom>
            <a:noFill/>
          </p:spPr>
          <p:txBody>
            <a:bodyPr wrap="square">
              <a:spAutoFit/>
            </a:bodyPr>
            <a:lstStyle/>
            <a:p>
              <a:pPr algn="ctr">
                <a:buNone/>
              </a:pPr>
              <a:r>
                <a:rPr lang="en-US" sz="3000" b="1" dirty="0">
                  <a:effectLst/>
                  <a:latin typeface="Aptos" panose="020B0004020202020204" pitchFamily="34" charset="0"/>
                </a:rPr>
                <a:t>Questions on </a:t>
              </a:r>
              <a:r>
                <a:rPr lang="en-US" sz="3000" b="1" dirty="0" err="1">
                  <a:effectLst/>
                  <a:latin typeface="Aptos" panose="020B0004020202020204" pitchFamily="34" charset="0"/>
                </a:rPr>
                <a:t>Zulip</a:t>
              </a:r>
              <a:endParaRPr lang="en-US" sz="3000" b="1" dirty="0">
                <a:effectLst/>
                <a:latin typeface="Aptos" panose="020B0004020202020204" pitchFamily="34" charset="0"/>
              </a:endParaRPr>
            </a:p>
          </p:txBody>
        </p:sp>
        <p:sp>
          <p:nvSpPr>
            <p:cNvPr id="39" name="TextBox 38">
              <a:extLst>
                <a:ext uri="{FF2B5EF4-FFF2-40B4-BE49-F238E27FC236}">
                  <a16:creationId xmlns:a16="http://schemas.microsoft.com/office/drawing/2014/main" id="{6CE6BBED-D3E8-C240-C9EE-24D771848157}"/>
                </a:ext>
              </a:extLst>
            </p:cNvPr>
            <p:cNvSpPr txBox="1"/>
            <p:nvPr/>
          </p:nvSpPr>
          <p:spPr>
            <a:xfrm>
              <a:off x="1723868" y="3780956"/>
              <a:ext cx="3468273" cy="321390"/>
            </a:xfrm>
            <a:prstGeom prst="rect">
              <a:avLst/>
            </a:prstGeom>
            <a:noFill/>
          </p:spPr>
          <p:txBody>
            <a:bodyPr wrap="square">
              <a:spAutoFit/>
            </a:bodyPr>
            <a:lstStyle/>
            <a:p>
              <a:pPr algn="ctr">
                <a:buNone/>
              </a:pPr>
              <a:r>
                <a:rPr lang="en-US" sz="3000" b="1" dirty="0">
                  <a:effectLst/>
                  <a:latin typeface="Aptos" panose="020B0004020202020204" pitchFamily="34" charset="0"/>
                </a:rPr>
                <a:t>Active Discussion</a:t>
              </a:r>
            </a:p>
          </p:txBody>
        </p:sp>
      </p:grpSp>
      <p:sp>
        <p:nvSpPr>
          <p:cNvPr id="3" name="Title 2">
            <a:extLst>
              <a:ext uri="{FF2B5EF4-FFF2-40B4-BE49-F238E27FC236}">
                <a16:creationId xmlns:a16="http://schemas.microsoft.com/office/drawing/2014/main" id="{3021D310-A046-6991-EDCE-371332A13D8E}"/>
              </a:ext>
            </a:extLst>
          </p:cNvPr>
          <p:cNvSpPr>
            <a:spLocks noGrp="1"/>
          </p:cNvSpPr>
          <p:nvPr>
            <p:ph type="title"/>
          </p:nvPr>
        </p:nvSpPr>
        <p:spPr/>
        <p:txBody>
          <a:bodyPr/>
          <a:lstStyle/>
          <a:p>
            <a:r>
              <a:rPr lang="de-DE" dirty="0"/>
              <a:t>Agenda</a:t>
            </a:r>
            <a:endParaRPr lang="en-US" dirty="0"/>
          </a:p>
        </p:txBody>
      </p:sp>
    </p:spTree>
    <p:extLst>
      <p:ext uri="{BB962C8B-B14F-4D97-AF65-F5344CB8AC3E}">
        <p14:creationId xmlns:p14="http://schemas.microsoft.com/office/powerpoint/2010/main" val="170786564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68E1F96-3179-7426-6AF4-111966CD1A5B}"/>
              </a:ext>
            </a:extLst>
          </p:cNvPr>
          <p:cNvSpPr>
            <a:spLocks noGrp="1"/>
          </p:cNvSpPr>
          <p:nvPr>
            <p:ph type="title"/>
          </p:nvPr>
        </p:nvSpPr>
        <p:spPr/>
        <p:txBody>
          <a:bodyPr/>
          <a:lstStyle/>
          <a:p>
            <a:r>
              <a:rPr lang="de-DE" dirty="0"/>
              <a:t>Events Group Update</a:t>
            </a:r>
            <a:endParaRPr lang="en-US" dirty="0"/>
          </a:p>
        </p:txBody>
      </p:sp>
      <p:sp>
        <p:nvSpPr>
          <p:cNvPr id="5" name="Text Placeholder 4">
            <a:extLst>
              <a:ext uri="{FF2B5EF4-FFF2-40B4-BE49-F238E27FC236}">
                <a16:creationId xmlns:a16="http://schemas.microsoft.com/office/drawing/2014/main" id="{0ABFC324-96B4-9FE7-6AE7-9091874FE8BC}"/>
              </a:ext>
            </a:extLst>
          </p:cNvPr>
          <p:cNvSpPr>
            <a:spLocks noGrp="1"/>
          </p:cNvSpPr>
          <p:nvPr>
            <p:ph type="body" sz="quarter" idx="13"/>
          </p:nvPr>
        </p:nvSpPr>
        <p:spPr/>
        <p:txBody>
          <a:bodyPr>
            <a:normAutofit/>
          </a:bodyPr>
          <a:lstStyle/>
          <a:p>
            <a:r>
              <a:rPr lang="de-DE" sz="2400" dirty="0"/>
              <a:t>🎉</a:t>
            </a:r>
            <a:r>
              <a:rPr lang="de-DE" sz="2400" dirty="0" err="1"/>
              <a:t>Proposed</a:t>
            </a:r>
            <a:r>
              <a:rPr lang="de-DE" sz="2400" dirty="0"/>
              <a:t> Events </a:t>
            </a:r>
            <a:r>
              <a:rPr lang="de-DE" sz="2400" dirty="0" err="1"/>
              <a:t>are</a:t>
            </a:r>
            <a:r>
              <a:rPr lang="de-DE" sz="2400" dirty="0"/>
              <a:t> </a:t>
            </a:r>
            <a:r>
              <a:rPr lang="de-DE" sz="2400" dirty="0" err="1"/>
              <a:t>submitted</a:t>
            </a:r>
            <a:r>
              <a:rPr lang="de-DE" sz="2400" dirty="0"/>
              <a:t> </a:t>
            </a:r>
            <a:r>
              <a:rPr lang="de-DE" sz="2400" dirty="0" err="1"/>
              <a:t>to</a:t>
            </a:r>
            <a:r>
              <a:rPr lang="de-DE" sz="2400" dirty="0"/>
              <a:t> </a:t>
            </a:r>
            <a:r>
              <a:rPr lang="de-DE" sz="2400" dirty="0" err="1"/>
              <a:t>the</a:t>
            </a:r>
            <a:r>
              <a:rPr lang="de-DE" sz="2400" dirty="0"/>
              <a:t> GB!</a:t>
            </a:r>
          </a:p>
          <a:p>
            <a:endParaRPr lang="de-DE" sz="2400" dirty="0"/>
          </a:p>
          <a:p>
            <a:r>
              <a:rPr lang="de-DE" sz="2400" dirty="0" err="1"/>
              <a:t>To</a:t>
            </a:r>
            <a:r>
              <a:rPr lang="de-DE" sz="2400" dirty="0"/>
              <a:t> Do: </a:t>
            </a:r>
            <a:r>
              <a:rPr lang="de-DE" sz="2400" i="1" dirty="0" err="1"/>
              <a:t>Engage</a:t>
            </a:r>
            <a:r>
              <a:rPr lang="de-DE" sz="2400" i="1" dirty="0"/>
              <a:t> </a:t>
            </a:r>
            <a:r>
              <a:rPr lang="de-DE" sz="2400" dirty="0" err="1"/>
              <a:t>to</a:t>
            </a:r>
            <a:r>
              <a:rPr lang="de-DE" sz="2400" dirty="0"/>
              <a:t> </a:t>
            </a:r>
            <a:r>
              <a:rPr lang="de-DE" sz="2400" dirty="0" err="1"/>
              <a:t>get</a:t>
            </a:r>
            <a:r>
              <a:rPr lang="de-DE" sz="2400" dirty="0"/>
              <a:t> </a:t>
            </a:r>
            <a:r>
              <a:rPr lang="de-DE" sz="2400" dirty="0" err="1"/>
              <a:t>them</a:t>
            </a:r>
            <a:r>
              <a:rPr lang="de-DE" sz="2400" dirty="0"/>
              <a:t> </a:t>
            </a:r>
            <a:r>
              <a:rPr lang="de-DE" sz="2400" dirty="0" err="1"/>
              <a:t>approved</a:t>
            </a:r>
            <a:r>
              <a:rPr lang="de-DE" sz="2400" dirty="0"/>
              <a:t>.</a:t>
            </a:r>
          </a:p>
          <a:p>
            <a:endParaRPr lang="de-DE" sz="2400" b="1" dirty="0"/>
          </a:p>
          <a:p>
            <a:r>
              <a:rPr lang="de-DE" sz="2400" b="1" dirty="0"/>
              <a:t>Goal: „</a:t>
            </a:r>
            <a:r>
              <a:rPr lang="de-DE" sz="2400" b="1" dirty="0" err="1"/>
              <a:t>Make</a:t>
            </a:r>
            <a:r>
              <a:rPr lang="de-DE" sz="2400" b="1" dirty="0"/>
              <a:t>“ </a:t>
            </a:r>
            <a:r>
              <a:rPr lang="de-DE" sz="2400" b="1" dirty="0" err="1"/>
              <a:t>the</a:t>
            </a:r>
            <a:r>
              <a:rPr lang="de-DE" sz="2400" b="1" dirty="0"/>
              <a:t> GB vote on </a:t>
            </a:r>
            <a:r>
              <a:rPr lang="de-DE" sz="2400" b="1" dirty="0" err="1"/>
              <a:t>the</a:t>
            </a:r>
            <a:r>
              <a:rPr lang="de-DE" sz="2400" b="1" dirty="0"/>
              <a:t> </a:t>
            </a:r>
            <a:r>
              <a:rPr lang="de-DE" sz="2400" b="1" dirty="0" err="1"/>
              <a:t>package</a:t>
            </a:r>
            <a:r>
              <a:rPr lang="de-DE" sz="2400" b="1" dirty="0"/>
              <a:t> </a:t>
            </a:r>
            <a:r>
              <a:rPr lang="de-DE" sz="2400" b="1" dirty="0" err="1"/>
              <a:t>by</a:t>
            </a:r>
            <a:br>
              <a:rPr lang="de-DE" sz="2400" b="1" dirty="0"/>
            </a:br>
            <a:r>
              <a:rPr lang="de-DE" sz="2400" b="1" dirty="0" err="1"/>
              <a:t>the</a:t>
            </a:r>
            <a:r>
              <a:rPr lang="de-DE" sz="2400" b="1" dirty="0"/>
              <a:t> end </a:t>
            </a:r>
            <a:r>
              <a:rPr lang="de-DE" sz="2400" b="1" dirty="0" err="1"/>
              <a:t>of</a:t>
            </a:r>
            <a:r>
              <a:rPr lang="de-DE" sz="2400" b="1" dirty="0"/>
              <a:t> </a:t>
            </a:r>
            <a:r>
              <a:rPr lang="de-DE" sz="2400" b="1" dirty="0" err="1"/>
              <a:t>July</a:t>
            </a:r>
            <a:r>
              <a:rPr lang="de-DE" sz="2400" b="1" dirty="0"/>
              <a:t>.</a:t>
            </a:r>
            <a:endParaRPr lang="en-US" sz="2400" b="1" dirty="0"/>
          </a:p>
        </p:txBody>
      </p:sp>
      <p:pic>
        <p:nvPicPr>
          <p:cNvPr id="7" name="Picture 6">
            <a:extLst>
              <a:ext uri="{FF2B5EF4-FFF2-40B4-BE49-F238E27FC236}">
                <a16:creationId xmlns:a16="http://schemas.microsoft.com/office/drawing/2014/main" id="{58174D6C-15CF-9D19-AA9D-3A9A4F7E4979}"/>
              </a:ext>
            </a:extLst>
          </p:cNvPr>
          <p:cNvPicPr>
            <a:picLocks noChangeAspect="1"/>
          </p:cNvPicPr>
          <p:nvPr/>
        </p:nvPicPr>
        <p:blipFill>
          <a:blip r:embed="rId2"/>
          <a:stretch>
            <a:fillRect/>
          </a:stretch>
        </p:blipFill>
        <p:spPr>
          <a:xfrm>
            <a:off x="6857579" y="1747742"/>
            <a:ext cx="4861981" cy="823031"/>
          </a:xfrm>
          <a:prstGeom prst="rect">
            <a:avLst/>
          </a:prstGeom>
        </p:spPr>
      </p:pic>
      <p:sp>
        <p:nvSpPr>
          <p:cNvPr id="8" name="Rounded Rectangle 6">
            <a:extLst>
              <a:ext uri="{FF2B5EF4-FFF2-40B4-BE49-F238E27FC236}">
                <a16:creationId xmlns:a16="http://schemas.microsoft.com/office/drawing/2014/main" id="{B85EBBF1-9D58-E731-02AF-B97FFF17D210}"/>
              </a:ext>
            </a:extLst>
          </p:cNvPr>
          <p:cNvSpPr/>
          <p:nvPr/>
        </p:nvSpPr>
        <p:spPr>
          <a:xfrm>
            <a:off x="9561939" y="3164799"/>
            <a:ext cx="2519555" cy="1298075"/>
          </a:xfrm>
          <a:prstGeom prst="roundRect">
            <a:avLst>
              <a:gd name="adj" fmla="val 3184"/>
            </a:avLst>
          </a:prstGeom>
          <a:solidFill>
            <a:srgbClr val="DDEAF8"/>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E099FDA1-4084-6B35-2492-75FF005159FE}"/>
              </a:ext>
            </a:extLst>
          </p:cNvPr>
          <p:cNvSpPr/>
          <p:nvPr/>
        </p:nvSpPr>
        <p:spPr>
          <a:xfrm>
            <a:off x="7494798" y="2838497"/>
            <a:ext cx="1960641" cy="1078302"/>
          </a:xfrm>
          <a:prstGeom prst="roundRect">
            <a:avLst>
              <a:gd name="adj" fmla="val 2730"/>
            </a:avLst>
          </a:prstGeom>
          <a:solidFill>
            <a:srgbClr val="A6CAED"/>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11">
            <a:extLst>
              <a:ext uri="{FF2B5EF4-FFF2-40B4-BE49-F238E27FC236}">
                <a16:creationId xmlns:a16="http://schemas.microsoft.com/office/drawing/2014/main" id="{B3791239-7226-FCA6-87FE-3AFEDE6BA5FF}"/>
              </a:ext>
            </a:extLst>
          </p:cNvPr>
          <p:cNvSpPr/>
          <p:nvPr/>
        </p:nvSpPr>
        <p:spPr>
          <a:xfrm>
            <a:off x="9473563" y="4462874"/>
            <a:ext cx="2646026" cy="545372"/>
          </a:xfrm>
          <a:prstGeom prst="roundRect">
            <a:avLst>
              <a:gd name="adj" fmla="val 2702"/>
            </a:avLst>
          </a:prstGeom>
          <a:solidFill>
            <a:srgbClr val="4F95D9"/>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3">
            <a:extLst>
              <a:ext uri="{FF2B5EF4-FFF2-40B4-BE49-F238E27FC236}">
                <a16:creationId xmlns:a16="http://schemas.microsoft.com/office/drawing/2014/main" id="{C6450BE0-05E9-CBF5-F663-3061598B3A19}"/>
              </a:ext>
            </a:extLst>
          </p:cNvPr>
          <p:cNvSpPr/>
          <p:nvPr/>
        </p:nvSpPr>
        <p:spPr>
          <a:xfrm>
            <a:off x="7121177" y="3929944"/>
            <a:ext cx="2352386" cy="1078302"/>
          </a:xfrm>
          <a:prstGeom prst="roundRect">
            <a:avLst>
              <a:gd name="adj" fmla="val 2716"/>
            </a:avLst>
          </a:prstGeom>
          <a:solidFill>
            <a:srgbClr val="163E64"/>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00ED99EE-E7E0-4B42-C4D3-4897D2F783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67017" y="3247813"/>
            <a:ext cx="1755311" cy="1132049"/>
          </a:xfrm>
          <a:prstGeom prst="rect">
            <a:avLst/>
          </a:prstGeom>
        </p:spPr>
      </p:pic>
      <p:pic>
        <p:nvPicPr>
          <p:cNvPr id="14" name="Graphic 13">
            <a:extLst>
              <a:ext uri="{FF2B5EF4-FFF2-40B4-BE49-F238E27FC236}">
                <a16:creationId xmlns:a16="http://schemas.microsoft.com/office/drawing/2014/main" id="{01B7DBD2-20B0-426C-11C8-5CE22AE7D0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47202" y="2969858"/>
            <a:ext cx="1486839" cy="798781"/>
          </a:xfrm>
          <a:prstGeom prst="rect">
            <a:avLst/>
          </a:prstGeom>
        </p:spPr>
      </p:pic>
      <p:pic>
        <p:nvPicPr>
          <p:cNvPr id="15" name="Picture 14">
            <a:extLst>
              <a:ext uri="{FF2B5EF4-FFF2-40B4-BE49-F238E27FC236}">
                <a16:creationId xmlns:a16="http://schemas.microsoft.com/office/drawing/2014/main" id="{B7DF1A46-633B-AB1F-FE57-9445FA71D1A3}"/>
              </a:ext>
            </a:extLst>
          </p:cNvPr>
          <p:cNvPicPr>
            <a:picLocks noChangeAspect="1"/>
          </p:cNvPicPr>
          <p:nvPr/>
        </p:nvPicPr>
        <p:blipFill>
          <a:blip r:embed="rId5"/>
          <a:stretch>
            <a:fillRect/>
          </a:stretch>
        </p:blipFill>
        <p:spPr>
          <a:xfrm>
            <a:off x="7281961" y="4059502"/>
            <a:ext cx="1960640" cy="806041"/>
          </a:xfrm>
          <a:prstGeom prst="rect">
            <a:avLst/>
          </a:prstGeom>
        </p:spPr>
      </p:pic>
      <p:pic>
        <p:nvPicPr>
          <p:cNvPr id="16" name="Picture 15">
            <a:extLst>
              <a:ext uri="{FF2B5EF4-FFF2-40B4-BE49-F238E27FC236}">
                <a16:creationId xmlns:a16="http://schemas.microsoft.com/office/drawing/2014/main" id="{85FF4BAA-7292-B423-9B37-58F043FF8749}"/>
              </a:ext>
            </a:extLst>
          </p:cNvPr>
          <p:cNvPicPr>
            <a:picLocks noChangeAspect="1"/>
          </p:cNvPicPr>
          <p:nvPr/>
        </p:nvPicPr>
        <p:blipFill>
          <a:blip r:embed="rId6"/>
          <a:stretch>
            <a:fillRect/>
          </a:stretch>
        </p:blipFill>
        <p:spPr>
          <a:xfrm>
            <a:off x="9561939" y="4556397"/>
            <a:ext cx="2281127" cy="370313"/>
          </a:xfrm>
          <a:prstGeom prst="rect">
            <a:avLst/>
          </a:prstGeom>
        </p:spPr>
      </p:pic>
      <p:sp>
        <p:nvSpPr>
          <p:cNvPr id="17" name="TextBox 16">
            <a:extLst>
              <a:ext uri="{FF2B5EF4-FFF2-40B4-BE49-F238E27FC236}">
                <a16:creationId xmlns:a16="http://schemas.microsoft.com/office/drawing/2014/main" id="{49591998-A6A7-E6B3-F399-14CF3333B085}"/>
              </a:ext>
            </a:extLst>
          </p:cNvPr>
          <p:cNvSpPr txBox="1"/>
          <p:nvPr/>
        </p:nvSpPr>
        <p:spPr>
          <a:xfrm>
            <a:off x="472439" y="6036864"/>
            <a:ext cx="5721883" cy="369332"/>
          </a:xfrm>
          <a:prstGeom prst="rect">
            <a:avLst/>
          </a:prstGeom>
          <a:noFill/>
        </p:spPr>
        <p:txBody>
          <a:bodyPr wrap="square" rtlCol="0">
            <a:spAutoFit/>
          </a:bodyPr>
          <a:lstStyle/>
          <a:p>
            <a:r>
              <a:rPr lang="de-DE" dirty="0"/>
              <a:t>Open Questions: </a:t>
            </a:r>
            <a:r>
              <a:rPr lang="de-DE" dirty="0" err="1"/>
              <a:t>Should</a:t>
            </a:r>
            <a:r>
              <a:rPr lang="de-DE" dirty="0"/>
              <a:t> </a:t>
            </a:r>
            <a:r>
              <a:rPr lang="de-DE" dirty="0" err="1"/>
              <a:t>travel</a:t>
            </a:r>
            <a:r>
              <a:rPr lang="de-DE" dirty="0"/>
              <a:t> </a:t>
            </a:r>
            <a:r>
              <a:rPr lang="de-DE" dirty="0" err="1"/>
              <a:t>costs</a:t>
            </a:r>
            <a:r>
              <a:rPr lang="de-DE" dirty="0"/>
              <a:t> </a:t>
            </a:r>
            <a:r>
              <a:rPr lang="de-DE" dirty="0" err="1"/>
              <a:t>be</a:t>
            </a:r>
            <a:r>
              <a:rPr lang="de-DE" dirty="0"/>
              <a:t> </a:t>
            </a:r>
            <a:r>
              <a:rPr lang="de-DE" dirty="0" err="1"/>
              <a:t>covered</a:t>
            </a:r>
            <a:r>
              <a:rPr lang="de-DE" dirty="0"/>
              <a:t> </a:t>
            </a:r>
            <a:r>
              <a:rPr lang="de-DE" dirty="0" err="1"/>
              <a:t>by</a:t>
            </a:r>
            <a:r>
              <a:rPr lang="de-DE" dirty="0"/>
              <a:t> GB?</a:t>
            </a:r>
            <a:endParaRPr lang="en-US" dirty="0"/>
          </a:p>
        </p:txBody>
      </p:sp>
    </p:spTree>
    <p:extLst>
      <p:ext uri="{BB962C8B-B14F-4D97-AF65-F5344CB8AC3E}">
        <p14:creationId xmlns:p14="http://schemas.microsoft.com/office/powerpoint/2010/main" val="2387875250"/>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0546E-10A1-20F4-0B21-0FA41AF9360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6C08A8-64EA-E74F-92BB-6C18A1D79452}"/>
              </a:ext>
            </a:extLst>
          </p:cNvPr>
          <p:cNvSpPr>
            <a:spLocks noGrp="1"/>
          </p:cNvSpPr>
          <p:nvPr>
            <p:ph type="title"/>
          </p:nvPr>
        </p:nvSpPr>
        <p:spPr/>
        <p:txBody>
          <a:bodyPr/>
          <a:lstStyle/>
          <a:p>
            <a:r>
              <a:rPr lang="de-DE" dirty="0"/>
              <a:t>Ambassador SIG Update</a:t>
            </a:r>
            <a:endParaRPr lang="en-US" dirty="0"/>
          </a:p>
        </p:txBody>
      </p:sp>
      <p:sp>
        <p:nvSpPr>
          <p:cNvPr id="5" name="Text Placeholder 4">
            <a:extLst>
              <a:ext uri="{FF2B5EF4-FFF2-40B4-BE49-F238E27FC236}">
                <a16:creationId xmlns:a16="http://schemas.microsoft.com/office/drawing/2014/main" id="{ED8DC677-7860-AA65-98A0-C08170A9B276}"/>
              </a:ext>
            </a:extLst>
          </p:cNvPr>
          <p:cNvSpPr>
            <a:spLocks noGrp="1"/>
          </p:cNvSpPr>
          <p:nvPr>
            <p:ph type="body" sz="quarter" idx="13"/>
          </p:nvPr>
        </p:nvSpPr>
        <p:spPr>
          <a:xfrm>
            <a:off x="472440" y="2000250"/>
            <a:ext cx="8477921" cy="3790950"/>
          </a:xfrm>
        </p:spPr>
        <p:txBody>
          <a:bodyPr>
            <a:normAutofit/>
          </a:bodyPr>
          <a:lstStyle/>
          <a:p>
            <a:r>
              <a:rPr lang="de-DE" sz="2400" dirty="0"/>
              <a:t>+1 Ambassador: Abubakar Ango</a:t>
            </a:r>
          </a:p>
          <a:p>
            <a:endParaRPr lang="de-DE" sz="2400" dirty="0"/>
          </a:p>
          <a:p>
            <a:r>
              <a:rPr lang="de-DE" sz="2400" dirty="0"/>
              <a:t>Info: </a:t>
            </a:r>
            <a:r>
              <a:rPr lang="de-DE" sz="2400" dirty="0" err="1"/>
              <a:t>We</a:t>
            </a:r>
            <a:r>
              <a:rPr lang="de-DE" sz="2400" dirty="0"/>
              <a:t> </a:t>
            </a:r>
            <a:r>
              <a:rPr lang="de-DE" sz="2400" dirty="0" err="1"/>
              <a:t>have</a:t>
            </a:r>
            <a:r>
              <a:rPr lang="de-DE" sz="2400" dirty="0"/>
              <a:t> 4 additional Ambassador </a:t>
            </a:r>
            <a:r>
              <a:rPr lang="de-DE" sz="2400" dirty="0" err="1"/>
              <a:t>applications</a:t>
            </a:r>
            <a:r>
              <a:rPr lang="de-DE" sz="2400" dirty="0"/>
              <a:t>.</a:t>
            </a:r>
          </a:p>
          <a:p>
            <a:pPr lvl="1"/>
            <a:r>
              <a:rPr lang="de-DE" sz="2400" dirty="0" err="1"/>
              <a:t>Their</a:t>
            </a:r>
            <a:r>
              <a:rPr lang="de-DE" sz="2400" dirty="0"/>
              <a:t> </a:t>
            </a:r>
            <a:r>
              <a:rPr lang="de-DE" sz="2400" dirty="0" err="1"/>
              <a:t>applications</a:t>
            </a:r>
            <a:r>
              <a:rPr lang="de-DE" sz="2400" dirty="0"/>
              <a:t> </a:t>
            </a:r>
            <a:r>
              <a:rPr lang="de-DE" sz="2400" dirty="0" err="1"/>
              <a:t>are</a:t>
            </a:r>
            <a:r>
              <a:rPr lang="de-DE" sz="2400" dirty="0"/>
              <a:t> on hold, </a:t>
            </a:r>
            <a:r>
              <a:rPr lang="de-DE" sz="2400" dirty="0" err="1"/>
              <a:t>see</a:t>
            </a:r>
            <a:r>
              <a:rPr lang="de-DE" sz="2400" dirty="0"/>
              <a:t> </a:t>
            </a:r>
            <a:r>
              <a:rPr lang="de-DE" sz="2400" dirty="0" err="1">
                <a:hlinkClick r:id="rId2"/>
              </a:rPr>
              <a:t>decision</a:t>
            </a:r>
            <a:r>
              <a:rPr lang="de-DE" sz="2400" dirty="0"/>
              <a:t>.</a:t>
            </a:r>
          </a:p>
          <a:p>
            <a:endParaRPr lang="de-DE" sz="2400" dirty="0"/>
          </a:p>
          <a:p>
            <a:r>
              <a:rPr lang="de-DE" sz="2400" dirty="0" err="1"/>
              <a:t>To</a:t>
            </a:r>
            <a:r>
              <a:rPr lang="de-DE" sz="2400" dirty="0"/>
              <a:t> </a:t>
            </a:r>
            <a:r>
              <a:rPr lang="de-DE" sz="2400" dirty="0" err="1"/>
              <a:t>Do‘s</a:t>
            </a:r>
            <a:r>
              <a:rPr lang="de-DE" sz="2400" dirty="0"/>
              <a:t>:</a:t>
            </a:r>
          </a:p>
          <a:p>
            <a:pPr lvl="1"/>
            <a:r>
              <a:rPr lang="de-DE" sz="2400" dirty="0" err="1"/>
              <a:t>What</a:t>
            </a:r>
            <a:r>
              <a:rPr lang="de-DE" sz="2400" dirty="0"/>
              <a:t> Ambassador </a:t>
            </a:r>
            <a:r>
              <a:rPr lang="de-DE" sz="2400" dirty="0" err="1"/>
              <a:t>costs</a:t>
            </a:r>
            <a:r>
              <a:rPr lang="de-DE" sz="2400" dirty="0"/>
              <a:t> </a:t>
            </a:r>
            <a:r>
              <a:rPr lang="de-DE" sz="2400" dirty="0" err="1"/>
              <a:t>can</a:t>
            </a:r>
            <a:r>
              <a:rPr lang="de-DE" sz="2400" dirty="0"/>
              <a:t> </a:t>
            </a:r>
            <a:r>
              <a:rPr lang="de-DE" sz="2400" dirty="0" err="1"/>
              <a:t>be</a:t>
            </a:r>
            <a:r>
              <a:rPr lang="de-DE" sz="2400" dirty="0"/>
              <a:t> </a:t>
            </a:r>
            <a:r>
              <a:rPr lang="de-DE" sz="2400" dirty="0" err="1"/>
              <a:t>covered</a:t>
            </a:r>
            <a:r>
              <a:rPr lang="de-DE" sz="2400" dirty="0"/>
              <a:t> </a:t>
            </a:r>
            <a:r>
              <a:rPr lang="de-DE" sz="2400" dirty="0" err="1"/>
              <a:t>by</a:t>
            </a:r>
            <a:r>
              <a:rPr lang="de-DE" sz="2400" dirty="0"/>
              <a:t> NNF?</a:t>
            </a:r>
          </a:p>
          <a:p>
            <a:pPr lvl="1"/>
            <a:r>
              <a:rPr lang="de-DE" sz="2400" dirty="0"/>
              <a:t>How </a:t>
            </a:r>
            <a:r>
              <a:rPr lang="de-DE" sz="2400" dirty="0" err="1"/>
              <a:t>to</a:t>
            </a:r>
            <a:r>
              <a:rPr lang="de-DE" sz="2400" dirty="0"/>
              <a:t> </a:t>
            </a:r>
            <a:r>
              <a:rPr lang="de-DE" sz="2400" dirty="0" err="1"/>
              <a:t>best</a:t>
            </a:r>
            <a:r>
              <a:rPr lang="de-DE" sz="2400" dirty="0"/>
              <a:t> manage </a:t>
            </a:r>
            <a:r>
              <a:rPr lang="de-DE" sz="2400" dirty="0" err="1"/>
              <a:t>existing</a:t>
            </a:r>
            <a:r>
              <a:rPr lang="de-DE" sz="2400" dirty="0"/>
              <a:t> Ambassadors.</a:t>
            </a:r>
          </a:p>
          <a:p>
            <a:pPr marL="0" indent="0">
              <a:buNone/>
            </a:pPr>
            <a:endParaRPr lang="de-DE" sz="2400" b="1" dirty="0"/>
          </a:p>
        </p:txBody>
      </p:sp>
      <p:sp>
        <p:nvSpPr>
          <p:cNvPr id="17" name="TextBox 16">
            <a:extLst>
              <a:ext uri="{FF2B5EF4-FFF2-40B4-BE49-F238E27FC236}">
                <a16:creationId xmlns:a16="http://schemas.microsoft.com/office/drawing/2014/main" id="{5CA50F7C-0EFB-576E-9507-F7A743E28800}"/>
              </a:ext>
            </a:extLst>
          </p:cNvPr>
          <p:cNvSpPr txBox="1"/>
          <p:nvPr/>
        </p:nvSpPr>
        <p:spPr>
          <a:xfrm>
            <a:off x="472439" y="6036864"/>
            <a:ext cx="5721883" cy="369332"/>
          </a:xfrm>
          <a:prstGeom prst="rect">
            <a:avLst/>
          </a:prstGeom>
          <a:noFill/>
        </p:spPr>
        <p:txBody>
          <a:bodyPr wrap="square" rtlCol="0">
            <a:spAutoFit/>
          </a:bodyPr>
          <a:lstStyle/>
          <a:p>
            <a:r>
              <a:rPr lang="de-DE" dirty="0" err="1"/>
              <a:t>To</a:t>
            </a:r>
            <a:r>
              <a:rPr lang="de-DE" dirty="0"/>
              <a:t> find out </a:t>
            </a:r>
            <a:r>
              <a:rPr lang="de-DE" dirty="0" err="1"/>
              <a:t>the</a:t>
            </a:r>
            <a:r>
              <a:rPr lang="de-DE" dirty="0"/>
              <a:t> </a:t>
            </a:r>
            <a:r>
              <a:rPr lang="de-DE" dirty="0" err="1"/>
              <a:t>answer</a:t>
            </a:r>
            <a:r>
              <a:rPr lang="de-DE" dirty="0"/>
              <a:t> </a:t>
            </a:r>
            <a:r>
              <a:rPr lang="de-DE" dirty="0" err="1"/>
              <a:t>to</a:t>
            </a:r>
            <a:r>
              <a:rPr lang="de-DE" dirty="0"/>
              <a:t> </a:t>
            </a:r>
            <a:r>
              <a:rPr lang="de-DE" dirty="0" err="1"/>
              <a:t>these</a:t>
            </a:r>
            <a:r>
              <a:rPr lang="de-DE" dirty="0"/>
              <a:t> </a:t>
            </a:r>
            <a:r>
              <a:rPr lang="de-DE" dirty="0" err="1"/>
              <a:t>questions</a:t>
            </a:r>
            <a:r>
              <a:rPr lang="de-DE" dirty="0"/>
              <a:t>, </a:t>
            </a:r>
            <a:r>
              <a:rPr lang="de-DE" dirty="0" err="1"/>
              <a:t>visit</a:t>
            </a:r>
            <a:r>
              <a:rPr lang="de-DE" dirty="0"/>
              <a:t> </a:t>
            </a:r>
            <a:r>
              <a:rPr lang="de-DE" dirty="0" err="1"/>
              <a:t>the</a:t>
            </a:r>
            <a:r>
              <a:rPr lang="de-DE" dirty="0"/>
              <a:t> SIG!</a:t>
            </a:r>
            <a:endParaRPr lang="en-US" dirty="0"/>
          </a:p>
        </p:txBody>
      </p:sp>
      <p:pic>
        <p:nvPicPr>
          <p:cNvPr id="1026" name="Picture 2" descr="Abubakar Ango">
            <a:extLst>
              <a:ext uri="{FF2B5EF4-FFF2-40B4-BE49-F238E27FC236}">
                <a16:creationId xmlns:a16="http://schemas.microsoft.com/office/drawing/2014/main" id="{2541CD00-C7FC-A051-454B-89F14289C2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7866" y="1514168"/>
            <a:ext cx="3043698" cy="3043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1140652"/>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A3ECF-990D-6A94-E1BE-7FFD84886DA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C685861-B409-F95E-5EE7-B8E5F0A4E71E}"/>
              </a:ext>
            </a:extLst>
          </p:cNvPr>
          <p:cNvSpPr>
            <a:spLocks noGrp="1"/>
          </p:cNvSpPr>
          <p:nvPr>
            <p:ph type="title"/>
          </p:nvPr>
        </p:nvSpPr>
        <p:spPr/>
        <p:txBody>
          <a:bodyPr/>
          <a:lstStyle/>
          <a:p>
            <a:r>
              <a:rPr lang="de-DE" dirty="0" err="1"/>
              <a:t>Social</a:t>
            </a:r>
            <a:r>
              <a:rPr lang="de-DE" dirty="0"/>
              <a:t> Media SIG Update</a:t>
            </a:r>
            <a:endParaRPr lang="en-US" dirty="0"/>
          </a:p>
        </p:txBody>
      </p:sp>
      <p:sp>
        <p:nvSpPr>
          <p:cNvPr id="5" name="Text Placeholder 4">
            <a:extLst>
              <a:ext uri="{FF2B5EF4-FFF2-40B4-BE49-F238E27FC236}">
                <a16:creationId xmlns:a16="http://schemas.microsoft.com/office/drawing/2014/main" id="{7B5D5C0B-4A9A-F3B6-C508-ABDC92C4FFED}"/>
              </a:ext>
            </a:extLst>
          </p:cNvPr>
          <p:cNvSpPr>
            <a:spLocks noGrp="1"/>
          </p:cNvSpPr>
          <p:nvPr>
            <p:ph type="body" sz="quarter" idx="13"/>
          </p:nvPr>
        </p:nvSpPr>
        <p:spPr>
          <a:xfrm>
            <a:off x="472440" y="2000250"/>
            <a:ext cx="8477921" cy="3790950"/>
          </a:xfrm>
        </p:spPr>
        <p:txBody>
          <a:bodyPr>
            <a:normAutofit/>
          </a:bodyPr>
          <a:lstStyle/>
          <a:p>
            <a:r>
              <a:rPr lang="de-DE" sz="2400" dirty="0"/>
              <a:t>Goal: </a:t>
            </a:r>
            <a:r>
              <a:rPr lang="de-DE" sz="2400" dirty="0" err="1"/>
              <a:t>Develop</a:t>
            </a:r>
            <a:r>
              <a:rPr lang="de-DE" sz="2400" dirty="0"/>
              <a:t> a </a:t>
            </a:r>
            <a:r>
              <a:rPr lang="de-DE" sz="2400" dirty="0" err="1"/>
              <a:t>Social</a:t>
            </a:r>
            <a:r>
              <a:rPr lang="de-DE" sz="2400" dirty="0"/>
              <a:t> Media </a:t>
            </a:r>
            <a:r>
              <a:rPr lang="de-DE" sz="2400" dirty="0" err="1"/>
              <a:t>Strategy</a:t>
            </a:r>
            <a:endParaRPr lang="de-DE" sz="2400" dirty="0"/>
          </a:p>
          <a:p>
            <a:endParaRPr lang="de-DE" sz="2400" dirty="0"/>
          </a:p>
          <a:p>
            <a:r>
              <a:rPr lang="de-DE" sz="2400" dirty="0" err="1"/>
              <a:t>Drafts</a:t>
            </a:r>
            <a:r>
              <a:rPr lang="de-DE" sz="2400" dirty="0"/>
              <a:t> </a:t>
            </a:r>
            <a:r>
              <a:rPr lang="de-DE" sz="2400" dirty="0" err="1"/>
              <a:t>are</a:t>
            </a:r>
            <a:r>
              <a:rPr lang="de-DE" sz="2400" dirty="0"/>
              <a:t> </a:t>
            </a:r>
            <a:r>
              <a:rPr lang="de-DE" sz="2400" dirty="0" err="1"/>
              <a:t>being</a:t>
            </a:r>
            <a:r>
              <a:rPr lang="de-DE" sz="2400" dirty="0"/>
              <a:t> </a:t>
            </a:r>
            <a:r>
              <a:rPr lang="de-DE" sz="2400" dirty="0" err="1">
                <a:hlinkClick r:id="rId2"/>
              </a:rPr>
              <a:t>created</a:t>
            </a:r>
            <a:r>
              <a:rPr lang="de-DE" sz="2400" dirty="0">
                <a:hlinkClick r:id="rId2"/>
              </a:rPr>
              <a:t> </a:t>
            </a:r>
            <a:r>
              <a:rPr lang="de-DE" sz="2400" dirty="0" err="1">
                <a:hlinkClick r:id="rId2"/>
              </a:rPr>
              <a:t>here</a:t>
            </a:r>
            <a:r>
              <a:rPr lang="de-DE" sz="2400" dirty="0"/>
              <a:t>.</a:t>
            </a:r>
            <a:br>
              <a:rPr lang="de-DE" sz="2400" dirty="0"/>
            </a:br>
            <a:endParaRPr lang="de-DE" sz="2400" dirty="0"/>
          </a:p>
          <a:p>
            <a:r>
              <a:rPr lang="de-DE" sz="2400" dirty="0" err="1"/>
              <a:t>To</a:t>
            </a:r>
            <a:r>
              <a:rPr lang="de-DE" sz="2400" dirty="0"/>
              <a:t> </a:t>
            </a:r>
            <a:r>
              <a:rPr lang="de-DE" sz="2400" dirty="0" err="1"/>
              <a:t>Do‘s</a:t>
            </a:r>
            <a:r>
              <a:rPr lang="de-DE" sz="2400" dirty="0"/>
              <a:t>: </a:t>
            </a:r>
            <a:r>
              <a:rPr lang="de-DE" sz="2400" dirty="0" err="1"/>
              <a:t>Contribute</a:t>
            </a:r>
            <a:r>
              <a:rPr lang="de-DE" sz="2400" dirty="0"/>
              <a:t>!</a:t>
            </a:r>
          </a:p>
          <a:p>
            <a:endParaRPr lang="de-DE" sz="2400" dirty="0"/>
          </a:p>
          <a:p>
            <a:r>
              <a:rPr lang="de-DE" sz="2400" dirty="0" err="1"/>
              <a:t>Related</a:t>
            </a:r>
            <a:r>
              <a:rPr lang="de-DE" sz="2400" dirty="0"/>
              <a:t> Info: An additional </a:t>
            </a:r>
            <a:r>
              <a:rPr lang="de-DE" sz="2400" dirty="0" err="1"/>
              <a:t>member</a:t>
            </a:r>
            <a:r>
              <a:rPr lang="de-DE" sz="2400" dirty="0"/>
              <a:t> (Katarina) </a:t>
            </a:r>
            <a:r>
              <a:rPr lang="de-DE" sz="2400" dirty="0" err="1"/>
              <a:t>joins</a:t>
            </a:r>
            <a:r>
              <a:rPr lang="de-DE" sz="2400" dirty="0"/>
              <a:t> </a:t>
            </a:r>
            <a:r>
              <a:rPr lang="de-DE" sz="2400" dirty="0" err="1"/>
              <a:t>this</a:t>
            </a:r>
            <a:r>
              <a:rPr lang="de-DE" sz="2400" dirty="0"/>
              <a:t> SIG.</a:t>
            </a:r>
          </a:p>
          <a:p>
            <a:pPr marL="0" indent="0">
              <a:buNone/>
            </a:pPr>
            <a:endParaRPr lang="de-DE" sz="2400" b="1" dirty="0"/>
          </a:p>
        </p:txBody>
      </p:sp>
      <p:pic>
        <p:nvPicPr>
          <p:cNvPr id="3" name="Picture 2">
            <a:extLst>
              <a:ext uri="{FF2B5EF4-FFF2-40B4-BE49-F238E27FC236}">
                <a16:creationId xmlns:a16="http://schemas.microsoft.com/office/drawing/2014/main" id="{F6F3ABC6-2404-2E9D-65BB-4E4CC2CB93B6}"/>
              </a:ext>
            </a:extLst>
          </p:cNvPr>
          <p:cNvPicPr>
            <a:picLocks noChangeAspect="1"/>
          </p:cNvPicPr>
          <p:nvPr/>
        </p:nvPicPr>
        <p:blipFill>
          <a:blip r:embed="rId3"/>
          <a:stretch>
            <a:fillRect/>
          </a:stretch>
        </p:blipFill>
        <p:spPr>
          <a:xfrm>
            <a:off x="8224168" y="2810959"/>
            <a:ext cx="3967832" cy="1599126"/>
          </a:xfrm>
          <a:prstGeom prst="rect">
            <a:avLst/>
          </a:prstGeom>
        </p:spPr>
      </p:pic>
    </p:spTree>
    <p:extLst>
      <p:ext uri="{BB962C8B-B14F-4D97-AF65-F5344CB8AC3E}">
        <p14:creationId xmlns:p14="http://schemas.microsoft.com/office/powerpoint/2010/main" val="1405162943"/>
      </p:ext>
    </p:extLst>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521F7-FD5B-CC0C-29AB-30C0E3E0590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36362A0-3F10-E219-8B7D-8C7C58B0624C}"/>
              </a:ext>
            </a:extLst>
          </p:cNvPr>
          <p:cNvSpPr txBox="1"/>
          <p:nvPr/>
        </p:nvSpPr>
        <p:spPr>
          <a:xfrm>
            <a:off x="3043084" y="3152001"/>
            <a:ext cx="6105832" cy="1323439"/>
          </a:xfrm>
          <a:prstGeom prst="rect">
            <a:avLst/>
          </a:prstGeom>
          <a:noFill/>
        </p:spPr>
        <p:txBody>
          <a:bodyPr wrap="square">
            <a:spAutoFit/>
          </a:bodyPr>
          <a:lstStyle/>
          <a:p>
            <a:pPr algn="ctr">
              <a:buNone/>
            </a:pPr>
            <a:r>
              <a:rPr lang="de-DE" sz="4000" b="1" dirty="0">
                <a:effectLst/>
                <a:latin typeface="Aptos" panose="020B0004020202020204" pitchFamily="34" charset="0"/>
              </a:rPr>
              <a:t>„</a:t>
            </a:r>
            <a:r>
              <a:rPr lang="de-DE" sz="4000" b="1" dirty="0" err="1">
                <a:effectLst/>
                <a:latin typeface="Aptos" panose="020B0004020202020204" pitchFamily="34" charset="0"/>
              </a:rPr>
              <a:t>Should</a:t>
            </a:r>
            <a:r>
              <a:rPr lang="de-DE" sz="4000" b="1" dirty="0">
                <a:effectLst/>
                <a:latin typeface="Aptos" panose="020B0004020202020204" pitchFamily="34" charset="0"/>
              </a:rPr>
              <a:t> </a:t>
            </a:r>
            <a:r>
              <a:rPr lang="de-DE" sz="4000" b="1" dirty="0" err="1">
                <a:effectLst/>
                <a:latin typeface="Aptos" panose="020B0004020202020204" pitchFamily="34" charset="0"/>
              </a:rPr>
              <a:t>we</a:t>
            </a:r>
            <a:r>
              <a:rPr lang="de-DE" sz="4000" b="1" dirty="0">
                <a:effectLst/>
                <a:latin typeface="Aptos" panose="020B0004020202020204" pitchFamily="34" charset="0"/>
              </a:rPr>
              <a:t> </a:t>
            </a:r>
            <a:r>
              <a:rPr lang="de-DE" sz="4000" b="1" dirty="0" err="1">
                <a:effectLst/>
                <a:latin typeface="Aptos" panose="020B0004020202020204" pitchFamily="34" charset="0"/>
              </a:rPr>
              <a:t>make</a:t>
            </a:r>
            <a:r>
              <a:rPr lang="de-DE" sz="4000" b="1" dirty="0">
                <a:effectLst/>
                <a:latin typeface="Aptos" panose="020B0004020202020204" pitchFamily="34" charset="0"/>
              </a:rPr>
              <a:t> </a:t>
            </a:r>
            <a:r>
              <a:rPr lang="de-DE" sz="4000" b="1" dirty="0" err="1">
                <a:effectLst/>
                <a:latin typeface="Aptos" panose="020B0004020202020204" pitchFamily="34" charset="0"/>
              </a:rPr>
              <a:t>our</a:t>
            </a:r>
            <a:r>
              <a:rPr lang="de-DE" sz="4000" b="1" dirty="0">
                <a:effectLst/>
                <a:latin typeface="Aptos" panose="020B0004020202020204" pitchFamily="34" charset="0"/>
              </a:rPr>
              <a:t> </a:t>
            </a:r>
            <a:r>
              <a:rPr lang="de-DE" sz="4000" b="1" dirty="0" err="1">
                <a:effectLst/>
                <a:latin typeface="Aptos" panose="020B0004020202020204" pitchFamily="34" charset="0"/>
              </a:rPr>
              <a:t>SIG‘s</a:t>
            </a:r>
            <a:r>
              <a:rPr lang="de-DE" sz="4000" b="1" dirty="0">
                <a:effectLst/>
                <a:latin typeface="Aptos" panose="020B0004020202020204" pitchFamily="34" charset="0"/>
              </a:rPr>
              <a:t> </a:t>
            </a:r>
            <a:r>
              <a:rPr lang="de-DE" sz="4000" b="1" dirty="0" err="1">
                <a:effectLst/>
                <a:latin typeface="Aptos" panose="020B0004020202020204" pitchFamily="34" charset="0"/>
              </a:rPr>
              <a:t>public</a:t>
            </a:r>
            <a:r>
              <a:rPr lang="de-DE" sz="4000" b="1" dirty="0">
                <a:effectLst/>
                <a:latin typeface="Aptos" panose="020B0004020202020204" pitchFamily="34" charset="0"/>
              </a:rPr>
              <a:t>?“</a:t>
            </a:r>
            <a:endParaRPr lang="en-US" sz="4000" dirty="0">
              <a:effectLst/>
              <a:latin typeface="Aptos" panose="020B0004020202020204" pitchFamily="34" charset="0"/>
            </a:endParaRPr>
          </a:p>
        </p:txBody>
      </p:sp>
    </p:spTree>
    <p:extLst>
      <p:ext uri="{BB962C8B-B14F-4D97-AF65-F5344CB8AC3E}">
        <p14:creationId xmlns:p14="http://schemas.microsoft.com/office/powerpoint/2010/main" val="339336606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64F2B-2FB9-5E51-BE7C-0F4D1B00751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5DD8DB0-6456-1BAD-AA93-7EB46FE5720A}"/>
              </a:ext>
            </a:extLst>
          </p:cNvPr>
          <p:cNvSpPr txBox="1"/>
          <p:nvPr/>
        </p:nvSpPr>
        <p:spPr>
          <a:xfrm>
            <a:off x="3043084" y="3152001"/>
            <a:ext cx="6105832" cy="1323439"/>
          </a:xfrm>
          <a:prstGeom prst="rect">
            <a:avLst/>
          </a:prstGeom>
          <a:noFill/>
        </p:spPr>
        <p:txBody>
          <a:bodyPr wrap="square">
            <a:spAutoFit/>
          </a:bodyPr>
          <a:lstStyle/>
          <a:p>
            <a:pPr algn="ctr">
              <a:buNone/>
            </a:pPr>
            <a:r>
              <a:rPr lang="de-DE" sz="4000" b="1" dirty="0">
                <a:effectLst/>
                <a:latin typeface="Aptos" panose="020B0004020202020204" pitchFamily="34" charset="0"/>
              </a:rPr>
              <a:t>„</a:t>
            </a:r>
            <a:r>
              <a:rPr lang="de-DE" sz="4000" b="1" dirty="0" err="1">
                <a:effectLst/>
                <a:latin typeface="Aptos" panose="020B0004020202020204" pitchFamily="34" charset="0"/>
              </a:rPr>
              <a:t>Should</a:t>
            </a:r>
            <a:r>
              <a:rPr lang="de-DE" sz="4000" b="1" dirty="0">
                <a:effectLst/>
                <a:latin typeface="Aptos" panose="020B0004020202020204" pitchFamily="34" charset="0"/>
              </a:rPr>
              <a:t> </a:t>
            </a:r>
            <a:r>
              <a:rPr lang="de-DE" sz="4000" b="1" dirty="0" err="1">
                <a:effectLst/>
                <a:latin typeface="Aptos" panose="020B0004020202020204" pitchFamily="34" charset="0"/>
              </a:rPr>
              <a:t>we</a:t>
            </a:r>
            <a:r>
              <a:rPr lang="de-DE" sz="4000" b="1" dirty="0">
                <a:effectLst/>
                <a:latin typeface="Aptos" panose="020B0004020202020204" pitchFamily="34" charset="0"/>
              </a:rPr>
              <a:t> </a:t>
            </a:r>
            <a:r>
              <a:rPr lang="de-DE" sz="4000" b="1" dirty="0" err="1">
                <a:effectLst/>
                <a:latin typeface="Aptos" panose="020B0004020202020204" pitchFamily="34" charset="0"/>
              </a:rPr>
              <a:t>make</a:t>
            </a:r>
            <a:r>
              <a:rPr lang="de-DE" sz="4000" b="1" dirty="0">
                <a:effectLst/>
                <a:latin typeface="Aptos" panose="020B0004020202020204" pitchFamily="34" charset="0"/>
              </a:rPr>
              <a:t> </a:t>
            </a:r>
            <a:r>
              <a:rPr lang="de-DE" sz="4000" b="1" dirty="0" err="1">
                <a:effectLst/>
                <a:latin typeface="Aptos" panose="020B0004020202020204" pitchFamily="34" charset="0"/>
              </a:rPr>
              <a:t>our</a:t>
            </a:r>
            <a:r>
              <a:rPr lang="de-DE" sz="4000" b="1" dirty="0">
                <a:effectLst/>
                <a:latin typeface="Aptos" panose="020B0004020202020204" pitchFamily="34" charset="0"/>
              </a:rPr>
              <a:t> </a:t>
            </a:r>
            <a:r>
              <a:rPr lang="de-DE" sz="4000" b="1" dirty="0" err="1">
                <a:effectLst/>
                <a:latin typeface="Aptos" panose="020B0004020202020204" pitchFamily="34" charset="0"/>
              </a:rPr>
              <a:t>main</a:t>
            </a:r>
            <a:r>
              <a:rPr lang="de-DE" sz="4000" b="1" dirty="0">
                <a:effectLst/>
                <a:latin typeface="Aptos" panose="020B0004020202020204" pitchFamily="34" charset="0"/>
              </a:rPr>
              <a:t> </a:t>
            </a:r>
            <a:r>
              <a:rPr lang="de-DE" sz="4000" b="1" dirty="0" err="1">
                <a:effectLst/>
                <a:latin typeface="Aptos" panose="020B0004020202020204" pitchFamily="34" charset="0"/>
              </a:rPr>
              <a:t>meeting</a:t>
            </a:r>
            <a:r>
              <a:rPr lang="de-DE" sz="4000" b="1" dirty="0">
                <a:effectLst/>
                <a:latin typeface="Aptos" panose="020B0004020202020204" pitchFamily="34" charset="0"/>
              </a:rPr>
              <a:t> </a:t>
            </a:r>
            <a:r>
              <a:rPr lang="de-DE" sz="4000" b="1" dirty="0" err="1">
                <a:effectLst/>
                <a:latin typeface="Aptos" panose="020B0004020202020204" pitchFamily="34" charset="0"/>
              </a:rPr>
              <a:t>public</a:t>
            </a:r>
            <a:r>
              <a:rPr lang="de-DE" sz="4000" b="1" dirty="0">
                <a:effectLst/>
                <a:latin typeface="Aptos" panose="020B0004020202020204" pitchFamily="34" charset="0"/>
              </a:rPr>
              <a:t>?“</a:t>
            </a:r>
            <a:endParaRPr lang="en-US" sz="4000" dirty="0">
              <a:effectLst/>
              <a:latin typeface="Aptos" panose="020B0004020202020204" pitchFamily="34" charset="0"/>
            </a:endParaRPr>
          </a:p>
        </p:txBody>
      </p:sp>
    </p:spTree>
    <p:extLst>
      <p:ext uri="{BB962C8B-B14F-4D97-AF65-F5344CB8AC3E}">
        <p14:creationId xmlns:p14="http://schemas.microsoft.com/office/powerpoint/2010/main" val="205629894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C0899-0DE2-C673-2821-A9C12C61FC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CAA7D6F-1EE1-45E1-81AA-D0BA96EA5D0A}"/>
              </a:ext>
            </a:extLst>
          </p:cNvPr>
          <p:cNvSpPr txBox="1"/>
          <p:nvPr/>
        </p:nvSpPr>
        <p:spPr>
          <a:xfrm>
            <a:off x="2494954" y="2437052"/>
            <a:ext cx="7202091" cy="1938992"/>
          </a:xfrm>
          <a:prstGeom prst="rect">
            <a:avLst/>
          </a:prstGeom>
          <a:noFill/>
        </p:spPr>
        <p:txBody>
          <a:bodyPr wrap="square" rtlCol="0">
            <a:spAutoFit/>
          </a:bodyPr>
          <a:lstStyle/>
          <a:p>
            <a:pPr algn="ctr"/>
            <a:r>
              <a:rPr lang="en-US" sz="4000" b="1" dirty="0"/>
              <a:t>NNF: “Community-driven </a:t>
            </a:r>
            <a:endParaRPr lang="en-US" sz="4000" dirty="0"/>
          </a:p>
          <a:p>
            <a:pPr algn="ctr"/>
            <a:r>
              <a:rPr lang="en-US" sz="4000" b="1" dirty="0"/>
              <a:t>open cloud-native </a:t>
            </a:r>
            <a:r>
              <a:rPr lang="en-US" sz="4000" dirty="0"/>
              <a:t>stack</a:t>
            </a:r>
          </a:p>
          <a:p>
            <a:pPr algn="ctr"/>
            <a:r>
              <a:rPr lang="en-US" sz="4000" dirty="0"/>
              <a:t> for European</a:t>
            </a:r>
            <a:r>
              <a:rPr lang="en-US" sz="4000" b="1" dirty="0"/>
              <a:t> sovereignty.”</a:t>
            </a:r>
            <a:endParaRPr lang="en-US" sz="4000" dirty="0"/>
          </a:p>
        </p:txBody>
      </p:sp>
      <p:pic>
        <p:nvPicPr>
          <p:cNvPr id="6" name="Picture 5">
            <a:extLst>
              <a:ext uri="{FF2B5EF4-FFF2-40B4-BE49-F238E27FC236}">
                <a16:creationId xmlns:a16="http://schemas.microsoft.com/office/drawing/2014/main" id="{460A038C-9584-E56F-BD03-DFEBAB5292E6}"/>
              </a:ext>
            </a:extLst>
          </p:cNvPr>
          <p:cNvPicPr>
            <a:picLocks noChangeAspect="1"/>
          </p:cNvPicPr>
          <p:nvPr/>
        </p:nvPicPr>
        <p:blipFill>
          <a:blip r:embed="rId2"/>
          <a:stretch>
            <a:fillRect/>
          </a:stretch>
        </p:blipFill>
        <p:spPr>
          <a:xfrm>
            <a:off x="4369968" y="363068"/>
            <a:ext cx="3452061" cy="669692"/>
          </a:xfrm>
          <a:prstGeom prst="rect">
            <a:avLst/>
          </a:prstGeom>
        </p:spPr>
      </p:pic>
      <p:sp>
        <p:nvSpPr>
          <p:cNvPr id="4" name="TextBox 3">
            <a:extLst>
              <a:ext uri="{FF2B5EF4-FFF2-40B4-BE49-F238E27FC236}">
                <a16:creationId xmlns:a16="http://schemas.microsoft.com/office/drawing/2014/main" id="{A170B39A-FCCD-0F70-17B5-7CE6AD37D7AC}"/>
              </a:ext>
            </a:extLst>
          </p:cNvPr>
          <p:cNvSpPr txBox="1"/>
          <p:nvPr/>
        </p:nvSpPr>
        <p:spPr>
          <a:xfrm>
            <a:off x="4552336" y="4764673"/>
            <a:ext cx="3269693" cy="1015663"/>
          </a:xfrm>
          <a:prstGeom prst="rect">
            <a:avLst/>
          </a:prstGeom>
          <a:noFill/>
        </p:spPr>
        <p:txBody>
          <a:bodyPr wrap="square">
            <a:spAutoFit/>
          </a:bodyPr>
          <a:lstStyle/>
          <a:p>
            <a:r>
              <a:rPr lang="en-US" sz="6000" dirty="0"/>
              <a:t>👍or 👎</a:t>
            </a:r>
          </a:p>
        </p:txBody>
      </p:sp>
    </p:spTree>
    <p:extLst>
      <p:ext uri="{BB962C8B-B14F-4D97-AF65-F5344CB8AC3E}">
        <p14:creationId xmlns:p14="http://schemas.microsoft.com/office/powerpoint/2010/main" val="38660211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4C186-F111-9BF1-D44D-924C05AA5EB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F76CC0F-E289-3F5C-9595-D2598F2F62DF}"/>
              </a:ext>
            </a:extLst>
          </p:cNvPr>
          <p:cNvSpPr txBox="1"/>
          <p:nvPr/>
        </p:nvSpPr>
        <p:spPr>
          <a:xfrm>
            <a:off x="2494954" y="2437052"/>
            <a:ext cx="7202091" cy="2554545"/>
          </a:xfrm>
          <a:prstGeom prst="rect">
            <a:avLst/>
          </a:prstGeom>
          <a:noFill/>
        </p:spPr>
        <p:txBody>
          <a:bodyPr wrap="square" rtlCol="0">
            <a:spAutoFit/>
          </a:bodyPr>
          <a:lstStyle/>
          <a:p>
            <a:pPr algn="ctr"/>
            <a:r>
              <a:rPr lang="en-US" sz="4000" b="1" dirty="0"/>
              <a:t>Should we remind other NNF members that they can send reps to the Outreach Committee?</a:t>
            </a:r>
            <a:endParaRPr lang="en-US" sz="4000" dirty="0"/>
          </a:p>
        </p:txBody>
      </p:sp>
      <p:pic>
        <p:nvPicPr>
          <p:cNvPr id="6" name="Picture 5">
            <a:extLst>
              <a:ext uri="{FF2B5EF4-FFF2-40B4-BE49-F238E27FC236}">
                <a16:creationId xmlns:a16="http://schemas.microsoft.com/office/drawing/2014/main" id="{E97BFA4F-DF9A-50F4-1902-BEC4BA075B8D}"/>
              </a:ext>
            </a:extLst>
          </p:cNvPr>
          <p:cNvPicPr>
            <a:picLocks noChangeAspect="1"/>
          </p:cNvPicPr>
          <p:nvPr/>
        </p:nvPicPr>
        <p:blipFill>
          <a:blip r:embed="rId2"/>
          <a:stretch>
            <a:fillRect/>
          </a:stretch>
        </p:blipFill>
        <p:spPr>
          <a:xfrm>
            <a:off x="4369968" y="363068"/>
            <a:ext cx="3452061" cy="669692"/>
          </a:xfrm>
          <a:prstGeom prst="rect">
            <a:avLst/>
          </a:prstGeom>
        </p:spPr>
      </p:pic>
    </p:spTree>
    <p:extLst>
      <p:ext uri="{BB962C8B-B14F-4D97-AF65-F5344CB8AC3E}">
        <p14:creationId xmlns:p14="http://schemas.microsoft.com/office/powerpoint/2010/main" val="90463746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A9D41-C74D-442C-20A6-80DDF9DEB8A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F82ED42-90D9-B261-645B-9A9A79FE3271}"/>
              </a:ext>
            </a:extLst>
          </p:cNvPr>
          <p:cNvSpPr txBox="1"/>
          <p:nvPr/>
        </p:nvSpPr>
        <p:spPr>
          <a:xfrm>
            <a:off x="2494954" y="2437052"/>
            <a:ext cx="7202091" cy="1938992"/>
          </a:xfrm>
          <a:prstGeom prst="rect">
            <a:avLst/>
          </a:prstGeom>
          <a:noFill/>
        </p:spPr>
        <p:txBody>
          <a:bodyPr wrap="square" rtlCol="0">
            <a:spAutoFit/>
          </a:bodyPr>
          <a:lstStyle/>
          <a:p>
            <a:pPr algn="ctr"/>
            <a:r>
              <a:rPr lang="en-US" sz="4000" b="1" dirty="0"/>
              <a:t>NNF GB Roadmap Item: “Improve General Member Relations”</a:t>
            </a:r>
            <a:endParaRPr lang="en-US" sz="4000" dirty="0"/>
          </a:p>
        </p:txBody>
      </p:sp>
      <p:pic>
        <p:nvPicPr>
          <p:cNvPr id="6" name="Picture 5">
            <a:extLst>
              <a:ext uri="{FF2B5EF4-FFF2-40B4-BE49-F238E27FC236}">
                <a16:creationId xmlns:a16="http://schemas.microsoft.com/office/drawing/2014/main" id="{75E35B98-3296-01E0-F334-C4433AE057DF}"/>
              </a:ext>
            </a:extLst>
          </p:cNvPr>
          <p:cNvPicPr>
            <a:picLocks noChangeAspect="1"/>
          </p:cNvPicPr>
          <p:nvPr/>
        </p:nvPicPr>
        <p:blipFill>
          <a:blip r:embed="rId2"/>
          <a:stretch>
            <a:fillRect/>
          </a:stretch>
        </p:blipFill>
        <p:spPr>
          <a:xfrm>
            <a:off x="4369968" y="363068"/>
            <a:ext cx="3452061" cy="669692"/>
          </a:xfrm>
          <a:prstGeom prst="rect">
            <a:avLst/>
          </a:prstGeom>
        </p:spPr>
      </p:pic>
    </p:spTree>
    <p:extLst>
      <p:ext uri="{BB962C8B-B14F-4D97-AF65-F5344CB8AC3E}">
        <p14:creationId xmlns:p14="http://schemas.microsoft.com/office/powerpoint/2010/main" val="2492421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cf7ac0a-4681-4823-ab0b-04ef02c5f873}" enabled="1" method="Standard" siteId="{42f7676c-f455-423c-82f6-dc2d99791af7}" removed="0"/>
</clbl:labelList>
</file>

<file path=docProps/app.xml><?xml version="1.0" encoding="utf-8"?>
<Properties xmlns="http://schemas.openxmlformats.org/officeDocument/2006/extended-properties" xmlns:vt="http://schemas.openxmlformats.org/officeDocument/2006/docPropsVTypes">
  <TotalTime>0</TotalTime>
  <Words>395</Words>
  <Application>Microsoft Office PowerPoint</Application>
  <PresentationFormat>Widescreen</PresentationFormat>
  <Paragraphs>43</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 (Body)</vt:lpstr>
      <vt:lpstr>Helvetica Neue</vt:lpstr>
      <vt:lpstr>Aptos</vt:lpstr>
      <vt:lpstr>Aptos Display</vt:lpstr>
      <vt:lpstr>Arial</vt:lpstr>
      <vt:lpstr>Office Theme</vt:lpstr>
      <vt:lpstr>PowerPoint Presentation</vt:lpstr>
      <vt:lpstr>Antitrust Policy Notice</vt:lpstr>
      <vt:lpstr>Agenda</vt:lpstr>
      <vt:lpstr>Events Group Update</vt:lpstr>
      <vt:lpstr>Ambassador SIG Update</vt:lpstr>
      <vt:lpstr>Social Media SIG Update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Helmke</dc:creator>
  <cp:lastModifiedBy>Scheidemann, Tristan (external - Service)</cp:lastModifiedBy>
  <cp:revision>12</cp:revision>
  <dcterms:created xsi:type="dcterms:W3CDTF">2026-03-04T13:51:43Z</dcterms:created>
  <dcterms:modified xsi:type="dcterms:W3CDTF">2026-07-03T11:00:14Z</dcterms:modified>
</cp:coreProperties>
</file>